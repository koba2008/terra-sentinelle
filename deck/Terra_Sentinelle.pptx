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9.xml.rels" ContentType="application/vnd.openxmlformats-package.relationships+xml"/>
  <Override PartName="/ppt/slides/_rels/slide11.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notesSlides/_rels/notesSlide9.xml.rels" ContentType="application/vnd.openxmlformats-package.relationships+xml"/>
  <Override PartName="/ppt/notesSlides/_rels/notesSlide6.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5.xml.rels" ContentType="application/vnd.openxmlformats-package.relationships+xml"/>
  <Override PartName="/ppt/notesSlides/_rels/notesSlide2.xml.rels" ContentType="application/vnd.openxmlformats-package.relationships+xml"/>
  <Override PartName="/ppt/notesSlides/_rels/notesSlide3.xml.rels" ContentType="application/vnd.openxmlformats-package.relationships+xml"/>
  <Override PartName="/ppt/notesSlides/_rels/notesSlide10.xml.rels" ContentType="application/vnd.openxmlformats-package.relationships+xml"/>
  <Override PartName="/ppt/notesSlides/_rels/notesSlide4.xml.rels" ContentType="application/vnd.openxmlformats-package.relationships+xml"/>
  <Override PartName="/ppt/notesSlides/_rels/notesSlide11.xml.rels" ContentType="application/vnd.openxmlformats-package.relationships+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en-US" sz="1800" spc="-1" strike="noStrike">
                <a:solidFill>
                  <a:schemeClr val="dk1"/>
                </a:solidFill>
                <a:latin typeface="Arial"/>
              </a:rPr>
              <a:t>Cliquez pour déplacer la diapo</a:t>
            </a:r>
            <a:endParaRPr b="0" lang="en-US" sz="1800" spc="-1" strike="noStrike">
              <a:solidFill>
                <a:schemeClr val="dk1"/>
              </a:solidFill>
              <a:latin typeface="Arial"/>
            </a:endParaRPr>
          </a:p>
        </p:txBody>
      </p:sp>
      <p:sp>
        <p:nvSpPr>
          <p:cNvPr id="68"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fr-FR" sz="2000" spc="-1" strike="noStrike">
                <a:solidFill>
                  <a:srgbClr val="000000"/>
                </a:solidFill>
                <a:latin typeface="Arial"/>
              </a:rPr>
              <a:t>Cliquez pour modifier le format des notes</a:t>
            </a:r>
            <a:endParaRPr b="0" lang="fr-FR" sz="2000" spc="-1" strike="noStrike">
              <a:solidFill>
                <a:srgbClr val="000000"/>
              </a:solidFill>
              <a:latin typeface="Arial"/>
            </a:endParaRPr>
          </a:p>
        </p:txBody>
      </p:sp>
      <p:sp>
        <p:nvSpPr>
          <p:cNvPr id="69"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fr-FR" sz="1400" spc="-1" strike="noStrike">
                <a:solidFill>
                  <a:srgbClr val="000000"/>
                </a:solidFill>
                <a:latin typeface="Times New Roman"/>
              </a:rPr>
              <a:t>&lt;en-tête&gt;</a:t>
            </a:r>
            <a:endParaRPr b="0" lang="fr-FR" sz="1400" spc="-1" strike="noStrike">
              <a:solidFill>
                <a:srgbClr val="000000"/>
              </a:solidFill>
              <a:latin typeface="Times New Roman"/>
            </a:endParaRPr>
          </a:p>
        </p:txBody>
      </p:sp>
      <p:sp>
        <p:nvSpPr>
          <p:cNvPr id="70"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fr-FR" sz="1400" spc="-1" strike="noStrike">
                <a:solidFill>
                  <a:srgbClr val="000000"/>
                </a:solidFill>
                <a:latin typeface="Times New Roman"/>
              </a:defRPr>
            </a:lvl1pPr>
          </a:lstStyle>
          <a:p>
            <a:pPr indent="0" algn="r">
              <a:buNone/>
            </a:pPr>
            <a:r>
              <a:rPr b="0" lang="fr-FR" sz="1400" spc="-1" strike="noStrike">
                <a:solidFill>
                  <a:srgbClr val="000000"/>
                </a:solidFill>
                <a:latin typeface="Times New Roman"/>
              </a:rPr>
              <a:t>&lt;date/heure&gt;</a:t>
            </a:r>
            <a:endParaRPr b="0" lang="fr-FR" sz="1400" spc="-1" strike="noStrike">
              <a:solidFill>
                <a:srgbClr val="000000"/>
              </a:solidFill>
              <a:latin typeface="Times New Roman"/>
            </a:endParaRPr>
          </a:p>
        </p:txBody>
      </p:sp>
      <p:sp>
        <p:nvSpPr>
          <p:cNvPr id="71"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fr-FR" sz="1400" spc="-1" strike="noStrike">
                <a:solidFill>
                  <a:srgbClr val="000000"/>
                </a:solidFill>
                <a:latin typeface="Times New Roman"/>
              </a:defRPr>
            </a:lvl1pPr>
          </a:lstStyle>
          <a:p>
            <a:pPr indent="0">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72"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fr-FR" sz="1400" spc="-1" strike="noStrike">
                <a:solidFill>
                  <a:srgbClr val="000000"/>
                </a:solidFill>
                <a:latin typeface="Times New Roman"/>
              </a:defRPr>
            </a:lvl1pPr>
          </a:lstStyle>
          <a:p>
            <a:pPr indent="0" algn="r">
              <a:buNone/>
            </a:pPr>
            <a:fld id="{E3A7CF1C-1061-47F9-945F-60DAA3A35593}" type="slidenum">
              <a:rPr b="0" lang="fr-FR" sz="1400" spc="-1" strike="noStrike">
                <a:solidFill>
                  <a:srgbClr val="000000"/>
                </a:solidFill>
                <a:latin typeface="Times New Roman"/>
              </a:rPr>
              <a:t>&lt;numéro&gt;</a:t>
            </a:fld>
            <a:endParaRPr b="0" lang="fr-F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PlaceHolder 1"/>
          <p:cNvSpPr>
            <a:spLocks noGrp="1"/>
          </p:cNvSpPr>
          <p:nvPr>
            <p:ph type="sldImg"/>
          </p:nvPr>
        </p:nvSpPr>
        <p:spPr>
          <a:xfrm>
            <a:off x="1143000" y="685800"/>
            <a:ext cx="4571640" cy="3428640"/>
          </a:xfrm>
          <a:prstGeom prst="rect">
            <a:avLst/>
          </a:prstGeom>
          <a:ln w="0">
            <a:noFill/>
          </a:ln>
        </p:spPr>
      </p:sp>
      <p:sp>
        <p:nvSpPr>
          <p:cNvPr id="48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Bonjour, je suis David KOBA et je présente Terra Sentinelle au nom de l'équipe TechMakers : Philippe-Cadet GANTIN, Adéyinka Laurinda ADANLAO, Issa DJIBO, Daniel ABIALA et moi-même.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Terra Sentinelle concourt sur le défi Résilience climatique.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En une phrase : dans le nord du Bénin, les couloirs de transhumance ont une carte, mais cette carte a des années. Nous lui redonnons l'âge de la saison en cours, à partir d'imagerie satellitaire.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Deux choses à retenir dès maintenant : le système couvre cinq départements et trente-trois communes, et le modèle de classification est réellement entraîné, avec des métriques mesurées que je vous montrerai.</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Je vais vous montrer pour qui, pourquoi, comment, et ce que le système refuse de faire.</a:t>
            </a:r>
            <a:endParaRPr b="0" lang="fr-FR" sz="2000" spc="-1" strike="noStrike">
              <a:solidFill>
                <a:srgbClr val="000000"/>
              </a:solidFill>
              <a:latin typeface="Arial"/>
            </a:endParaRPr>
          </a:p>
        </p:txBody>
      </p:sp>
      <p:sp>
        <p:nvSpPr>
          <p:cNvPr id="490" name="PlaceHolder 3"/>
          <p:cNvSpPr>
            <a:spLocks noGrp="1"/>
          </p:cNvSpPr>
          <p:nvPr>
            <p:ph type="sldNum" idx="3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975F878-8BC6-42A1-8193-0481AD5F7E6F}"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1" name="PlaceHolder 1"/>
          <p:cNvSpPr>
            <a:spLocks noGrp="1"/>
          </p:cNvSpPr>
          <p:nvPr>
            <p:ph type="sldImg"/>
          </p:nvPr>
        </p:nvSpPr>
        <p:spPr>
          <a:xfrm>
            <a:off x="1143000" y="685800"/>
            <a:ext cx="4571640" cy="3428640"/>
          </a:xfrm>
          <a:prstGeom prst="rect">
            <a:avLst/>
          </a:prstGeom>
          <a:ln w="0">
            <a:noFill/>
          </a:ln>
        </p:spPr>
      </p:sp>
      <p:sp>
        <p:nvSpPr>
          <p:cNvPr id="49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Retenez cette phrase, c'est tout le projet.</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Les couloirs ont été délimités une fois : bornes, procès-verbaux, concertation. Un vrai travail.</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Mais les champs changent chaque saison : une parcelle se défriche en quelques semaines.</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Donc le conflit ne naît pas d'une carte absente. Il naît d'une carte périmée : le troupeau arrive là où le couloir existe sur le papier, et où il y a désormais du coton.</a:t>
            </a:r>
            <a:endParaRPr b="0" lang="fr-FR" sz="2000" spc="-1" strike="noStrike">
              <a:solidFill>
                <a:srgbClr val="000000"/>
              </a:solidFill>
              <a:latin typeface="Arial"/>
            </a:endParaRPr>
          </a:p>
        </p:txBody>
      </p:sp>
      <p:sp>
        <p:nvSpPr>
          <p:cNvPr id="493" name="PlaceHolder 3"/>
          <p:cNvSpPr>
            <a:spLocks noGrp="1"/>
          </p:cNvSpPr>
          <p:nvPr>
            <p:ph type="sldNum" idx="3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D84C8C3-7CA8-4959-9F15-E1E17882CA17}"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4" name="PlaceHolder 1"/>
          <p:cNvSpPr>
            <a:spLocks noGrp="1"/>
          </p:cNvSpPr>
          <p:nvPr>
            <p:ph type="sldImg"/>
          </p:nvPr>
        </p:nvSpPr>
        <p:spPr>
          <a:xfrm>
            <a:off x="1143000" y="685800"/>
            <a:ext cx="4571640" cy="3428640"/>
          </a:xfrm>
          <a:prstGeom prst="rect">
            <a:avLst/>
          </a:prstGeom>
          <a:ln w="0">
            <a:noFill/>
          </a:ln>
        </p:spPr>
      </p:sp>
      <p:sp>
        <p:nvSpPr>
          <p:cNvPr id="49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Précisons, parce que le problème est souvent mal posé.</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Un : la carte existe. Ce n'est pas un vide cartographique.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Deux : le sol bouge, extension cotonnière, mise en culture du couloir, à chaque saison.</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Trois : le comité communal doit arbitrer, mais sans image récente, sur des témoignages contradictoires.</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Le manque n'est donc pas spatial, il est temporel. Pas « où est le couloir », mais « à quoi ressemble-t-il cette année ».</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Et ce n'est pas le problème d'une commune isolée : nous couvrons aujourd'hui trente-trois communes sur cinq départements.</a:t>
            </a:r>
            <a:endParaRPr b="0" lang="fr-FR" sz="2000" spc="-1" strike="noStrike">
              <a:solidFill>
                <a:srgbClr val="000000"/>
              </a:solidFill>
              <a:latin typeface="Arial"/>
            </a:endParaRPr>
          </a:p>
        </p:txBody>
      </p:sp>
      <p:sp>
        <p:nvSpPr>
          <p:cNvPr id="496" name="PlaceHolder 3"/>
          <p:cNvSpPr>
            <a:spLocks noGrp="1"/>
          </p:cNvSpPr>
          <p:nvPr>
            <p:ph type="sldNum" idx="3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3FE05E0-3F85-4081-8272-9373034C0D3A}"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type="sldImg"/>
          </p:nvPr>
        </p:nvSpPr>
        <p:spPr>
          <a:xfrm>
            <a:off x="1143000" y="685800"/>
            <a:ext cx="4571640" cy="3428640"/>
          </a:xfrm>
          <a:prstGeom prst="rect">
            <a:avLst/>
          </a:prstGeom>
          <a:ln w="0">
            <a:noFill/>
          </a:ln>
        </p:spPr>
      </p:sp>
      <p:sp>
        <p:nvSpPr>
          <p:cNvPr id="49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Nous n'avons pas conçu pour « les communes », mais pour une personne.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Moussa Gounou, agent d'élevage à Banikoara. Avant la saison, il reçoit la liste des portions du couloir devenues cultivées. Il part vérifier, et là-bas, pas de réseau. Il confirme ou invalide chaque détection hors ligne ; au retour du réseau tout se synchronise. Le comité arbitre le lendemain.</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Derrière lui : le comité, sur le web, et les représentants d'éleveurs, qui reçoivent la décision en vocal.</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Un mot sur l'échelle : le système ne couvre plus une seule commune. Cinq départements, trente-trois communes, mille cinq cent quatre-vingt-cinq kilomètres de couloirs. Banikoara reste la commune que je détaille, parce que c'est celle qui porte le jeu de données le plus riche.</a:t>
            </a:r>
            <a:endParaRPr b="0" lang="fr-FR" sz="2000" spc="-1" strike="noStrike">
              <a:solidFill>
                <a:srgbClr val="000000"/>
              </a:solidFill>
              <a:latin typeface="Arial"/>
            </a:endParaRPr>
          </a:p>
        </p:txBody>
      </p:sp>
      <p:sp>
        <p:nvSpPr>
          <p:cNvPr id="499" name="PlaceHolder 3"/>
          <p:cNvSpPr>
            <a:spLocks noGrp="1"/>
          </p:cNvSpPr>
          <p:nvPr>
            <p:ph type="sldNum" idx="4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3EB747D-10C0-4ABE-8829-F999B23C593F}"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0" name="PlaceHolder 1"/>
          <p:cNvSpPr>
            <a:spLocks noGrp="1"/>
          </p:cNvSpPr>
          <p:nvPr>
            <p:ph type="sldImg"/>
          </p:nvPr>
        </p:nvSpPr>
        <p:spPr>
          <a:xfrm>
            <a:off x="1143000" y="685800"/>
            <a:ext cx="4571640" cy="3428640"/>
          </a:xfrm>
          <a:prstGeom prst="rect">
            <a:avLst/>
          </a:prstGeom>
          <a:ln w="0">
            <a:noFill/>
          </a:ln>
        </p:spPr>
      </p:sp>
      <p:sp>
        <p:nvSpPr>
          <p:cNvPr id="50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La solution : transformer une carte statique en système de veille actualisé avant chaque saison.</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La chaîne. Images Sentinel-2 à 10 mètres. Un modèle identifie les zones mises en culture. On les croise avec l'emprise du couloir : c'est là qu'est notre valeur. On en tire une carte de friction, avec gravité et confiance.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Puis l'humain reprend la main : vérification terrain, arbitrage du comité, diffusion vocale en fulfulde.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La machine est en amont. La décision est au centre, et elle est humaine.</a:t>
            </a:r>
            <a:endParaRPr b="0" lang="fr-FR" sz="2000" spc="-1" strike="noStrike">
              <a:solidFill>
                <a:srgbClr val="000000"/>
              </a:solidFill>
              <a:latin typeface="Arial"/>
            </a:endParaRPr>
          </a:p>
        </p:txBody>
      </p:sp>
      <p:sp>
        <p:nvSpPr>
          <p:cNvPr id="502" name="PlaceHolder 3"/>
          <p:cNvSpPr>
            <a:spLocks noGrp="1"/>
          </p:cNvSpPr>
          <p:nvPr>
            <p:ph type="sldNum" idx="4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FFFAC44-3F7A-41AE-8189-868E6B3274EB}"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sldImg"/>
          </p:nvPr>
        </p:nvSpPr>
        <p:spPr>
          <a:xfrm>
            <a:off x="1143000" y="685800"/>
            <a:ext cx="4571640" cy="3428640"/>
          </a:xfrm>
          <a:prstGeom prst="rect">
            <a:avLst/>
          </a:prstGeom>
          <a:ln w="0">
            <a:noFill/>
          </a:ln>
        </p:spPr>
      </p:sp>
      <p:sp>
        <p:nvSpPr>
          <p:cNvPr id="50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Voici le livrable, celui que le comité a sous les yeux.</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Pour chaque portion : la surface, un niveau de gravité, un niveau de confiance, un statut.</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Regardez la troisième ligne : confiance 0,54, statut incertain. Nous ne la cachons pas : c'est justement celle que Moussa ira voir en premier.</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À l'échelle des trente-trois communes, cela fait 157 zones de friction, dont 84 encore en attente de vérification.</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Chaque ligne garde sa source, la date du passage satellite et son statut de validation. Précision honnête : les zones de friction affichées sont générées, comme les couches géographiques ; le modèle, lui, est réel et ses métriques sont mesurées, je vous les montre dans deux slides.</a:t>
            </a:r>
            <a:endParaRPr b="0" lang="fr-FR" sz="2000" spc="-1" strike="noStrike">
              <a:solidFill>
                <a:srgbClr val="000000"/>
              </a:solidFill>
              <a:latin typeface="Arial"/>
            </a:endParaRPr>
          </a:p>
        </p:txBody>
      </p:sp>
      <p:sp>
        <p:nvSpPr>
          <p:cNvPr id="505" name="PlaceHolder 3"/>
          <p:cNvSpPr>
            <a:spLocks noGrp="1"/>
          </p:cNvSpPr>
          <p:nvPr>
            <p:ph type="sldNum" idx="4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AA06DB6-9B8C-48C0-99E3-A7AD9867AE44}"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6" name="PlaceHolder 1"/>
          <p:cNvSpPr>
            <a:spLocks noGrp="1"/>
          </p:cNvSpPr>
          <p:nvPr>
            <p:ph type="sldImg"/>
          </p:nvPr>
        </p:nvSpPr>
        <p:spPr>
          <a:xfrm>
            <a:off x="1143000" y="685800"/>
            <a:ext cx="4571640" cy="3428640"/>
          </a:xfrm>
          <a:prstGeom prst="rect">
            <a:avLst/>
          </a:prstGeom>
          <a:ln w="0">
            <a:noFill/>
          </a:ln>
        </p:spPr>
      </p:sp>
      <p:sp>
        <p:nvSpPr>
          <p:cNvPr id="50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Pourquoi de l'IA, et pas une simple enquête de terrain ? Trois raisons.</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L'échelle : mille cinq cent quatre-vingt-cinq kilomètres de couloirs sur trente-trois communes. Aucune brigade ne les arpente chaque année.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La cadence : Sentinel-2 repasse tous les cinq jours, gratuitement. Seule source capable de suivre le rythme des champs.</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Le signal : distinguer sol nu, jachère et culture demande un modèle appris, pas un seuil.</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Retirez l'IA, il ne reste plus de produit.</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Et ce modèle, justement, existe. C'est la slide suivante.</a:t>
            </a:r>
            <a:endParaRPr b="0" lang="fr-FR" sz="2000" spc="-1" strike="noStrike">
              <a:solidFill>
                <a:srgbClr val="000000"/>
              </a:solidFill>
              <a:latin typeface="Arial"/>
            </a:endParaRPr>
          </a:p>
        </p:txBody>
      </p:sp>
      <p:sp>
        <p:nvSpPr>
          <p:cNvPr id="508" name="PlaceHolder 3"/>
          <p:cNvSpPr>
            <a:spLocks noGrp="1"/>
          </p:cNvSpPr>
          <p:nvPr>
            <p:ph type="sldNum" idx="4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60A44B8-CF84-424E-9CBB-B64EC9F798CB}"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PlaceHolder 1"/>
          <p:cNvSpPr>
            <a:spLocks noGrp="1"/>
          </p:cNvSpPr>
          <p:nvPr>
            <p:ph type="sldImg"/>
          </p:nvPr>
        </p:nvSpPr>
        <p:spPr>
          <a:xfrm>
            <a:off x="1143000" y="685800"/>
            <a:ext cx="4571640" cy="3428640"/>
          </a:xfrm>
          <a:prstGeom prst="rect">
            <a:avLst/>
          </a:prstGeom>
          <a:ln w="0">
            <a:noFill/>
          </a:ln>
        </p:spPr>
      </p:sp>
      <p:sp>
        <p:nvSpPr>
          <p:cNvPr id="51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Voici ce qui a changé depuis la conception du projet, et c'est le point le plus important de cette présentation sur le plan technique.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Le modèle n'est plus une intention : il est entraîné. Jeu d'entraînement EuroSAT, c'est-à-dire de la vraie imagerie Sentinel-2 étiquetée, vingt-sept mille vignettes de soixante-quatre pixels, dix classes. Split stratifié vingt et un mille six cents en entraînement, cinq mille quatre cents en test, graine fixée, jeu de test tenu à l'écart.</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Algorithme : un HistGradientBoostingClassifier de scikit-learn, trente-cinq caractéristiques, statistiques par canal, indices de végétation ExG et GRVI, mesures de texture. Pas de deep learning : pas de GPU ici, et la pertinence prime sur la complexité inutile.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Les chiffres au-dessus sont mesurés sur le test : exactitude 0,95, précision 0,90, rappel 0,86, F1 0,88, ROC-AUC 0,99. En multi-classes sur les dix classes : exactitude 0,89, F1 macro 0,88.</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Et l'inférence tourne sur de la vraie imagerie du nord Bénin : des tuiles Sentinel-2 s2cloudless, mises en cache sur disque, donc la démonstration ne dépend pas du réseau. Sur Banikoara, grille de soixante-quatre cellules : huit sont classées en culture, sept en culture permanente, une en culture annuelle.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Maintenant la ligne orange, et je la lis moi-même : ces métriques décrivent EuroSAT, c'est-à-dire l'Europe. Elles ne décrivent pas le Bénin. J'y reviens.</a:t>
            </a:r>
            <a:endParaRPr b="0" lang="fr-FR" sz="2000" spc="-1" strike="noStrike">
              <a:solidFill>
                <a:srgbClr val="000000"/>
              </a:solidFill>
              <a:latin typeface="Arial"/>
            </a:endParaRPr>
          </a:p>
        </p:txBody>
      </p:sp>
      <p:sp>
        <p:nvSpPr>
          <p:cNvPr id="511" name="PlaceHolder 3"/>
          <p:cNvSpPr>
            <a:spLocks noGrp="1"/>
          </p:cNvSpPr>
          <p:nvPr>
            <p:ph type="sldNum" idx="4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E7689A3-F572-42D9-B622-C936E6C6A126}"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2" name="PlaceHolder 1"/>
          <p:cNvSpPr>
            <a:spLocks noGrp="1"/>
          </p:cNvSpPr>
          <p:nvPr>
            <p:ph type="sldImg"/>
          </p:nvPr>
        </p:nvSpPr>
        <p:spPr>
          <a:xfrm>
            <a:off x="1143000" y="685800"/>
            <a:ext cx="4571640" cy="3428640"/>
          </a:xfrm>
          <a:prstGeom prst="rect">
            <a:avLst/>
          </a:prstGeom>
          <a:ln w="0">
            <a:noFill/>
          </a:ln>
        </p:spPr>
      </p:sp>
      <p:sp>
        <p:nvSpPr>
          <p:cNvPr id="51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Voici le piège du projet, et notre choix technique.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La saison de culture, ici, c'est la saison des pluies. Donc des nuages. Une image optique sous un nuage, c'est un pixel perdu : au pire moment de l'année.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Deux parades. Un composite médian Sentinel-2 sur plusieurs dates avec masquage des nuages : on garde la médiane des passages dégagés. Puis Sentinel-1, le radar, qui traverse les nuages et prendra le relais en saison humide.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Je suis précis sur ce point : aujourd'hui, seule la voie optique tourne. La fusion Sentinel-1 est décrite et justifiée, elle n'est pas implémentée. Je préfère le dire que le laisser croire.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Rien d'exotique : deux briques choisies pour une contrainte réelle.</a:t>
            </a:r>
            <a:endParaRPr b="0" lang="fr-FR" sz="2000" spc="-1" strike="noStrike">
              <a:solidFill>
                <a:srgbClr val="000000"/>
              </a:solidFill>
              <a:latin typeface="Arial"/>
            </a:endParaRPr>
          </a:p>
        </p:txBody>
      </p:sp>
      <p:sp>
        <p:nvSpPr>
          <p:cNvPr id="514" name="PlaceHolder 3"/>
          <p:cNvSpPr>
            <a:spLocks noGrp="1"/>
          </p:cNvSpPr>
          <p:nvPr>
            <p:ph type="sldNum" idx="4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C12A44C-74D5-4244-A262-482A0F168EFF}"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5" name="PlaceHolder 1"/>
          <p:cNvSpPr>
            <a:spLocks noGrp="1"/>
          </p:cNvSpPr>
          <p:nvPr>
            <p:ph type="sldImg"/>
          </p:nvPr>
        </p:nvSpPr>
        <p:spPr>
          <a:xfrm>
            <a:off x="1143000" y="685800"/>
            <a:ext cx="4571640" cy="3428640"/>
          </a:xfrm>
          <a:prstGeom prst="rect">
            <a:avLst/>
          </a:prstGeom>
          <a:ln w="0">
            <a:noFill/>
          </a:ln>
        </p:spPr>
      </p:sp>
      <p:sp>
        <p:nvSpPr>
          <p:cNvPr id="51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Posons nous-mêmes la question qui viendra : Dynamic World existe déjà. Pourquoi ne pas s'arrêter là ?</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D'abord parce que les cartes globales décrochent sur l'agriculture subsaharienne : petites parcelles, cultures associées. C'est documenté.</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La différence avec la version précédente de ce projet, c'est que nous ne nous contentons plus de l'affirmer. Nous avons entraîné un classifieur, mesuré ses performances sur un jeu de test tenu à l'écart, et nous publions à la fois les chiffres et l'écart de domaine. L'argument est démontré, plus seulement énoncé.</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Surtout : notre contribution n'est pas le classifieur, c'est le croisement avec l'emprise du couloir. Une carte de cultures ne dit rien à un comité. Une carte de friction, si.</a:t>
            </a:r>
            <a:endParaRPr b="0" lang="fr-FR" sz="2000" spc="-1" strike="noStrike">
              <a:solidFill>
                <a:srgbClr val="000000"/>
              </a:solidFill>
              <a:latin typeface="Arial"/>
            </a:endParaRPr>
          </a:p>
        </p:txBody>
      </p:sp>
      <p:sp>
        <p:nvSpPr>
          <p:cNvPr id="517" name="PlaceHolder 3"/>
          <p:cNvSpPr>
            <a:spLocks noGrp="1"/>
          </p:cNvSpPr>
          <p:nvPr>
            <p:ph type="sldNum" idx="4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B1B7643-B27F-4FF3-A91B-A33D27523463}"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PlaceHolder 1"/>
          <p:cNvSpPr>
            <a:spLocks noGrp="1"/>
          </p:cNvSpPr>
          <p:nvPr>
            <p:ph type="sldImg"/>
          </p:nvPr>
        </p:nvSpPr>
        <p:spPr>
          <a:xfrm>
            <a:off x="1143000" y="685800"/>
            <a:ext cx="4571640" cy="3428640"/>
          </a:xfrm>
          <a:prstGeom prst="rect">
            <a:avLst/>
          </a:prstGeom>
          <a:ln w="0">
            <a:noFill/>
          </a:ln>
        </p:spPr>
      </p:sp>
      <p:sp>
        <p:nvSpPr>
          <p:cNvPr id="51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Tout ce qui est à gauche est libre et vérifié : Sentinel-1 et 2 via Copernicus, les tuiles s2cloudless d'EOX qui nous donnent de la vraie imagerie sans authentification, EuroSAT pour l'entraînement, Dynamic World, ESA WorldCover, OpenStreetMap Bénin, les limites de HDX, les données de transhumance de l'OIM.</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Maintenant ce qui manque, et je préfère le dire moi-même : il n'existe aucun jeu ouvert de polygones de couloirs au Bénin. Le registre de l'ANDF existe, mais fermé. Et il n'existe pas non plus de parcelles annotées sur notre zone, ce qui nous interdit de mesurer la performance locale du modèle.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Donc l'emprise que nous affichons est reconstituée par l'équipe et sans valeur officielle, comme les villages, les points d'eau, les pâturages et les parcelles. L'imagerie et le modèle, eux, sont réels. Le jour où une mairie fournit la vraie, elle se substitue sans rien changer au reste.</a:t>
            </a:r>
            <a:endParaRPr b="0" lang="fr-FR" sz="2000" spc="-1" strike="noStrike">
              <a:solidFill>
                <a:srgbClr val="000000"/>
              </a:solidFill>
              <a:latin typeface="Arial"/>
            </a:endParaRPr>
          </a:p>
        </p:txBody>
      </p:sp>
      <p:sp>
        <p:nvSpPr>
          <p:cNvPr id="520" name="PlaceHolder 3"/>
          <p:cNvSpPr>
            <a:spLocks noGrp="1"/>
          </p:cNvSpPr>
          <p:nvPr>
            <p:ph type="sldNum" idx="4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9AE69A5-6292-4778-B2C7-CB9A5F57678F}"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1" name="PlaceHolder 1"/>
          <p:cNvSpPr>
            <a:spLocks noGrp="1"/>
          </p:cNvSpPr>
          <p:nvPr>
            <p:ph type="sldImg"/>
          </p:nvPr>
        </p:nvSpPr>
        <p:spPr>
          <a:xfrm>
            <a:off x="1143000" y="685800"/>
            <a:ext cx="4571640" cy="3428640"/>
          </a:xfrm>
          <a:prstGeom prst="rect">
            <a:avLst/>
          </a:prstGeom>
          <a:ln w="0">
            <a:noFill/>
          </a:ln>
        </p:spPr>
      </p:sp>
      <p:sp>
        <p:nvSpPr>
          <p:cNvPr id="52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Un système de décision qui ne parle pas la langue de ceux qu'il concerne ne sert à rien.</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Le comité arbitre : maintien, ajustement ou contournement. La décision devient un message vocal en fulfulde, la langue des éleveurs transhumants du nord Bénin, diffusé par les canaux qu'ils utilisent déjà, WhatsApp, radios communautaires, avant le départ des troupeaux.</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À ce stade la diffusion vocale est maquettée : l'enchaînement existe dans l'interface, la chaîne audio réelle, non.</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Le vocal n'est pas un gadget : il contourne la barrière de la langue et celle de l'écrit. C'est aussi pourquoi le projet touche le défi IA et langues locales.</a:t>
            </a:r>
            <a:endParaRPr b="0" lang="fr-FR" sz="2000" spc="-1" strike="noStrike">
              <a:solidFill>
                <a:srgbClr val="000000"/>
              </a:solidFill>
              <a:latin typeface="Arial"/>
            </a:endParaRPr>
          </a:p>
        </p:txBody>
      </p:sp>
      <p:sp>
        <p:nvSpPr>
          <p:cNvPr id="523" name="PlaceHolder 3"/>
          <p:cNvSpPr>
            <a:spLocks noGrp="1"/>
          </p:cNvSpPr>
          <p:nvPr>
            <p:ph type="sldNum" idx="4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6A5B41F-262A-4B52-BB70-1F9D366BB3C3}"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4" name="PlaceHolder 1"/>
          <p:cNvSpPr>
            <a:spLocks noGrp="1"/>
          </p:cNvSpPr>
          <p:nvPr>
            <p:ph type="sldImg"/>
          </p:nvPr>
        </p:nvSpPr>
        <p:spPr>
          <a:xfrm>
            <a:off x="1143000" y="685800"/>
            <a:ext cx="4571640" cy="3428640"/>
          </a:xfrm>
          <a:prstGeom prst="rect">
            <a:avLst/>
          </a:prstGeom>
          <a:ln w="0">
            <a:noFill/>
          </a:ln>
        </p:spPr>
      </p:sp>
      <p:sp>
        <p:nvSpPr>
          <p:cNvPr id="52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Soyons lucides sur ce que nous fabriquons. Une carte qui montre qui a cultivé dans un couloir, c'est une donnée sensible. Mal diffusée, elle désigne des coupables et alimente le conflit qu'elle prétend éviter.</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Trois garde-fous. L'accès est par rôle : agent, comité et autorité ne voient pas la même chose. Les zones sensibles restent invisibles hors du comité. L'hébergement se fait chez l'autorité communale : nous ne centralisons pas le foncier du nord Bénin sur un serveur privé. C'est d'autant plus vrai maintenant que nous couvrons trente-trois communes.</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Nous énonçons ce risque nous-mêmes plutôt que d'attendre la question.</a:t>
            </a:r>
            <a:endParaRPr b="0" lang="fr-FR" sz="2000" spc="-1" strike="noStrike">
              <a:solidFill>
                <a:srgbClr val="000000"/>
              </a:solidFill>
              <a:latin typeface="Arial"/>
            </a:endParaRPr>
          </a:p>
        </p:txBody>
      </p:sp>
      <p:sp>
        <p:nvSpPr>
          <p:cNvPr id="526" name="PlaceHolder 3"/>
          <p:cNvSpPr>
            <a:spLocks noGrp="1"/>
          </p:cNvSpPr>
          <p:nvPr>
            <p:ph type="sldNum" idx="4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F0D117E-64C8-4E25-A0FA-C10AFF4037AF}"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7" name="PlaceHolder 1"/>
          <p:cNvSpPr>
            <a:spLocks noGrp="1"/>
          </p:cNvSpPr>
          <p:nvPr>
            <p:ph type="sldImg"/>
          </p:nvPr>
        </p:nvSpPr>
        <p:spPr>
          <a:xfrm>
            <a:off x="1143000" y="685800"/>
            <a:ext cx="4571640" cy="3428640"/>
          </a:xfrm>
          <a:prstGeom prst="rect">
            <a:avLst/>
          </a:prstGeom>
          <a:ln w="0">
            <a:noFill/>
          </a:ln>
        </p:spPr>
      </p:sp>
      <p:sp>
        <p:nvSpPr>
          <p:cNvPr id="52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RALENTIR ICI. LAISSER UN SILENCE APRÈS LE TITRE.</a:t>
            </a:r>
            <a:endParaRPr b="0" lang="fr-FR" sz="2000" spc="-1" strike="noStrike">
              <a:solidFill>
                <a:srgbClr val="000000"/>
              </a:solidFill>
              <a:latin typeface="Arial"/>
            </a:endParaRPr>
          </a:p>
          <a:p>
            <a:pPr marL="216000" indent="0">
              <a:lnSpc>
                <a:spcPct val="100000"/>
              </a:lnSpc>
              <a:buNone/>
            </a:pP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C'est la slide la plus importante de la présentation.</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Terra Sentinelle est un outil de veille, pas une autorité. Et nous préférons énoncer ses limites nous-mêmes plutôt que les laisser découvrir.</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(silence, deux à trois secondes, regarder le jury)</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Le système ne dit pas qui avait le droit d'être là. Il ne tranche pas la légitimité foncière : ni notre rôle, ni notre compétence, ni celle d'un modèle.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Troisième ligne, et c'est la plus récente : il ne valide pas lui-même ses détections au Bénin. Notre modèle est entraîné sur de l'imagerie européenne et appliqué au nord Bénin. C'est un écart de domaine réel, documenté, et je ne le cache pas : aucune prédiction béninoise n'est validée localement, faute de parcelles annotées sur zone.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Et voici le retournement. Cette limite n'est pas un accident du prototype, c'est la raison d'être du produit. Si le modèle était infaillible, Moussa n'aurait rien à faire. C'est parce que la sortie du modèle est une hypothèse, et non une vérité, que l'agent communal va sur le terrain la confirmer ou l'invalider. Le doute de la machine est exactement ce qui crée le travail de l'humain.</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Il informe un arbitrage humain. Rien de plus, et c'est déjà beaucoup, puisque aujourd'hui cet arbitrage se fait sans information récente.</a:t>
            </a:r>
            <a:endParaRPr b="0" lang="fr-FR" sz="2000" spc="-1" strike="noStrike">
              <a:solidFill>
                <a:srgbClr val="000000"/>
              </a:solidFill>
              <a:latin typeface="Arial"/>
            </a:endParaRPr>
          </a:p>
        </p:txBody>
      </p:sp>
      <p:sp>
        <p:nvSpPr>
          <p:cNvPr id="529" name="PlaceHolder 3"/>
          <p:cNvSpPr>
            <a:spLocks noGrp="1"/>
          </p:cNvSpPr>
          <p:nvPr>
            <p:ph type="sldNum" idx="5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5EA86EF-A44F-41B1-A465-01AF1CAD6D25}"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0" name="PlaceHolder 1"/>
          <p:cNvSpPr>
            <a:spLocks noGrp="1"/>
          </p:cNvSpPr>
          <p:nvPr>
            <p:ph type="sldImg"/>
          </p:nvPr>
        </p:nvSpPr>
        <p:spPr>
          <a:xfrm>
            <a:off x="1143000" y="685800"/>
            <a:ext cx="4571640" cy="3428640"/>
          </a:xfrm>
          <a:prstGeom prst="rect">
            <a:avLst/>
          </a:prstGeom>
          <a:ln w="0">
            <a:noFill/>
          </a:ln>
        </p:spPr>
      </p:sp>
      <p:sp>
        <p:nvSpPr>
          <p:cNvPr id="53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Où en sommes-nous vraiment.</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Ce qui tourne : un modèle entraîné dont les métriques sont mesurées, l'inférence sur de vraies tuiles Sentinel-2 du nord Bénin, la couverture des trente-trois communes et de leurs mille cinq cent quatre-vingt-cinq kilomètres de couloirs, la validation terrain hors connexion avec synchronisation, et le calcul d'itinéraire : trois alternatives sur Banikoara en zéro virgule quatre-vingt-quatorze seconde.</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L'application a les deux thèmes, clair et sombre, le clair étant le thème de référence parce que c'est un outil consulté en réunion, en plein jour. Le responsive est vérifié par capture à 360, 390, 768 et 1280 pixels. Et il y a un double mode dégradé : sans API, l'application bascule sur des données embarquées ; sans tuiles, sur un fond CSS. Autrement dit la démonstration ne peut pas tomber en panne devant vous.</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Ce qui reste simulé, je le dis clairement : les couloirs reconstitués, les villages, parcelles et pâturages générés, la diffusion vocale maquettée, la fusion Sentinel-1 non implémentée. Je le dis parce que c'est l'état réel du travail.</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Ensuite : annoter des parcelles au Bénin pour mesurer enfin l'écart de domaine, obtenir l'emprise officielle auprès d'une mairie, et tester sur une saison réelle avec un comité.</a:t>
            </a:r>
            <a:endParaRPr b="0" lang="fr-FR"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Le code est public sur GitHub et la démonstration est en ligne. Les deux adresses sont à l'écran. Merci.</a:t>
            </a:r>
            <a:endParaRPr b="0" lang="fr-FR" sz="2000" spc="-1" strike="noStrike">
              <a:solidFill>
                <a:srgbClr val="000000"/>
              </a:solidFill>
              <a:latin typeface="Arial"/>
            </a:endParaRPr>
          </a:p>
        </p:txBody>
      </p:sp>
      <p:sp>
        <p:nvSpPr>
          <p:cNvPr id="532" name="PlaceHolder 3"/>
          <p:cNvSpPr>
            <a:spLocks noGrp="1"/>
          </p:cNvSpPr>
          <p:nvPr>
            <p:ph type="sldNum" idx="5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55E0248-3CDE-4ACB-8DBD-1ACB77217184}" type="slidenum">
              <a:rPr b="0" lang="en-US" sz="1200" spc="-1" strike="noStrike">
                <a:solidFill>
                  <a:srgbClr val="000000"/>
                </a:solidFill>
                <a:latin typeface="Times New Roman"/>
              </a:rPr>
              <a:t>&lt;numéro&gt;</a:t>
            </a:fld>
            <a:endParaRPr b="0" lang="fr-FR"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Arial"/>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fr-FR"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40B72740-A309-4C5A-A785-8BD6132A017F}" type="slidenum">
              <a:t>&lt;#&gt;</a:t>
            </a:fld>
          </a:p>
        </p:txBody>
      </p:sp>
      <p:sp>
        <p:nvSpPr>
          <p:cNvPr id="6" name="PlaceHolder 5"/>
          <p:cNvSpPr>
            <a:spLocks noGrp="1"/>
          </p:cNvSpPr>
          <p:nvPr>
            <p:ph type="dt" idx="1"/>
          </p:nvPr>
        </p:nvSpPr>
        <p:spPr/>
        <p:txBody>
          <a:bodyPr/>
          <a:p>
            <a:r>
              <a:rPr lang="fr-FR"/>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62F86F59-5DAA-468B-A038-1E9659B40175}" type="slidenum">
              <a:t>&lt;#&gt;</a:t>
            </a:fld>
          </a:p>
        </p:txBody>
      </p:sp>
      <p:sp>
        <p:nvSpPr>
          <p:cNvPr id="4" name="PlaceHolder 3"/>
          <p:cNvSpPr>
            <a:spLocks noGrp="1"/>
          </p:cNvSpPr>
          <p:nvPr>
            <p:ph type="dt" idx="4"/>
          </p:nvPr>
        </p:nvSpPr>
        <p:spPr/>
        <p:txBody>
          <a:bodyPr/>
          <a:p>
            <a:r>
              <a:rPr lang="fr-FR"/>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B1B20A9D-AA5A-4290-B348-62CB223A15C7}" type="slidenum">
              <a:t>&lt;#&gt;</a:t>
            </a:fld>
          </a:p>
        </p:txBody>
      </p:sp>
      <p:sp>
        <p:nvSpPr>
          <p:cNvPr id="4" name="PlaceHolder 3"/>
          <p:cNvSpPr>
            <a:spLocks noGrp="1"/>
          </p:cNvSpPr>
          <p:nvPr>
            <p:ph type="dt" idx="7"/>
          </p:nvPr>
        </p:nvSpPr>
        <p:spPr/>
        <p:txBody>
          <a:bodyPr/>
          <a:p>
            <a:r>
              <a:rPr lang="fr-FR"/>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Arial"/>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Arial"/>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930996CE-0C90-40E5-9B8B-3D8FDD917DDD}" type="slidenum">
              <a:t>&lt;#&gt;</a:t>
            </a:fld>
          </a:p>
        </p:txBody>
      </p:sp>
      <p:sp>
        <p:nvSpPr>
          <p:cNvPr id="6" name="PlaceHolder 5"/>
          <p:cNvSpPr>
            <a:spLocks noGrp="1"/>
          </p:cNvSpPr>
          <p:nvPr>
            <p:ph type="dt" idx="10"/>
          </p:nvPr>
        </p:nvSpPr>
        <p:spPr/>
        <p:txBody>
          <a:bodyPr/>
          <a:p>
            <a:r>
              <a:rPr lang="fr-FR"/>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1FE1BB3D-E09E-453B-BFDE-F25741A98427}" type="slidenum">
              <a:t>&lt;#&gt;</a:t>
            </a:fld>
          </a:p>
        </p:txBody>
      </p:sp>
      <p:sp>
        <p:nvSpPr>
          <p:cNvPr id="4" name="PlaceHolder 3"/>
          <p:cNvSpPr>
            <a:spLocks noGrp="1"/>
          </p:cNvSpPr>
          <p:nvPr>
            <p:ph type="dt" idx="13"/>
          </p:nvPr>
        </p:nvSpPr>
        <p:spPr/>
        <p:txBody>
          <a:bodyPr/>
          <a:p>
            <a:r>
              <a:rPr lang="fr-FR"/>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Arial"/>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Arial"/>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Arial"/>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4DAD093A-3A1C-418D-8E24-F791231D747E}" type="slidenum">
              <a:t>&lt;#&gt;</a:t>
            </a:fld>
          </a:p>
        </p:txBody>
      </p:sp>
      <p:sp>
        <p:nvSpPr>
          <p:cNvPr id="7" name="PlaceHolder 6"/>
          <p:cNvSpPr>
            <a:spLocks noGrp="1"/>
          </p:cNvSpPr>
          <p:nvPr>
            <p:ph type="dt" idx="16"/>
          </p:nvPr>
        </p:nvSpPr>
        <p:spPr/>
        <p:txBody>
          <a:bodyPr/>
          <a:p>
            <a:r>
              <a:rPr lang="fr-FR"/>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69F6CB18-A7B4-4F57-971D-54A1A16EF296}" type="slidenum">
              <a:t>&lt;#&gt;</a:t>
            </a:fld>
          </a:p>
        </p:txBody>
      </p:sp>
      <p:sp>
        <p:nvSpPr>
          <p:cNvPr id="4" name="PlaceHolder 3"/>
          <p:cNvSpPr>
            <a:spLocks noGrp="1"/>
          </p:cNvSpPr>
          <p:nvPr>
            <p:ph type="dt" idx="19"/>
          </p:nvPr>
        </p:nvSpPr>
        <p:spPr/>
        <p:txBody>
          <a:bodyPr/>
          <a:p>
            <a:r>
              <a:rPr lang="fr-FR"/>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Arial"/>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F6EB1F94-8D7A-4388-9286-683BFBC9262D}" type="slidenum">
              <a:t>&lt;#&gt;</a:t>
            </a:fld>
          </a:p>
        </p:txBody>
      </p:sp>
      <p:sp>
        <p:nvSpPr>
          <p:cNvPr id="5" name="PlaceHolder 4"/>
          <p:cNvSpPr>
            <a:spLocks noGrp="1"/>
          </p:cNvSpPr>
          <p:nvPr>
            <p:ph type="dt" idx="22"/>
          </p:nvPr>
        </p:nvSpPr>
        <p:spPr/>
        <p:txBody>
          <a:bodyPr/>
          <a:p>
            <a:r>
              <a:rPr lang="fr-FR"/>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141F17EA-61C2-4929-91BA-23AC41DFE340}" type="slidenum">
              <a:t>&lt;#&gt;</a:t>
            </a:fld>
          </a:p>
        </p:txBody>
      </p:sp>
      <p:sp>
        <p:nvSpPr>
          <p:cNvPr id="4" name="PlaceHolder 3"/>
          <p:cNvSpPr>
            <a:spLocks noGrp="1"/>
          </p:cNvSpPr>
          <p:nvPr>
            <p:ph type="dt" idx="25"/>
          </p:nvPr>
        </p:nvSpPr>
        <p:spPr/>
        <p:txBody>
          <a:bodyPr/>
          <a:p>
            <a:r>
              <a:rPr lang="fr-FR"/>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2D0AFD28-AEA1-4541-9B5B-91280B1D151E}" type="slidenum">
              <a:t>&lt;#&gt;</a:t>
            </a:fld>
          </a:p>
        </p:txBody>
      </p:sp>
      <p:sp>
        <p:nvSpPr>
          <p:cNvPr id="4" name="PlaceHolder 3"/>
          <p:cNvSpPr>
            <a:spLocks noGrp="1"/>
          </p:cNvSpPr>
          <p:nvPr>
            <p:ph type="dt" idx="28"/>
          </p:nvPr>
        </p:nvSpPr>
        <p:spPr/>
        <p:txBody>
          <a:bodyPr/>
          <a:p>
            <a:r>
              <a:rPr lang="fr-FR"/>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612BEE2C-59AD-406F-BBE0-B0A6C5869E90}" type="slidenum">
              <a:t>&lt;#&gt;</a:t>
            </a:fld>
          </a:p>
        </p:txBody>
      </p:sp>
      <p:sp>
        <p:nvSpPr>
          <p:cNvPr id="4" name="PlaceHolder 3"/>
          <p:cNvSpPr>
            <a:spLocks noGrp="1"/>
          </p:cNvSpPr>
          <p:nvPr>
            <p:ph type="dt" idx="31"/>
          </p:nvPr>
        </p:nvSpPr>
        <p:spPr/>
        <p:txBody>
          <a:bodyPr/>
          <a:p>
            <a:r>
              <a:rPr lang="fr-FR"/>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Arial"/>
              </a:rPr>
              <a:t>Click to edit Master title style</a:t>
            </a:r>
            <a:endParaRPr b="0" lang="en-US" sz="4400" spc="-1" strike="noStrike">
              <a:solidFill>
                <a:schemeClr val="dk1"/>
              </a:solidFill>
              <a:latin typeface="Arial"/>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 </a:t>
            </a:r>
            <a:endParaRPr b="0" lang="fr-FR"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 </a:t>
            </a:r>
            <a:endParaRPr b="0" lang="fr-FR"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B7F0DAE4-3603-4A44-A0FD-2BBD2C63CAD9}" type="slidenum">
              <a:rPr b="0" lang="en-US" sz="1200" spc="-1" strike="noStrike">
                <a:solidFill>
                  <a:schemeClr val="dk1">
                    <a:tint val="75000"/>
                  </a:schemeClr>
                </a:solidFill>
                <a:latin typeface="Arial"/>
              </a:rPr>
              <a:t>15</a:t>
            </a:fld>
            <a:endParaRPr b="0" lang="fr-FR"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Arial"/>
              </a:rPr>
              <a:t>Click to </a:t>
            </a:r>
            <a:r>
              <a:rPr b="0" lang="en-US" sz="4400" spc="-1" strike="noStrike">
                <a:solidFill>
                  <a:schemeClr val="dk1"/>
                </a:solidFill>
                <a:latin typeface="Arial"/>
              </a:rPr>
              <a:t>edit Master </a:t>
            </a:r>
            <a:r>
              <a:rPr b="0" lang="en-US" sz="4400" spc="-1" strike="noStrike">
                <a:solidFill>
                  <a:schemeClr val="dk1"/>
                </a:solidFill>
                <a:latin typeface="Arial"/>
              </a:rPr>
              <a:t>title style</a:t>
            </a:r>
            <a:endParaRPr b="0" lang="en-US" sz="4400" spc="-1" strike="noStrike">
              <a:solidFill>
                <a:schemeClr val="dk1"/>
              </a:solidFill>
              <a:latin typeface="Arial"/>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Arial"/>
              </a:rPr>
              <a:t>Click to edit Master text styles</a:t>
            </a:r>
            <a:endParaRPr b="0" lang="en-US" sz="3200" spc="-1" strike="noStrike">
              <a:solidFill>
                <a:schemeClr val="dk1"/>
              </a:solidFill>
              <a:latin typeface="Arial"/>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Arial"/>
              </a:rPr>
              <a:t>Second level</a:t>
            </a:r>
            <a:endParaRPr b="0" lang="en-US" sz="2800" spc="-1" strike="noStrike">
              <a:solidFill>
                <a:schemeClr val="dk1"/>
              </a:solidFill>
              <a:latin typeface="Arial"/>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Arial"/>
              </a:rPr>
              <a:t>Third level</a:t>
            </a:r>
            <a:endParaRPr b="0" lang="en-US" sz="2400" spc="-1" strike="noStrike">
              <a:solidFill>
                <a:schemeClr val="dk1"/>
              </a:solidFill>
              <a:latin typeface="Arial"/>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Arial"/>
              </a:rPr>
              <a:t>Fourth level</a:t>
            </a:r>
            <a:endParaRPr b="0" lang="en-US" sz="2000" spc="-1" strike="noStrike">
              <a:solidFill>
                <a:schemeClr val="dk1"/>
              </a:solidFill>
              <a:latin typeface="Arial"/>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Arial"/>
              </a:rPr>
              <a:t>Fifth level</a:t>
            </a:r>
            <a:endParaRPr b="0" lang="en-US" sz="2000" spc="-1" strike="noStrike">
              <a:solidFill>
                <a:schemeClr val="dk1"/>
              </a:solidFill>
              <a:latin typeface="Arial"/>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&lt;date/heure&gt;</a:t>
            </a:r>
            <a:endParaRPr b="0" lang="fr-FR"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40AE7889-BD91-4C1B-BB7C-7422391F4E64}" type="slidenum">
              <a:rPr b="0" lang="en-US" sz="1200" spc="-1" strike="noStrike">
                <a:solidFill>
                  <a:schemeClr val="dk1">
                    <a:tint val="75000"/>
                  </a:schemeClr>
                </a:solidFill>
                <a:latin typeface="Arial"/>
              </a:rPr>
              <a:t>&lt;numéro&gt;</a:t>
            </a:fld>
            <a:endParaRPr b="0" lang="fr-FR"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Arial"/>
              </a:rPr>
              <a:t>C</a:t>
            </a:r>
            <a:r>
              <a:rPr b="0" lang="en-US" sz="4400" spc="-1" strike="noStrike">
                <a:solidFill>
                  <a:schemeClr val="dk1"/>
                </a:solidFill>
                <a:latin typeface="Arial"/>
              </a:rPr>
              <a:t>l</a:t>
            </a:r>
            <a:r>
              <a:rPr b="0" lang="en-US" sz="4400" spc="-1" strike="noStrike">
                <a:solidFill>
                  <a:schemeClr val="dk1"/>
                </a:solidFill>
                <a:latin typeface="Arial"/>
              </a:rPr>
              <a:t>i</a:t>
            </a:r>
            <a:r>
              <a:rPr b="0" lang="en-US" sz="4400" spc="-1" strike="noStrike">
                <a:solidFill>
                  <a:schemeClr val="dk1"/>
                </a:solidFill>
                <a:latin typeface="Arial"/>
              </a:rPr>
              <a:t>c</a:t>
            </a:r>
            <a:r>
              <a:rPr b="0" lang="en-US" sz="4400" spc="-1" strike="noStrike">
                <a:solidFill>
                  <a:schemeClr val="dk1"/>
                </a:solidFill>
                <a:latin typeface="Arial"/>
              </a:rPr>
              <a:t>k</a:t>
            </a:r>
            <a:r>
              <a:rPr b="0" lang="en-US" sz="4400" spc="-1" strike="noStrike">
                <a:solidFill>
                  <a:schemeClr val="dk1"/>
                </a:solidFill>
                <a:latin typeface="Arial"/>
              </a:rPr>
              <a:t> </a:t>
            </a:r>
            <a:r>
              <a:rPr b="0" lang="en-US" sz="4400" spc="-1" strike="noStrike">
                <a:solidFill>
                  <a:schemeClr val="dk1"/>
                </a:solidFill>
                <a:latin typeface="Arial"/>
              </a:rPr>
              <a:t>t</a:t>
            </a:r>
            <a:r>
              <a:rPr b="0" lang="en-US" sz="4400" spc="-1" strike="noStrike">
                <a:solidFill>
                  <a:schemeClr val="dk1"/>
                </a:solidFill>
                <a:latin typeface="Arial"/>
              </a:rPr>
              <a:t>o</a:t>
            </a:r>
            <a:r>
              <a:rPr b="0" lang="en-US" sz="4400" spc="-1" strike="noStrike">
                <a:solidFill>
                  <a:schemeClr val="dk1"/>
                </a:solidFill>
                <a:latin typeface="Arial"/>
              </a:rPr>
              <a:t> </a:t>
            </a:r>
            <a:r>
              <a:rPr b="0" lang="en-US" sz="4400" spc="-1" strike="noStrike">
                <a:solidFill>
                  <a:schemeClr val="dk1"/>
                </a:solidFill>
                <a:latin typeface="Arial"/>
              </a:rPr>
              <a:t>e</a:t>
            </a:r>
            <a:r>
              <a:rPr b="0" lang="en-US" sz="4400" spc="-1" strike="noStrike">
                <a:solidFill>
                  <a:schemeClr val="dk1"/>
                </a:solidFill>
                <a:latin typeface="Arial"/>
              </a:rPr>
              <a:t>d</a:t>
            </a:r>
            <a:r>
              <a:rPr b="0" lang="en-US" sz="4400" spc="-1" strike="noStrike">
                <a:solidFill>
                  <a:schemeClr val="dk1"/>
                </a:solidFill>
                <a:latin typeface="Arial"/>
              </a:rPr>
              <a:t>i</a:t>
            </a:r>
            <a:r>
              <a:rPr b="0" lang="en-US" sz="4400" spc="-1" strike="noStrike">
                <a:solidFill>
                  <a:schemeClr val="dk1"/>
                </a:solidFill>
                <a:latin typeface="Arial"/>
              </a:rPr>
              <a:t>t </a:t>
            </a:r>
            <a:r>
              <a:rPr b="0" lang="en-US" sz="4400" spc="-1" strike="noStrike">
                <a:solidFill>
                  <a:schemeClr val="dk1"/>
                </a:solidFill>
                <a:latin typeface="Arial"/>
              </a:rPr>
              <a:t>M</a:t>
            </a:r>
            <a:r>
              <a:rPr b="0" lang="en-US" sz="4400" spc="-1" strike="noStrike">
                <a:solidFill>
                  <a:schemeClr val="dk1"/>
                </a:solidFill>
                <a:latin typeface="Arial"/>
              </a:rPr>
              <a:t>a</a:t>
            </a:r>
            <a:r>
              <a:rPr b="0" lang="en-US" sz="4400" spc="-1" strike="noStrike">
                <a:solidFill>
                  <a:schemeClr val="dk1"/>
                </a:solidFill>
                <a:latin typeface="Arial"/>
              </a:rPr>
              <a:t>s</a:t>
            </a:r>
            <a:r>
              <a:rPr b="0" lang="en-US" sz="4400" spc="-1" strike="noStrike">
                <a:solidFill>
                  <a:schemeClr val="dk1"/>
                </a:solidFill>
                <a:latin typeface="Arial"/>
              </a:rPr>
              <a:t>t</a:t>
            </a:r>
            <a:r>
              <a:rPr b="0" lang="en-US" sz="4400" spc="-1" strike="noStrike">
                <a:solidFill>
                  <a:schemeClr val="dk1"/>
                </a:solidFill>
                <a:latin typeface="Arial"/>
              </a:rPr>
              <a:t>e</a:t>
            </a:r>
            <a:r>
              <a:rPr b="0" lang="en-US" sz="4400" spc="-1" strike="noStrike">
                <a:solidFill>
                  <a:schemeClr val="dk1"/>
                </a:solidFill>
                <a:latin typeface="Arial"/>
              </a:rPr>
              <a:t>r</a:t>
            </a:r>
            <a:r>
              <a:rPr b="0" lang="en-US" sz="4400" spc="-1" strike="noStrike">
                <a:solidFill>
                  <a:schemeClr val="dk1"/>
                </a:solidFill>
                <a:latin typeface="Arial"/>
              </a:rPr>
              <a:t> </a:t>
            </a:r>
            <a:r>
              <a:rPr b="0" lang="en-US" sz="4400" spc="-1" strike="noStrike">
                <a:solidFill>
                  <a:schemeClr val="dk1"/>
                </a:solidFill>
                <a:latin typeface="Arial"/>
              </a:rPr>
              <a:t>t</a:t>
            </a:r>
            <a:r>
              <a:rPr b="0" lang="en-US" sz="4400" spc="-1" strike="noStrike">
                <a:solidFill>
                  <a:schemeClr val="dk1"/>
                </a:solidFill>
                <a:latin typeface="Arial"/>
              </a:rPr>
              <a:t>i</a:t>
            </a:r>
            <a:r>
              <a:rPr b="0" lang="en-US" sz="4400" spc="-1" strike="noStrike">
                <a:solidFill>
                  <a:schemeClr val="dk1"/>
                </a:solidFill>
                <a:latin typeface="Arial"/>
              </a:rPr>
              <a:t>t</a:t>
            </a:r>
            <a:r>
              <a:rPr b="0" lang="en-US" sz="4400" spc="-1" strike="noStrike">
                <a:solidFill>
                  <a:schemeClr val="dk1"/>
                </a:solidFill>
                <a:latin typeface="Arial"/>
              </a:rPr>
              <a:t>l</a:t>
            </a:r>
            <a:r>
              <a:rPr b="0" lang="en-US" sz="4400" spc="-1" strike="noStrike">
                <a:solidFill>
                  <a:schemeClr val="dk1"/>
                </a:solidFill>
                <a:latin typeface="Arial"/>
              </a:rPr>
              <a:t>e</a:t>
            </a:r>
            <a:r>
              <a:rPr b="0" lang="en-US" sz="4400" spc="-1" strike="noStrike">
                <a:solidFill>
                  <a:schemeClr val="dk1"/>
                </a:solidFill>
                <a:latin typeface="Arial"/>
              </a:rPr>
              <a:t> </a:t>
            </a:r>
            <a:r>
              <a:rPr b="0" lang="en-US" sz="4400" spc="-1" strike="noStrike">
                <a:solidFill>
                  <a:schemeClr val="dk1"/>
                </a:solidFill>
                <a:latin typeface="Arial"/>
              </a:rPr>
              <a:t>s</a:t>
            </a:r>
            <a:r>
              <a:rPr b="0" lang="en-US" sz="4400" spc="-1" strike="noStrike">
                <a:solidFill>
                  <a:schemeClr val="dk1"/>
                </a:solidFill>
                <a:latin typeface="Arial"/>
              </a:rPr>
              <a:t>t</a:t>
            </a:r>
            <a:r>
              <a:rPr b="0" lang="en-US" sz="4400" spc="-1" strike="noStrike">
                <a:solidFill>
                  <a:schemeClr val="dk1"/>
                </a:solidFill>
                <a:latin typeface="Arial"/>
              </a:rPr>
              <a:t>y</a:t>
            </a:r>
            <a:r>
              <a:rPr b="0" lang="en-US" sz="4400" spc="-1" strike="noStrike">
                <a:solidFill>
                  <a:schemeClr val="dk1"/>
                </a:solidFill>
                <a:latin typeface="Arial"/>
              </a:rPr>
              <a:t>l</a:t>
            </a:r>
            <a:r>
              <a:rPr b="0" lang="en-US" sz="4400" spc="-1" strike="noStrike">
                <a:solidFill>
                  <a:schemeClr val="dk1"/>
                </a:solidFill>
                <a:latin typeface="Arial"/>
              </a:rPr>
              <a:t>e</a:t>
            </a:r>
            <a:endParaRPr b="0" lang="en-US" sz="4400" spc="-1" strike="noStrike">
              <a:solidFill>
                <a:schemeClr val="dk1"/>
              </a:solidFill>
              <a:latin typeface="Arial"/>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Arial"/>
              </a:rPr>
              <a:t>Click to edit Master text styles</a:t>
            </a:r>
            <a:endParaRPr b="0" lang="en-US" sz="3200" spc="-1" strike="noStrike">
              <a:solidFill>
                <a:schemeClr val="dk1"/>
              </a:solidFill>
              <a:latin typeface="Arial"/>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Arial"/>
              </a:rPr>
              <a:t>Second level</a:t>
            </a:r>
            <a:endParaRPr b="0" lang="en-US" sz="2800" spc="-1" strike="noStrike">
              <a:solidFill>
                <a:schemeClr val="dk1"/>
              </a:solidFill>
              <a:latin typeface="Arial"/>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Arial"/>
              </a:rPr>
              <a:t>Third level</a:t>
            </a:r>
            <a:endParaRPr b="0" lang="en-US" sz="2400" spc="-1" strike="noStrike">
              <a:solidFill>
                <a:schemeClr val="dk1"/>
              </a:solidFill>
              <a:latin typeface="Arial"/>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Arial"/>
              </a:rPr>
              <a:t>Fourth level</a:t>
            </a:r>
            <a:endParaRPr b="0" lang="en-US" sz="2000" spc="-1" strike="noStrike">
              <a:solidFill>
                <a:schemeClr val="dk1"/>
              </a:solidFill>
              <a:latin typeface="Arial"/>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Arial"/>
              </a:rPr>
              <a:t>Fifth level</a:t>
            </a:r>
            <a:endParaRPr b="0" lang="en-US" sz="2000" spc="-1" strike="noStrike">
              <a:solidFill>
                <a:schemeClr val="dk1"/>
              </a:solidFill>
              <a:latin typeface="Arial"/>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&lt;date/heure&gt;</a:t>
            </a:r>
            <a:endParaRPr b="0" lang="fr-FR"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D5E0F39B-5C56-4981-8CFD-7C59BB8F9E57}" type="slidenum">
              <a:rPr b="0" lang="en-US" sz="1200" spc="-1" strike="noStrike">
                <a:solidFill>
                  <a:schemeClr val="dk1">
                    <a:tint val="75000"/>
                  </a:schemeClr>
                </a:solidFill>
                <a:latin typeface="Arial"/>
              </a:rPr>
              <a:t>&lt;numéro&gt;</a:t>
            </a:fld>
            <a:endParaRPr b="0" lang="fr-FR"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Arial"/>
              </a:rPr>
              <a:t>Click to edit Master title style</a:t>
            </a:r>
            <a:endParaRPr b="0" lang="en-US" sz="4400" spc="-1" strike="noStrike">
              <a:solidFill>
                <a:schemeClr val="dk1"/>
              </a:solidFill>
              <a:latin typeface="Arial"/>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Arial"/>
              </a:rPr>
              <a:t>Click to edit Master text styles</a:t>
            </a:r>
            <a:endParaRPr b="0" lang="en-US" sz="3200" spc="-1" strike="noStrike">
              <a:solidFill>
                <a:schemeClr val="dk1"/>
              </a:solidFill>
              <a:latin typeface="Arial"/>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Arial"/>
              </a:rPr>
              <a:t>Second level</a:t>
            </a:r>
            <a:endParaRPr b="0" lang="en-US" sz="2800" spc="-1" strike="noStrike">
              <a:solidFill>
                <a:schemeClr val="dk1"/>
              </a:solidFill>
              <a:latin typeface="Arial"/>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Arial"/>
              </a:rPr>
              <a:t>Third level</a:t>
            </a:r>
            <a:endParaRPr b="0" lang="en-US" sz="2400" spc="-1" strike="noStrike">
              <a:solidFill>
                <a:schemeClr val="dk1"/>
              </a:solidFill>
              <a:latin typeface="Arial"/>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Arial"/>
              </a:rPr>
              <a:t>Fourth level</a:t>
            </a:r>
            <a:endParaRPr b="0" lang="en-US" sz="2000" spc="-1" strike="noStrike">
              <a:solidFill>
                <a:schemeClr val="dk1"/>
              </a:solidFill>
              <a:latin typeface="Arial"/>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Arial"/>
              </a:rPr>
              <a:t>Fifth level</a:t>
            </a:r>
            <a:endParaRPr b="0" lang="en-US" sz="2000" spc="-1" strike="noStrike">
              <a:solidFill>
                <a:schemeClr val="dk1"/>
              </a:solidFill>
              <a:latin typeface="Arial"/>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&lt;date/heure&gt;</a:t>
            </a:r>
            <a:endParaRPr b="0" lang="fr-FR"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55096676-721A-41AF-9912-F85910DA8FCE}" type="slidenum">
              <a:rPr b="0" lang="en-US" sz="1200" spc="-1" strike="noStrike">
                <a:solidFill>
                  <a:schemeClr val="dk1">
                    <a:tint val="75000"/>
                  </a:schemeClr>
                </a:solidFill>
                <a:latin typeface="Arial"/>
              </a:rPr>
              <a:t>&lt;numéro&gt;</a:t>
            </a:fld>
            <a:endParaRPr b="0" lang="fr-FR"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Arial"/>
              </a:rPr>
              <a:t>Click to edit Master title style</a:t>
            </a:r>
            <a:endParaRPr b="0" lang="en-US" sz="4000" spc="-1" strike="noStrike">
              <a:solidFill>
                <a:schemeClr val="dk1"/>
              </a:solidFill>
              <a:latin typeface="Arial"/>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Arial"/>
              </a:rPr>
              <a:t>Click to edit Master text styles</a:t>
            </a:r>
            <a:endParaRPr b="0" lang="en-US" sz="2000" spc="-1" strike="noStrike">
              <a:solidFill>
                <a:schemeClr val="dk1"/>
              </a:solidFill>
              <a:latin typeface="Arial"/>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&lt;date/heure&gt;</a:t>
            </a:r>
            <a:endParaRPr b="0" lang="fr-FR"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4632646D-33A1-44DC-A50E-E0AC87DAA0B7}" type="slidenum">
              <a:rPr b="0" lang="en-US" sz="1200" spc="-1" strike="noStrike">
                <a:solidFill>
                  <a:schemeClr val="dk1">
                    <a:tint val="75000"/>
                  </a:schemeClr>
                </a:solidFill>
                <a:latin typeface="Arial"/>
              </a:rPr>
              <a:t>&lt;numéro&gt;</a:t>
            </a:fld>
            <a:endParaRPr b="0" lang="fr-FR"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Arial"/>
              </a:rPr>
              <a:t>Click to edit Master title style</a:t>
            </a:r>
            <a:endParaRPr b="0" lang="en-US" sz="4400" spc="-1" strike="noStrike">
              <a:solidFill>
                <a:schemeClr val="dk1"/>
              </a:solidFill>
              <a:latin typeface="Arial"/>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Arial"/>
              </a:rPr>
              <a:t>Click to edit Master text styles</a:t>
            </a:r>
            <a:endParaRPr b="0" lang="en-US" sz="2800" spc="-1" strike="noStrike">
              <a:solidFill>
                <a:schemeClr val="dk1"/>
              </a:solidFill>
              <a:latin typeface="Arial"/>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Arial"/>
              </a:rPr>
              <a:t>Second level</a:t>
            </a:r>
            <a:endParaRPr b="0" lang="en-US" sz="2400" spc="-1" strike="noStrike">
              <a:solidFill>
                <a:schemeClr val="dk1"/>
              </a:solidFill>
              <a:latin typeface="Arial"/>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Arial"/>
              </a:rPr>
              <a:t>Third level</a:t>
            </a:r>
            <a:endParaRPr b="0" lang="en-US" sz="2000" spc="-1" strike="noStrike">
              <a:solidFill>
                <a:schemeClr val="dk1"/>
              </a:solidFill>
              <a:latin typeface="Arial"/>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Arial"/>
              </a:rPr>
              <a:t>Fourth level</a:t>
            </a:r>
            <a:endParaRPr b="0" lang="en-US" sz="1800" spc="-1" strike="noStrike">
              <a:solidFill>
                <a:schemeClr val="dk1"/>
              </a:solidFill>
              <a:latin typeface="Arial"/>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Arial"/>
              </a:rPr>
              <a:t>Fifth level</a:t>
            </a:r>
            <a:endParaRPr b="0" lang="en-US" sz="1800" spc="-1" strike="noStrike">
              <a:solidFill>
                <a:schemeClr val="dk1"/>
              </a:solidFill>
              <a:latin typeface="Arial"/>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Arial"/>
              </a:rPr>
              <a:t>Click to edit Master text styles</a:t>
            </a:r>
            <a:endParaRPr b="0" lang="en-US" sz="2800" spc="-1" strike="noStrike">
              <a:solidFill>
                <a:schemeClr val="dk1"/>
              </a:solidFill>
              <a:latin typeface="Arial"/>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Arial"/>
              </a:rPr>
              <a:t>Second level</a:t>
            </a:r>
            <a:endParaRPr b="0" lang="en-US" sz="2400" spc="-1" strike="noStrike">
              <a:solidFill>
                <a:schemeClr val="dk1"/>
              </a:solidFill>
              <a:latin typeface="Arial"/>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Arial"/>
              </a:rPr>
              <a:t>Third level</a:t>
            </a:r>
            <a:endParaRPr b="0" lang="en-US" sz="2000" spc="-1" strike="noStrike">
              <a:solidFill>
                <a:schemeClr val="dk1"/>
              </a:solidFill>
              <a:latin typeface="Arial"/>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Arial"/>
              </a:rPr>
              <a:t>Fourth level</a:t>
            </a:r>
            <a:endParaRPr b="0" lang="en-US" sz="1800" spc="-1" strike="noStrike">
              <a:solidFill>
                <a:schemeClr val="dk1"/>
              </a:solidFill>
              <a:latin typeface="Arial"/>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Arial"/>
              </a:rPr>
              <a:t>Fifth level</a:t>
            </a:r>
            <a:endParaRPr b="0" lang="en-US" sz="1800" spc="-1" strike="noStrike">
              <a:solidFill>
                <a:schemeClr val="dk1"/>
              </a:solidFill>
              <a:latin typeface="Arial"/>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&lt;date/heure&gt;</a:t>
            </a:r>
            <a:endParaRPr b="0" lang="fr-FR"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C6B016A7-FD1F-4ABF-84E9-CCC25C9AEEE4}" type="slidenum">
              <a:rPr b="0" lang="en-US" sz="1200" spc="-1" strike="noStrike">
                <a:solidFill>
                  <a:schemeClr val="dk1">
                    <a:tint val="75000"/>
                  </a:schemeClr>
                </a:solidFill>
                <a:latin typeface="Arial"/>
              </a:rPr>
              <a:t>&lt;numéro&gt;</a:t>
            </a:fld>
            <a:endParaRPr b="0" lang="fr-FR"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Arial"/>
              </a:rPr>
              <a:t>Click to edit Master title style</a:t>
            </a:r>
            <a:endParaRPr b="0" lang="en-US" sz="4400" spc="-1" strike="noStrike">
              <a:solidFill>
                <a:schemeClr val="dk1"/>
              </a:solidFill>
              <a:latin typeface="Arial"/>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Arial"/>
              </a:rPr>
              <a:t>Click to edit Master text styles</a:t>
            </a:r>
            <a:endParaRPr b="0" lang="en-US" sz="2400" spc="-1" strike="noStrike">
              <a:solidFill>
                <a:schemeClr val="dk1"/>
              </a:solidFill>
              <a:latin typeface="Arial"/>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Arial"/>
              </a:rPr>
              <a:t>Click to edit Master text styles</a:t>
            </a:r>
            <a:endParaRPr b="0" lang="en-US" sz="2400" spc="-1" strike="noStrike">
              <a:solidFill>
                <a:schemeClr val="dk1"/>
              </a:solidFill>
              <a:latin typeface="Arial"/>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Arial"/>
              </a:rPr>
              <a:t>Second level</a:t>
            </a:r>
            <a:endParaRPr b="0" lang="en-US" sz="2000" spc="-1" strike="noStrike">
              <a:solidFill>
                <a:schemeClr val="dk1"/>
              </a:solidFill>
              <a:latin typeface="Arial"/>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Arial"/>
              </a:rPr>
              <a:t>Third level</a:t>
            </a:r>
            <a:endParaRPr b="0" lang="en-US" sz="1800" spc="-1" strike="noStrike">
              <a:solidFill>
                <a:schemeClr val="dk1"/>
              </a:solidFill>
              <a:latin typeface="Arial"/>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Arial"/>
              </a:rPr>
              <a:t>Fourth level</a:t>
            </a:r>
            <a:endParaRPr b="0" lang="en-US" sz="1600" spc="-1" strike="noStrike">
              <a:solidFill>
                <a:schemeClr val="dk1"/>
              </a:solidFill>
              <a:latin typeface="Arial"/>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Arial"/>
              </a:rPr>
              <a:t>Fifth level</a:t>
            </a:r>
            <a:endParaRPr b="0" lang="en-US" sz="1600" spc="-1" strike="noStrike">
              <a:solidFill>
                <a:schemeClr val="dk1"/>
              </a:solidFill>
              <a:latin typeface="Arial"/>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Arial"/>
              </a:rPr>
              <a:t>Click to edit Master text styles</a:t>
            </a:r>
            <a:endParaRPr b="0" lang="en-US" sz="2400" spc="-1" strike="noStrike">
              <a:solidFill>
                <a:schemeClr val="dk1"/>
              </a:solidFill>
              <a:latin typeface="Arial"/>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Arial"/>
              </a:rPr>
              <a:t>Click to edit Master text styles</a:t>
            </a:r>
            <a:endParaRPr b="0" lang="en-US" sz="2400" spc="-1" strike="noStrike">
              <a:solidFill>
                <a:schemeClr val="dk1"/>
              </a:solidFill>
              <a:latin typeface="Arial"/>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Arial"/>
              </a:rPr>
              <a:t>Second level</a:t>
            </a:r>
            <a:endParaRPr b="0" lang="en-US" sz="2000" spc="-1" strike="noStrike">
              <a:solidFill>
                <a:schemeClr val="dk1"/>
              </a:solidFill>
              <a:latin typeface="Arial"/>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Arial"/>
              </a:rPr>
              <a:t>Third level</a:t>
            </a:r>
            <a:endParaRPr b="0" lang="en-US" sz="1800" spc="-1" strike="noStrike">
              <a:solidFill>
                <a:schemeClr val="dk1"/>
              </a:solidFill>
              <a:latin typeface="Arial"/>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Arial"/>
              </a:rPr>
              <a:t>Fourth level</a:t>
            </a:r>
            <a:endParaRPr b="0" lang="en-US" sz="1600" spc="-1" strike="noStrike">
              <a:solidFill>
                <a:schemeClr val="dk1"/>
              </a:solidFill>
              <a:latin typeface="Arial"/>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Arial"/>
              </a:rPr>
              <a:t>Fifth level</a:t>
            </a:r>
            <a:endParaRPr b="0" lang="en-US" sz="1600" spc="-1" strike="noStrike">
              <a:solidFill>
                <a:schemeClr val="dk1"/>
              </a:solidFill>
              <a:latin typeface="Arial"/>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&lt;date/heure&gt;</a:t>
            </a:r>
            <a:endParaRPr b="0" lang="fr-FR"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E1CFEB46-F87D-4A7F-A562-A170D992EAB0}" type="slidenum">
              <a:rPr b="0" lang="en-US" sz="1200" spc="-1" strike="noStrike">
                <a:solidFill>
                  <a:schemeClr val="dk1">
                    <a:tint val="75000"/>
                  </a:schemeClr>
                </a:solidFill>
                <a:latin typeface="Arial"/>
              </a:rPr>
              <a:t>&lt;numéro&gt;</a:t>
            </a:fld>
            <a:endParaRPr b="0" lang="fr-FR"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Arial"/>
              </a:rPr>
              <a:t>Click to edit Master title style</a:t>
            </a:r>
            <a:endParaRPr b="0" lang="en-US" sz="4400" spc="-1" strike="noStrike">
              <a:solidFill>
                <a:schemeClr val="dk1"/>
              </a:solidFill>
              <a:latin typeface="Arial"/>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&lt;date/heure&gt;</a:t>
            </a:r>
            <a:endParaRPr b="0" lang="fr-FR"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308E46E5-3CA0-41EA-B16F-4B1CE651017F}" type="slidenum">
              <a:rPr b="0" lang="en-US" sz="1200" spc="-1" strike="noStrike">
                <a:solidFill>
                  <a:schemeClr val="dk1">
                    <a:tint val="75000"/>
                  </a:schemeClr>
                </a:solidFill>
                <a:latin typeface="Arial"/>
              </a:rPr>
              <a:t>&lt;numéro&gt;</a:t>
            </a:fld>
            <a:endParaRPr b="0" lang="fr-FR"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&lt;date/heure&gt;</a:t>
            </a:r>
            <a:endParaRPr b="0" lang="fr-FR"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5D86654A-8FBC-4F03-BB5D-3D3C13D1A1C3}" type="slidenum">
              <a:rPr b="0" lang="en-US" sz="1200" spc="-1" strike="noStrike">
                <a:solidFill>
                  <a:schemeClr val="dk1">
                    <a:tint val="75000"/>
                  </a:schemeClr>
                </a:solidFill>
                <a:latin typeface="Arial"/>
              </a:rPr>
              <a:t>&lt;numéro&gt;</a:t>
            </a:fld>
            <a:endParaRPr b="0" lang="fr-FR"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Arial"/>
              </a:rPr>
              <a:t>Cliquez pour éditer le format du texte-titre</a:t>
            </a:r>
            <a:endParaRPr b="0" lang="en-US" sz="1800" spc="-1" strike="noStrike">
              <a:solidFill>
                <a:schemeClr val="dk1"/>
              </a:solidFill>
              <a:latin typeface="Arial"/>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Arial"/>
              </a:rPr>
              <a:t>Cliquez pour éditer le format du plan de texte</a:t>
            </a:r>
            <a:endParaRPr b="0" lang="en-US" sz="3200" spc="-1" strike="noStrike">
              <a:solidFill>
                <a:schemeClr val="dk1"/>
              </a:solidFill>
              <a:latin typeface="Arial"/>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Arial"/>
              </a:rPr>
              <a:t>Second niveau de plan</a:t>
            </a:r>
            <a:endParaRPr b="0" lang="en-US" sz="2400" spc="-1" strike="noStrike">
              <a:solidFill>
                <a:schemeClr val="dk1"/>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Arial"/>
              </a:rPr>
              <a:t>Troisième niveau de plan</a:t>
            </a:r>
            <a:endParaRPr b="0" lang="en-US" sz="2000" spc="-1" strike="noStrike">
              <a:solidFill>
                <a:schemeClr val="dk1"/>
              </a:solidFill>
              <a:latin typeface="Arial"/>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Arial"/>
              </a:rPr>
              <a:t>Quatrième niveau de plan</a:t>
            </a:r>
            <a:endParaRPr b="0" lang="en-US" sz="2000" spc="-1" strike="noStrike">
              <a:solidFill>
                <a:schemeClr val="dk1"/>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Arial"/>
              </a:rPr>
              <a:t>Cinquième niveau de plan</a:t>
            </a:r>
            <a:endParaRPr b="0" lang="en-US" sz="2000" spc="-1" strike="noStrike">
              <a:solidFill>
                <a:schemeClr val="dk1"/>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Arial"/>
              </a:rPr>
              <a:t>Sixième niveau de plan</a:t>
            </a:r>
            <a:endParaRPr b="0" lang="en-US" sz="2000" spc="-1" strike="noStrike">
              <a:solidFill>
                <a:schemeClr val="dk1"/>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Arial"/>
              </a:rPr>
              <a:t>Septième niveau de plan</a:t>
            </a:r>
            <a:endParaRPr b="0" lang="en-US" sz="2000" spc="-1" strike="noStrike">
              <a:solidFill>
                <a:schemeClr val="dk1"/>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Arial"/>
              </a:rPr>
              <a:t>Click to edit Master title style</a:t>
            </a:r>
            <a:endParaRPr b="0" lang="en-US" sz="2000" spc="-1" strike="noStrike">
              <a:solidFill>
                <a:schemeClr val="dk1"/>
              </a:solidFill>
              <a:latin typeface="Arial"/>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Arial"/>
              </a:rPr>
              <a:t>Click to edit Master text styles</a:t>
            </a:r>
            <a:endParaRPr b="0" lang="en-US" sz="3200" spc="-1" strike="noStrike">
              <a:solidFill>
                <a:schemeClr val="dk1"/>
              </a:solidFill>
              <a:latin typeface="Arial"/>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Arial"/>
              </a:rPr>
              <a:t>Second level</a:t>
            </a:r>
            <a:endParaRPr b="0" lang="en-US" sz="2800" spc="-1" strike="noStrike">
              <a:solidFill>
                <a:schemeClr val="dk1"/>
              </a:solidFill>
              <a:latin typeface="Arial"/>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Arial"/>
              </a:rPr>
              <a:t>Third level</a:t>
            </a:r>
            <a:endParaRPr b="0" lang="en-US" sz="2400" spc="-1" strike="noStrike">
              <a:solidFill>
                <a:schemeClr val="dk1"/>
              </a:solidFill>
              <a:latin typeface="Arial"/>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Arial"/>
              </a:rPr>
              <a:t>Fourth level</a:t>
            </a:r>
            <a:endParaRPr b="0" lang="en-US" sz="2000" spc="-1" strike="noStrike">
              <a:solidFill>
                <a:schemeClr val="dk1"/>
              </a:solidFill>
              <a:latin typeface="Arial"/>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Arial"/>
              </a:rPr>
              <a:t>Fifth level</a:t>
            </a:r>
            <a:endParaRPr b="0" lang="en-US" sz="2000" spc="-1" strike="noStrike">
              <a:solidFill>
                <a:schemeClr val="dk1"/>
              </a:solidFill>
              <a:latin typeface="Arial"/>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Arial"/>
              </a:rPr>
              <a:t>Click to edit Master text styles</a:t>
            </a:r>
            <a:endParaRPr b="0" lang="en-US" sz="1400" spc="-1" strike="noStrike">
              <a:solidFill>
                <a:schemeClr val="dk1"/>
              </a:solidFill>
              <a:latin typeface="Arial"/>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&lt;date/heure&gt;</a:t>
            </a:r>
            <a:endParaRPr b="0" lang="fr-FR"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1DCC31D8-FB3A-4696-B055-42FC3335B21E}" type="slidenum">
              <a:rPr b="0" lang="en-US" sz="1200" spc="-1" strike="noStrike">
                <a:solidFill>
                  <a:schemeClr val="dk1">
                    <a:tint val="75000"/>
                  </a:schemeClr>
                </a:solidFill>
                <a:latin typeface="Arial"/>
              </a:rPr>
              <a:t>&lt;numéro&gt;</a:t>
            </a:fld>
            <a:endParaRPr b="0" lang="fr-FR"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Arial"/>
              </a:rPr>
              <a:t>Click to edit Master title style</a:t>
            </a:r>
            <a:endParaRPr b="0" lang="en-US" sz="2000" spc="-1" strike="noStrike">
              <a:solidFill>
                <a:schemeClr val="dk1"/>
              </a:solidFill>
              <a:latin typeface="Arial"/>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Arial"/>
              </a:rPr>
              <a:t>Cliquez pour éditer le format du plan de texte</a:t>
            </a:r>
            <a:endParaRPr b="0" lang="en-US" sz="3200" spc="-1" strike="noStrike">
              <a:solidFill>
                <a:schemeClr val="dk1"/>
              </a:solidFill>
              <a:latin typeface="Arial"/>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Arial"/>
              </a:rPr>
              <a:t>Second niveau de plan</a:t>
            </a:r>
            <a:endParaRPr b="0" lang="en-US" sz="3200" spc="-1" strike="noStrike">
              <a:solidFill>
                <a:schemeClr val="dk1"/>
              </a:solidFill>
              <a:latin typeface="Arial"/>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Arial"/>
              </a:rPr>
              <a:t>Troisième niveau de plan</a:t>
            </a:r>
            <a:endParaRPr b="0" lang="en-US" sz="3200" spc="-1" strike="noStrike">
              <a:solidFill>
                <a:schemeClr val="dk1"/>
              </a:solidFill>
              <a:latin typeface="Arial"/>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Arial"/>
              </a:rPr>
              <a:t>Quatrième niveau de plan</a:t>
            </a:r>
            <a:endParaRPr b="0" lang="en-US" sz="3200" spc="-1" strike="noStrike">
              <a:solidFill>
                <a:schemeClr val="dk1"/>
              </a:solidFill>
              <a:latin typeface="Arial"/>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Arial"/>
              </a:rPr>
              <a:t>Cinquième niveau de plan</a:t>
            </a:r>
            <a:endParaRPr b="0" lang="en-US" sz="3200" spc="-1" strike="noStrike">
              <a:solidFill>
                <a:schemeClr val="dk1"/>
              </a:solidFill>
              <a:latin typeface="Arial"/>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Arial"/>
              </a:rPr>
              <a:t>Sixième niveau de plan</a:t>
            </a:r>
            <a:endParaRPr b="0" lang="en-US" sz="3200" spc="-1" strike="noStrike">
              <a:solidFill>
                <a:schemeClr val="dk1"/>
              </a:solidFill>
              <a:latin typeface="Arial"/>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Arial"/>
              </a:rPr>
              <a:t>Septième niveau de plan</a:t>
            </a:r>
            <a:endParaRPr b="0" lang="en-US" sz="3200" spc="-1" strike="noStrike">
              <a:solidFill>
                <a:schemeClr val="dk1"/>
              </a:solidFill>
              <a:latin typeface="Arial"/>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Arial"/>
              </a:rPr>
              <a:t>Click to edit Master text styles</a:t>
            </a:r>
            <a:endParaRPr b="0" lang="en-US" sz="1400" spc="-1" strike="noStrike">
              <a:solidFill>
                <a:schemeClr val="dk1"/>
              </a:solidFill>
              <a:latin typeface="Arial"/>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Arial"/>
              </a:defRPr>
            </a:lvl1pPr>
          </a:lstStyle>
          <a:p>
            <a:pPr indent="0" defTabSz="457200">
              <a:lnSpc>
                <a:spcPct val="100000"/>
              </a:lnSpc>
              <a:buNone/>
            </a:pPr>
            <a:r>
              <a:rPr b="0" lang="en-US" sz="1200" spc="-1" strike="noStrike">
                <a:solidFill>
                  <a:schemeClr val="dk1">
                    <a:tint val="75000"/>
                  </a:schemeClr>
                </a:solidFill>
                <a:latin typeface="Arial"/>
              </a:rPr>
              <a:t>&lt;date/heure&gt;</a:t>
            </a:r>
            <a:endParaRPr b="0" lang="fr-FR"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fr-FR" sz="1400" spc="-1" strike="noStrike">
                <a:solidFill>
                  <a:srgbClr val="000000"/>
                </a:solidFill>
                <a:latin typeface="Times New Roman"/>
              </a:defRPr>
            </a:lvl1pPr>
          </a:lstStyle>
          <a:p>
            <a:pPr indent="0" algn="ctr">
              <a:buNone/>
            </a:pPr>
            <a:r>
              <a:rPr b="0" lang="fr-FR" sz="1400" spc="-1" strike="noStrike">
                <a:solidFill>
                  <a:srgbClr val="000000"/>
                </a:solidFill>
                <a:latin typeface="Times New Roman"/>
              </a:rPr>
              <a:t>&lt;pied de page&gt;</a:t>
            </a:r>
            <a:endParaRPr b="0" lang="fr-FR"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Arial"/>
              </a:defRPr>
            </a:lvl1pPr>
          </a:lstStyle>
          <a:p>
            <a:pPr indent="0" algn="r" defTabSz="457200">
              <a:lnSpc>
                <a:spcPct val="100000"/>
              </a:lnSpc>
              <a:buNone/>
            </a:pPr>
            <a:fld id="{B2DA3986-F406-4FC4-8B6E-8A21D08D3CCA}" type="slidenum">
              <a:rPr b="0" lang="en-US" sz="1200" spc="-1" strike="noStrike">
                <a:solidFill>
                  <a:schemeClr val="dk1">
                    <a:tint val="75000"/>
                  </a:schemeClr>
                </a:solidFill>
                <a:latin typeface="Arial"/>
              </a:rPr>
              <a:t>&lt;numéro&gt;</a:t>
            </a:fld>
            <a:endParaRPr b="0" lang="fr-FR"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74" name="Rectangle 2"/>
          <p:cNvSpPr/>
          <p:nvPr/>
        </p:nvSpPr>
        <p:spPr>
          <a:xfrm>
            <a:off x="0" y="0"/>
            <a:ext cx="12191400" cy="5004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400" bIns="5400" anchor="ctr">
            <a:noAutofit/>
          </a:bodyPr>
          <a:p>
            <a:pPr algn="ctr" defTabSz="457200">
              <a:lnSpc>
                <a:spcPct val="100000"/>
              </a:lnSpc>
            </a:pPr>
            <a:endParaRPr b="0" lang="en-US" sz="1800" spc="-1" strike="noStrike">
              <a:solidFill>
                <a:schemeClr val="lt1"/>
              </a:solidFill>
              <a:latin typeface="Arial"/>
            </a:endParaRPr>
          </a:p>
        </p:txBody>
      </p:sp>
      <p:sp>
        <p:nvSpPr>
          <p:cNvPr id="75" name="TextBox 3"/>
          <p:cNvSpPr/>
          <p:nvPr/>
        </p:nvSpPr>
        <p:spPr>
          <a:xfrm>
            <a:off x="713160" y="1572840"/>
            <a:ext cx="10515240" cy="9147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6000" spc="-1" strike="noStrike">
                <a:solidFill>
                  <a:srgbClr val="e9f2ed"/>
                </a:solidFill>
                <a:latin typeface="Space Grotesk"/>
              </a:rPr>
              <a:t>Terra Sentinelle</a:t>
            </a:r>
            <a:endParaRPr b="0" lang="fr-FR" sz="6000" spc="-1" strike="noStrike">
              <a:solidFill>
                <a:srgbClr val="000000"/>
              </a:solidFill>
              <a:latin typeface="Arial"/>
            </a:endParaRPr>
          </a:p>
        </p:txBody>
      </p:sp>
      <p:sp>
        <p:nvSpPr>
          <p:cNvPr id="76" name="Rectangle 4"/>
          <p:cNvSpPr/>
          <p:nvPr/>
        </p:nvSpPr>
        <p:spPr>
          <a:xfrm>
            <a:off x="713160" y="2871360"/>
            <a:ext cx="1371240" cy="4068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Arial"/>
            </a:endParaRPr>
          </a:p>
        </p:txBody>
      </p:sp>
      <p:sp>
        <p:nvSpPr>
          <p:cNvPr id="77" name="TextBox 5"/>
          <p:cNvSpPr/>
          <p:nvPr/>
        </p:nvSpPr>
        <p:spPr>
          <a:xfrm>
            <a:off x="713160" y="3163680"/>
            <a:ext cx="9692280" cy="370800"/>
          </a:xfrm>
          <a:prstGeom prst="rect">
            <a:avLst/>
          </a:prstGeom>
          <a:noFill/>
          <a:ln w="0">
            <a:noFill/>
          </a:ln>
        </p:spPr>
        <p:style>
          <a:lnRef idx="0"/>
          <a:fillRef idx="0"/>
          <a:effectRef idx="0"/>
          <a:fontRef idx="minor"/>
        </p:style>
        <p:txBody>
          <a:bodyPr lIns="0" rIns="0" tIns="0" bIns="0" anchor="t">
            <a:spAutoFit/>
          </a:bodyPr>
          <a:p>
            <a:pPr defTabSz="457200">
              <a:lnSpc>
                <a:spcPct val="128000"/>
              </a:lnSpc>
            </a:pPr>
            <a:r>
              <a:rPr b="0" lang="en-US" sz="1900" spc="-1" strike="noStrike">
                <a:solidFill>
                  <a:srgbClr val="93a79d"/>
                </a:solidFill>
                <a:latin typeface="Inter"/>
              </a:rPr>
              <a:t>Rendre aux couloirs de transhumance une carte qui a l'âge de la saison en cours.</a:t>
            </a:r>
            <a:endParaRPr b="0" lang="fr-FR" sz="1900" spc="-1" strike="noStrike">
              <a:solidFill>
                <a:srgbClr val="000000"/>
              </a:solidFill>
              <a:latin typeface="Arial"/>
            </a:endParaRPr>
          </a:p>
        </p:txBody>
      </p:sp>
      <p:sp>
        <p:nvSpPr>
          <p:cNvPr id="78" name="Rounded Rectangle 6"/>
          <p:cNvSpPr/>
          <p:nvPr/>
        </p:nvSpPr>
        <p:spPr>
          <a:xfrm>
            <a:off x="713160" y="4023360"/>
            <a:ext cx="2788560" cy="420120"/>
          </a:xfrm>
          <a:prstGeom prst="roundRect">
            <a:avLst>
              <a:gd name="adj" fmla="val 45000"/>
            </a:avLst>
          </a:prstGeom>
          <a:noFill/>
          <a:ln w="12700">
            <a:solidFill>
              <a:srgbClr val="34d39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79" name="TextBox 7"/>
          <p:cNvSpPr/>
          <p:nvPr/>
        </p:nvSpPr>
        <p:spPr>
          <a:xfrm>
            <a:off x="987480" y="4128480"/>
            <a:ext cx="2377080" cy="216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200" spc="-1" strike="noStrike">
                <a:solidFill>
                  <a:srgbClr val="34d399"/>
                </a:solidFill>
                <a:latin typeface="Inter"/>
              </a:rPr>
              <a:t>Défi : Résilience climatique</a:t>
            </a:r>
            <a:endParaRPr b="0" lang="fr-FR" sz="1200" spc="-1" strike="noStrike">
              <a:solidFill>
                <a:srgbClr val="000000"/>
              </a:solidFill>
              <a:latin typeface="Arial"/>
            </a:endParaRPr>
          </a:p>
        </p:txBody>
      </p:sp>
      <p:sp>
        <p:nvSpPr>
          <p:cNvPr id="80" name="TextBox 8"/>
          <p:cNvSpPr/>
          <p:nvPr/>
        </p:nvSpPr>
        <p:spPr>
          <a:xfrm>
            <a:off x="713160" y="4773240"/>
            <a:ext cx="7314840" cy="28764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600" spc="-1" strike="noStrike">
                <a:solidFill>
                  <a:srgbClr val="e9f2ed"/>
                </a:solidFill>
                <a:latin typeface="Space Grotesk"/>
              </a:rPr>
              <a:t>Équipe TechMakers</a:t>
            </a:r>
            <a:endParaRPr b="0" lang="fr-FR" sz="1600" spc="-1" strike="noStrike">
              <a:solidFill>
                <a:srgbClr val="000000"/>
              </a:solidFill>
              <a:latin typeface="Arial"/>
            </a:endParaRPr>
          </a:p>
        </p:txBody>
      </p:sp>
      <p:sp>
        <p:nvSpPr>
          <p:cNvPr id="81" name="TextBox 9"/>
          <p:cNvSpPr/>
          <p:nvPr/>
        </p:nvSpPr>
        <p:spPr>
          <a:xfrm>
            <a:off x="713160" y="5139000"/>
            <a:ext cx="10789560" cy="535320"/>
          </a:xfrm>
          <a:prstGeom prst="rect">
            <a:avLst/>
          </a:prstGeom>
          <a:noFill/>
          <a:ln w="0">
            <a:noFill/>
          </a:ln>
        </p:spPr>
        <p:style>
          <a:lnRef idx="0"/>
          <a:fillRef idx="0"/>
          <a:effectRef idx="0"/>
          <a:fontRef idx="minor"/>
        </p:style>
        <p:txBody>
          <a:bodyPr lIns="0" rIns="0" tIns="0" bIns="0" anchor="t">
            <a:spAutoFit/>
          </a:bodyPr>
          <a:p>
            <a:pPr defTabSz="457200">
              <a:lnSpc>
                <a:spcPct val="135000"/>
              </a:lnSpc>
            </a:pPr>
            <a:r>
              <a:rPr b="0" lang="en-US" sz="1300" spc="-1" strike="noStrike">
                <a:solidFill>
                  <a:srgbClr val="93a79d"/>
                </a:solidFill>
                <a:latin typeface="Inter"/>
              </a:rPr>
              <a:t>KOBA David · GANTIN Philippe-Cadet · ADANLAO Adéyinka Laurinda</a:t>
            </a:r>
            <a:endParaRPr b="0" lang="fr-FR" sz="1300" spc="-1" strike="noStrike">
              <a:solidFill>
                <a:srgbClr val="000000"/>
              </a:solidFill>
              <a:latin typeface="Arial"/>
            </a:endParaRPr>
          </a:p>
          <a:p>
            <a:pPr defTabSz="457200">
              <a:lnSpc>
                <a:spcPct val="135000"/>
              </a:lnSpc>
            </a:pPr>
            <a:r>
              <a:rPr b="0" lang="en-US" sz="1300" spc="-1" strike="noStrike">
                <a:solidFill>
                  <a:srgbClr val="93a79d"/>
                </a:solidFill>
                <a:latin typeface="Inter"/>
              </a:rPr>
              <a:t>DJIBO Issa · ABIALA Daniel</a:t>
            </a:r>
            <a:endParaRPr b="0" lang="fr-FR" sz="1300" spc="-1" strike="noStrike">
              <a:solidFill>
                <a:srgbClr val="000000"/>
              </a:solidFill>
              <a:latin typeface="Arial"/>
            </a:endParaRPr>
          </a:p>
        </p:txBody>
      </p:sp>
      <p:sp>
        <p:nvSpPr>
          <p:cNvPr id="82" name="TextBox 10"/>
          <p:cNvSpPr/>
          <p:nvPr/>
        </p:nvSpPr>
        <p:spPr>
          <a:xfrm>
            <a:off x="713160" y="5797440"/>
            <a:ext cx="10789560" cy="234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300" spc="-1" strike="noStrike">
                <a:solidFill>
                  <a:srgbClr val="93a79d"/>
                </a:solidFill>
                <a:latin typeface="Inter"/>
              </a:rPr>
              <a:t>Hackathon Deep Learning · IndabaX Bénin 2026 · Cotonou</a:t>
            </a:r>
            <a:endParaRPr b="0" lang="fr-FR" sz="1300" spc="-1" strike="noStrike">
              <a:solidFill>
                <a:srgbClr val="000000"/>
              </a:solidFill>
              <a:latin typeface="Arial"/>
            </a:endParaRPr>
          </a:p>
        </p:txBody>
      </p:sp>
      <p:sp>
        <p:nvSpPr>
          <p:cNvPr id="83" name="Rectangle 11"/>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84" name="TextBox 12"/>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85" name="TextBox 13"/>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01 / 15</a:t>
            </a:r>
            <a:endParaRPr b="0" lang="fr-FR"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87" name="Rectangle 2"/>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88" name="TextBox 3"/>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LE CONSTAT</a:t>
            </a:r>
            <a:endParaRPr b="0" lang="fr-FR" sz="1100" spc="-1" strike="noStrike">
              <a:solidFill>
                <a:srgbClr val="000000"/>
              </a:solidFill>
              <a:latin typeface="Arial"/>
            </a:endParaRPr>
          </a:p>
        </p:txBody>
      </p:sp>
      <p:sp>
        <p:nvSpPr>
          <p:cNvPr id="89" name="Rectangle 4"/>
          <p:cNvSpPr/>
          <p:nvPr/>
        </p:nvSpPr>
        <p:spPr>
          <a:xfrm>
            <a:off x="713160" y="1143000"/>
            <a:ext cx="54360" cy="32457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90" name="TextBox 5"/>
          <p:cNvSpPr/>
          <p:nvPr/>
        </p:nvSpPr>
        <p:spPr>
          <a:xfrm>
            <a:off x="1216080" y="1188720"/>
            <a:ext cx="10332360" cy="1004760"/>
          </a:xfrm>
          <a:prstGeom prst="rect">
            <a:avLst/>
          </a:prstGeom>
          <a:noFill/>
          <a:ln w="0">
            <a:noFill/>
          </a:ln>
        </p:spPr>
        <p:style>
          <a:lnRef idx="0"/>
          <a:fillRef idx="0"/>
          <a:effectRef idx="0"/>
          <a:fontRef idx="minor"/>
        </p:style>
        <p:txBody>
          <a:bodyPr lIns="0" rIns="0" tIns="0" bIns="0" anchor="t">
            <a:spAutoFit/>
          </a:bodyPr>
          <a:p>
            <a:pPr defTabSz="457200">
              <a:lnSpc>
                <a:spcPct val="122000"/>
              </a:lnSpc>
            </a:pPr>
            <a:r>
              <a:rPr b="1" lang="en-US" sz="2700" spc="-1" strike="noStrike">
                <a:solidFill>
                  <a:srgbClr val="e9f2ed"/>
                </a:solidFill>
                <a:latin typeface="Space Grotesk"/>
              </a:rPr>
              <a:t>« Les couloirs de transhumance ont été délimités une fois.</a:t>
            </a:r>
            <a:endParaRPr b="0" lang="fr-FR" sz="2700" spc="-1" strike="noStrike">
              <a:solidFill>
                <a:srgbClr val="000000"/>
              </a:solidFill>
              <a:latin typeface="Arial"/>
            </a:endParaRPr>
          </a:p>
          <a:p>
            <a:pPr defTabSz="457200">
              <a:lnSpc>
                <a:spcPct val="122000"/>
              </a:lnSpc>
            </a:pPr>
            <a:r>
              <a:rPr b="1" lang="en-US" sz="2700" spc="-1" strike="noStrike">
                <a:solidFill>
                  <a:srgbClr val="e9f2ed"/>
                </a:solidFill>
                <a:latin typeface="Space Grotesk"/>
              </a:rPr>
              <a:t>Les champs, eux, changent chaque saison.</a:t>
            </a:r>
            <a:endParaRPr b="0" lang="fr-FR" sz="2700" spc="-1" strike="noStrike">
              <a:solidFill>
                <a:srgbClr val="000000"/>
              </a:solidFill>
              <a:latin typeface="Arial"/>
            </a:endParaRPr>
          </a:p>
        </p:txBody>
      </p:sp>
      <p:sp>
        <p:nvSpPr>
          <p:cNvPr id="91" name="TextBox 6"/>
          <p:cNvSpPr/>
          <p:nvPr/>
        </p:nvSpPr>
        <p:spPr>
          <a:xfrm>
            <a:off x="1216080" y="3127320"/>
            <a:ext cx="10332360" cy="1004760"/>
          </a:xfrm>
          <a:prstGeom prst="rect">
            <a:avLst/>
          </a:prstGeom>
          <a:noFill/>
          <a:ln w="0">
            <a:noFill/>
          </a:ln>
        </p:spPr>
        <p:style>
          <a:lnRef idx="0"/>
          <a:fillRef idx="0"/>
          <a:effectRef idx="0"/>
          <a:fontRef idx="minor"/>
        </p:style>
        <p:txBody>
          <a:bodyPr lIns="0" rIns="0" tIns="0" bIns="0" anchor="t">
            <a:spAutoFit/>
          </a:bodyPr>
          <a:p>
            <a:pPr defTabSz="457200">
              <a:lnSpc>
                <a:spcPct val="122000"/>
              </a:lnSpc>
            </a:pPr>
            <a:r>
              <a:rPr b="1" lang="en-US" sz="2700" spc="-1" strike="noStrike">
                <a:solidFill>
                  <a:srgbClr val="34d399"/>
                </a:solidFill>
                <a:latin typeface="Space Grotesk"/>
              </a:rPr>
              <a:t>Le conflit ne naît pas d'une carte absente,</a:t>
            </a:r>
            <a:endParaRPr b="0" lang="fr-FR" sz="2700" spc="-1" strike="noStrike">
              <a:solidFill>
                <a:srgbClr val="000000"/>
              </a:solidFill>
              <a:latin typeface="Arial"/>
            </a:endParaRPr>
          </a:p>
          <a:p>
            <a:pPr defTabSz="457200">
              <a:lnSpc>
                <a:spcPct val="122000"/>
              </a:lnSpc>
            </a:pPr>
            <a:r>
              <a:rPr b="1" lang="en-US" sz="2700" spc="-1" strike="noStrike">
                <a:solidFill>
                  <a:srgbClr val="34d399"/>
                </a:solidFill>
                <a:latin typeface="Space Grotesk"/>
              </a:rPr>
              <a:t>il naît d'une carte périmée. »</a:t>
            </a:r>
            <a:endParaRPr b="0" lang="fr-FR" sz="2700" spc="-1" strike="noStrike">
              <a:solidFill>
                <a:srgbClr val="000000"/>
              </a:solidFill>
              <a:latin typeface="Arial"/>
            </a:endParaRPr>
          </a:p>
        </p:txBody>
      </p:sp>
      <p:sp>
        <p:nvSpPr>
          <p:cNvPr id="92" name="Rectangle 7"/>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93" name="TextBox 8"/>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94" name="TextBox 9"/>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02 / 15</a:t>
            </a:r>
            <a:endParaRPr b="0" lang="fr-FR"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96"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97"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98"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03 / 15</a:t>
            </a:r>
            <a:endParaRPr b="0" lang="fr-FR" sz="900" spc="-1" strike="noStrike">
              <a:solidFill>
                <a:srgbClr val="000000"/>
              </a:solidFill>
              <a:latin typeface="Arial"/>
            </a:endParaRPr>
          </a:p>
        </p:txBody>
      </p:sp>
      <p:sp>
        <p:nvSpPr>
          <p:cNvPr id="99"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00"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LE PROBLÈME</a:t>
            </a:r>
            <a:endParaRPr b="0" lang="fr-FR" sz="1100" spc="-1" strike="noStrike">
              <a:solidFill>
                <a:srgbClr val="000000"/>
              </a:solidFill>
              <a:latin typeface="Arial"/>
            </a:endParaRPr>
          </a:p>
        </p:txBody>
      </p:sp>
      <p:sp>
        <p:nvSpPr>
          <p:cNvPr id="101" name="TextBox 7"/>
          <p:cNvSpPr/>
          <p:nvPr/>
        </p:nvSpPr>
        <p:spPr>
          <a:xfrm>
            <a:off x="713160" y="932760"/>
            <a:ext cx="10764720" cy="96948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3000" spc="-1" strike="noStrike">
                <a:solidFill>
                  <a:srgbClr val="e9f2ed"/>
                </a:solidFill>
                <a:latin typeface="Space Grotesk"/>
              </a:rPr>
              <a:t>Ce n'est pas un problème spatial.</a:t>
            </a:r>
            <a:endParaRPr b="0" lang="fr-FR" sz="3000" spc="-1" strike="noStrike">
              <a:solidFill>
                <a:srgbClr val="000000"/>
              </a:solidFill>
              <a:latin typeface="Arial"/>
            </a:endParaRPr>
          </a:p>
          <a:p>
            <a:pPr defTabSz="457200">
              <a:lnSpc>
                <a:spcPct val="106000"/>
              </a:lnSpc>
            </a:pPr>
            <a:r>
              <a:rPr b="1" lang="en-US" sz="3000" spc="-1" strike="noStrike">
                <a:solidFill>
                  <a:srgbClr val="e9f2ed"/>
                </a:solidFill>
                <a:latin typeface="Space Grotesk"/>
              </a:rPr>
              <a:t>C'est un problème temporel.</a:t>
            </a:r>
            <a:endParaRPr b="0" lang="fr-FR" sz="3000" spc="-1" strike="noStrike">
              <a:solidFill>
                <a:srgbClr val="000000"/>
              </a:solidFill>
              <a:latin typeface="Arial"/>
            </a:endParaRPr>
          </a:p>
        </p:txBody>
      </p:sp>
      <p:sp>
        <p:nvSpPr>
          <p:cNvPr id="102" name="TextBox 8"/>
          <p:cNvSpPr/>
          <p:nvPr/>
        </p:nvSpPr>
        <p:spPr>
          <a:xfrm>
            <a:off x="713160" y="2304360"/>
            <a:ext cx="10789560" cy="234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300" spc="-1" strike="noStrike">
                <a:solidFill>
                  <a:srgbClr val="d9b48f"/>
                </a:solidFill>
                <a:latin typeface="Inter"/>
              </a:rPr>
              <a:t>Nord et centre du Bénin · 5 départements · 33 communes · conflits agriculteurs et éleveurs</a:t>
            </a:r>
            <a:endParaRPr b="0" lang="fr-FR" sz="1300" spc="-1" strike="noStrike">
              <a:solidFill>
                <a:srgbClr val="000000"/>
              </a:solidFill>
              <a:latin typeface="Arial"/>
            </a:endParaRPr>
          </a:p>
        </p:txBody>
      </p:sp>
      <p:sp>
        <p:nvSpPr>
          <p:cNvPr id="103" name="Rounded Rectangle 9"/>
          <p:cNvSpPr/>
          <p:nvPr/>
        </p:nvSpPr>
        <p:spPr>
          <a:xfrm>
            <a:off x="713160" y="2880360"/>
            <a:ext cx="3405240" cy="205704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04" name="Rectangle 10"/>
          <p:cNvSpPr/>
          <p:nvPr/>
        </p:nvSpPr>
        <p:spPr>
          <a:xfrm>
            <a:off x="713160" y="2869560"/>
            <a:ext cx="340524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105" name="TextBox 11"/>
          <p:cNvSpPr/>
          <p:nvPr/>
        </p:nvSpPr>
        <p:spPr>
          <a:xfrm>
            <a:off x="951120" y="3173040"/>
            <a:ext cx="2929680" cy="27324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600" spc="-1" strike="noStrike">
                <a:solidFill>
                  <a:srgbClr val="e9f2ed"/>
                </a:solidFill>
                <a:latin typeface="Space Grotesk"/>
              </a:rPr>
              <a:t>La carte existe</a:t>
            </a:r>
            <a:endParaRPr b="0" lang="fr-FR" sz="1600" spc="-1" strike="noStrike">
              <a:solidFill>
                <a:srgbClr val="000000"/>
              </a:solidFill>
              <a:latin typeface="Arial"/>
            </a:endParaRPr>
          </a:p>
        </p:txBody>
      </p:sp>
      <p:sp>
        <p:nvSpPr>
          <p:cNvPr id="106" name="TextBox 12"/>
          <p:cNvSpPr/>
          <p:nvPr/>
        </p:nvSpPr>
        <p:spPr>
          <a:xfrm>
            <a:off x="951120" y="3624480"/>
            <a:ext cx="2929680" cy="77364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300" spc="-1" strike="noStrike">
                <a:solidFill>
                  <a:srgbClr val="93a79d"/>
                </a:solidFill>
                <a:latin typeface="Inter"/>
              </a:rPr>
              <a:t>Couloirs délimités,</a:t>
            </a:r>
            <a:endParaRPr b="0" lang="fr-FR" sz="1300" spc="-1" strike="noStrike">
              <a:solidFill>
                <a:srgbClr val="000000"/>
              </a:solidFill>
              <a:latin typeface="Arial"/>
            </a:endParaRPr>
          </a:p>
          <a:p>
            <a:pPr defTabSz="457200">
              <a:lnSpc>
                <a:spcPct val="130000"/>
              </a:lnSpc>
            </a:pPr>
            <a:r>
              <a:rPr b="0" lang="en-US" sz="1300" spc="-1" strike="noStrike">
                <a:solidFill>
                  <a:srgbClr val="93a79d"/>
                </a:solidFill>
                <a:latin typeface="Inter"/>
              </a:rPr>
              <a:t>balisés, actés.</a:t>
            </a:r>
            <a:endParaRPr b="0" lang="fr-FR" sz="1300" spc="-1" strike="noStrike">
              <a:solidFill>
                <a:srgbClr val="000000"/>
              </a:solidFill>
              <a:latin typeface="Arial"/>
            </a:endParaRPr>
          </a:p>
          <a:p>
            <a:pPr defTabSz="457200">
              <a:lnSpc>
                <a:spcPct val="130000"/>
              </a:lnSpc>
            </a:pPr>
            <a:r>
              <a:rPr b="0" lang="en-US" sz="1300" spc="-1" strike="noStrike">
                <a:solidFill>
                  <a:srgbClr val="93a79d"/>
                </a:solidFill>
                <a:latin typeface="Inter"/>
              </a:rPr>
              <a:t>Une fois.</a:t>
            </a:r>
            <a:endParaRPr b="0" lang="fr-FR" sz="1300" spc="-1" strike="noStrike">
              <a:solidFill>
                <a:srgbClr val="000000"/>
              </a:solidFill>
              <a:latin typeface="Arial"/>
            </a:endParaRPr>
          </a:p>
        </p:txBody>
      </p:sp>
      <p:sp>
        <p:nvSpPr>
          <p:cNvPr id="107" name="Rounded Rectangle 13"/>
          <p:cNvSpPr/>
          <p:nvPr/>
        </p:nvSpPr>
        <p:spPr>
          <a:xfrm>
            <a:off x="4393080" y="2880360"/>
            <a:ext cx="3405240" cy="205704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08" name="Rectangle 14"/>
          <p:cNvSpPr/>
          <p:nvPr/>
        </p:nvSpPr>
        <p:spPr>
          <a:xfrm>
            <a:off x="4393080" y="2869560"/>
            <a:ext cx="3405240" cy="4536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109" name="TextBox 15"/>
          <p:cNvSpPr/>
          <p:nvPr/>
        </p:nvSpPr>
        <p:spPr>
          <a:xfrm>
            <a:off x="4630680" y="3173040"/>
            <a:ext cx="2929680" cy="27324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600" spc="-1" strike="noStrike">
                <a:solidFill>
                  <a:srgbClr val="e9f2ed"/>
                </a:solidFill>
                <a:latin typeface="Space Grotesk"/>
              </a:rPr>
              <a:t>Le sol a bougé</a:t>
            </a:r>
            <a:endParaRPr b="0" lang="fr-FR" sz="1600" spc="-1" strike="noStrike">
              <a:solidFill>
                <a:srgbClr val="000000"/>
              </a:solidFill>
              <a:latin typeface="Arial"/>
            </a:endParaRPr>
          </a:p>
        </p:txBody>
      </p:sp>
      <p:sp>
        <p:nvSpPr>
          <p:cNvPr id="110" name="TextBox 16"/>
          <p:cNvSpPr/>
          <p:nvPr/>
        </p:nvSpPr>
        <p:spPr>
          <a:xfrm>
            <a:off x="4630680" y="3624480"/>
            <a:ext cx="2929680" cy="77364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300" spc="-1" strike="noStrike">
                <a:solidFill>
                  <a:srgbClr val="93a79d"/>
                </a:solidFill>
                <a:latin typeface="Inter"/>
              </a:rPr>
              <a:t>Mise en culture,</a:t>
            </a:r>
            <a:endParaRPr b="0" lang="fr-FR" sz="1300" spc="-1" strike="noStrike">
              <a:solidFill>
                <a:srgbClr val="000000"/>
              </a:solidFill>
              <a:latin typeface="Arial"/>
            </a:endParaRPr>
          </a:p>
          <a:p>
            <a:pPr defTabSz="457200">
              <a:lnSpc>
                <a:spcPct val="130000"/>
              </a:lnSpc>
            </a:pPr>
            <a:r>
              <a:rPr b="0" lang="en-US" sz="1300" spc="-1" strike="noStrike">
                <a:solidFill>
                  <a:srgbClr val="93a79d"/>
                </a:solidFill>
                <a:latin typeface="Inter"/>
              </a:rPr>
              <a:t>extension cotonnière,</a:t>
            </a:r>
            <a:endParaRPr b="0" lang="fr-FR" sz="1300" spc="-1" strike="noStrike">
              <a:solidFill>
                <a:srgbClr val="000000"/>
              </a:solidFill>
              <a:latin typeface="Arial"/>
            </a:endParaRPr>
          </a:p>
          <a:p>
            <a:pPr defTabSz="457200">
              <a:lnSpc>
                <a:spcPct val="130000"/>
              </a:lnSpc>
            </a:pPr>
            <a:r>
              <a:rPr b="0" lang="en-US" sz="1300" spc="-1" strike="noStrike">
                <a:solidFill>
                  <a:srgbClr val="93a79d"/>
                </a:solidFill>
                <a:latin typeface="Inter"/>
              </a:rPr>
              <a:t>chaque saison.</a:t>
            </a:r>
            <a:endParaRPr b="0" lang="fr-FR" sz="1300" spc="-1" strike="noStrike">
              <a:solidFill>
                <a:srgbClr val="000000"/>
              </a:solidFill>
              <a:latin typeface="Arial"/>
            </a:endParaRPr>
          </a:p>
        </p:txBody>
      </p:sp>
      <p:sp>
        <p:nvSpPr>
          <p:cNvPr id="111" name="Rounded Rectangle 17"/>
          <p:cNvSpPr/>
          <p:nvPr/>
        </p:nvSpPr>
        <p:spPr>
          <a:xfrm>
            <a:off x="8073000" y="2880360"/>
            <a:ext cx="3405240" cy="205704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12" name="Rectangle 18"/>
          <p:cNvSpPr/>
          <p:nvPr/>
        </p:nvSpPr>
        <p:spPr>
          <a:xfrm>
            <a:off x="8073000" y="2869560"/>
            <a:ext cx="3405240" cy="45360"/>
          </a:xfrm>
          <a:prstGeom prst="rect">
            <a:avLst/>
          </a:prstGeom>
          <a:solidFill>
            <a:srgbClr val="f06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113" name="TextBox 19"/>
          <p:cNvSpPr/>
          <p:nvPr/>
        </p:nvSpPr>
        <p:spPr>
          <a:xfrm>
            <a:off x="8310600" y="3173040"/>
            <a:ext cx="2929680" cy="54612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600" spc="-1" strike="noStrike">
                <a:solidFill>
                  <a:srgbClr val="e9f2ed"/>
                </a:solidFill>
                <a:latin typeface="Space Grotesk"/>
              </a:rPr>
              <a:t>Le comité décide</a:t>
            </a:r>
            <a:endParaRPr b="0" lang="fr-FR" sz="1600" spc="-1" strike="noStrike">
              <a:solidFill>
                <a:srgbClr val="000000"/>
              </a:solidFill>
              <a:latin typeface="Arial"/>
            </a:endParaRPr>
          </a:p>
          <a:p>
            <a:pPr defTabSz="457200">
              <a:lnSpc>
                <a:spcPct val="112000"/>
              </a:lnSpc>
            </a:pPr>
            <a:r>
              <a:rPr b="1" lang="en-US" sz="1600" spc="-1" strike="noStrike">
                <a:solidFill>
                  <a:srgbClr val="e9f2ed"/>
                </a:solidFill>
                <a:latin typeface="Space Grotesk"/>
              </a:rPr>
              <a:t>à l'aveugle</a:t>
            </a:r>
            <a:endParaRPr b="0" lang="fr-FR" sz="1600" spc="-1" strike="noStrike">
              <a:solidFill>
                <a:srgbClr val="000000"/>
              </a:solidFill>
              <a:latin typeface="Arial"/>
            </a:endParaRPr>
          </a:p>
        </p:txBody>
      </p:sp>
      <p:sp>
        <p:nvSpPr>
          <p:cNvPr id="114" name="TextBox 20"/>
          <p:cNvSpPr/>
          <p:nvPr/>
        </p:nvSpPr>
        <p:spPr>
          <a:xfrm>
            <a:off x="8310600" y="3897360"/>
            <a:ext cx="2929680" cy="51588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300" spc="-1" strike="noStrike">
                <a:solidFill>
                  <a:srgbClr val="93a79d"/>
                </a:solidFill>
                <a:latin typeface="Inter"/>
              </a:rPr>
              <a:t>Il arbitre sans image</a:t>
            </a:r>
            <a:endParaRPr b="0" lang="fr-FR" sz="1300" spc="-1" strike="noStrike">
              <a:solidFill>
                <a:srgbClr val="000000"/>
              </a:solidFill>
              <a:latin typeface="Arial"/>
            </a:endParaRPr>
          </a:p>
          <a:p>
            <a:pPr defTabSz="457200">
              <a:lnSpc>
                <a:spcPct val="130000"/>
              </a:lnSpc>
            </a:pPr>
            <a:r>
              <a:rPr b="0" lang="en-US" sz="1300" spc="-1" strike="noStrike">
                <a:solidFill>
                  <a:srgbClr val="93a79d"/>
                </a:solidFill>
                <a:latin typeface="Inter"/>
              </a:rPr>
              <a:t>récente du terrain.</a:t>
            </a:r>
            <a:endParaRPr b="0" lang="fr-FR" sz="1300" spc="-1" strike="noStrike">
              <a:solidFill>
                <a:srgbClr val="000000"/>
              </a:solidFill>
              <a:latin typeface="Arial"/>
            </a:endParaRPr>
          </a:p>
        </p:txBody>
      </p:sp>
      <p:sp>
        <p:nvSpPr>
          <p:cNvPr id="115" name="TextBox 21"/>
          <p:cNvSpPr/>
          <p:nvPr/>
        </p:nvSpPr>
        <p:spPr>
          <a:xfrm>
            <a:off x="713160" y="5285160"/>
            <a:ext cx="10789560" cy="306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700" spc="-1" strike="noStrike">
                <a:solidFill>
                  <a:srgbClr val="e9f2ed"/>
                </a:solidFill>
                <a:latin typeface="Space Grotesk"/>
              </a:rPr>
              <a:t>La carte est périmée avant d'être utilisée.</a:t>
            </a:r>
            <a:endParaRPr b="0" lang="fr-FR"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17"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118"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119"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04 / 15</a:t>
            </a:r>
            <a:endParaRPr b="0" lang="fr-FR" sz="900" spc="-1" strike="noStrike">
              <a:solidFill>
                <a:srgbClr val="000000"/>
              </a:solidFill>
              <a:latin typeface="Arial"/>
            </a:endParaRPr>
          </a:p>
        </p:txBody>
      </p:sp>
      <p:sp>
        <p:nvSpPr>
          <p:cNvPr id="120"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21"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NOTRE UTILISATEUR</a:t>
            </a:r>
            <a:endParaRPr b="0" lang="fr-FR" sz="1100" spc="-1" strike="noStrike">
              <a:solidFill>
                <a:srgbClr val="000000"/>
              </a:solidFill>
              <a:latin typeface="Arial"/>
            </a:endParaRPr>
          </a:p>
        </p:txBody>
      </p:sp>
      <p:sp>
        <p:nvSpPr>
          <p:cNvPr id="122" name="TextBox 7"/>
          <p:cNvSpPr/>
          <p:nvPr/>
        </p:nvSpPr>
        <p:spPr>
          <a:xfrm>
            <a:off x="713160" y="932760"/>
            <a:ext cx="10764720" cy="5493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3400" spc="-1" strike="noStrike">
                <a:solidFill>
                  <a:srgbClr val="e9f2ed"/>
                </a:solidFill>
                <a:latin typeface="Space Grotesk"/>
              </a:rPr>
              <a:t>Moussa Gounou</a:t>
            </a:r>
            <a:endParaRPr b="0" lang="fr-FR" sz="3400" spc="-1" strike="noStrike">
              <a:solidFill>
                <a:srgbClr val="000000"/>
              </a:solidFill>
              <a:latin typeface="Arial"/>
            </a:endParaRPr>
          </a:p>
        </p:txBody>
      </p:sp>
      <p:sp>
        <p:nvSpPr>
          <p:cNvPr id="123" name="TextBox 8"/>
          <p:cNvSpPr/>
          <p:nvPr/>
        </p:nvSpPr>
        <p:spPr>
          <a:xfrm>
            <a:off x="713160" y="1810440"/>
            <a:ext cx="7314840" cy="270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500" spc="-1" strike="noStrike">
                <a:solidFill>
                  <a:srgbClr val="d9b48f"/>
                </a:solidFill>
                <a:latin typeface="Inter"/>
              </a:rPr>
              <a:t>Agent d'élevage · mairie de Banikoara (Alibori)</a:t>
            </a:r>
            <a:endParaRPr b="0" lang="fr-FR" sz="1500" spc="-1" strike="noStrike">
              <a:solidFill>
                <a:srgbClr val="000000"/>
              </a:solidFill>
              <a:latin typeface="Arial"/>
            </a:endParaRPr>
          </a:p>
        </p:txBody>
      </p:sp>
      <p:sp>
        <p:nvSpPr>
          <p:cNvPr id="124" name="Rounded Rectangle 9"/>
          <p:cNvSpPr/>
          <p:nvPr/>
        </p:nvSpPr>
        <p:spPr>
          <a:xfrm>
            <a:off x="713160" y="2395800"/>
            <a:ext cx="5074560" cy="34012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25" name="Rectangle 10"/>
          <p:cNvSpPr/>
          <p:nvPr/>
        </p:nvSpPr>
        <p:spPr>
          <a:xfrm>
            <a:off x="713160" y="2384640"/>
            <a:ext cx="507456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126" name="TextBox 11"/>
          <p:cNvSpPr/>
          <p:nvPr/>
        </p:nvSpPr>
        <p:spPr>
          <a:xfrm>
            <a:off x="1005840" y="2724840"/>
            <a:ext cx="4480200" cy="198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100" spc="-1" strike="noStrike">
                <a:solidFill>
                  <a:srgbClr val="34d399"/>
                </a:solidFill>
                <a:latin typeface="Inter"/>
              </a:rPr>
              <a:t>SON SCÉNARIO, AVANT LA SAISON</a:t>
            </a:r>
            <a:endParaRPr b="0" lang="fr-FR" sz="1100" spc="-1" strike="noStrike">
              <a:solidFill>
                <a:srgbClr val="000000"/>
              </a:solidFill>
              <a:latin typeface="Arial"/>
            </a:endParaRPr>
          </a:p>
        </p:txBody>
      </p:sp>
      <p:sp>
        <p:nvSpPr>
          <p:cNvPr id="127" name="TextBox 12"/>
          <p:cNvSpPr/>
          <p:nvPr/>
        </p:nvSpPr>
        <p:spPr>
          <a:xfrm>
            <a:off x="1005840" y="3200400"/>
            <a:ext cx="365400" cy="216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200" spc="-1" strike="noStrike">
                <a:solidFill>
                  <a:srgbClr val="34d399"/>
                </a:solidFill>
                <a:latin typeface="JetBrains Mono"/>
              </a:rPr>
              <a:t>1</a:t>
            </a:r>
            <a:endParaRPr b="0" lang="fr-FR" sz="1200" spc="-1" strike="noStrike">
              <a:solidFill>
                <a:srgbClr val="000000"/>
              </a:solidFill>
              <a:latin typeface="Arial"/>
            </a:endParaRPr>
          </a:p>
        </p:txBody>
      </p:sp>
      <p:sp>
        <p:nvSpPr>
          <p:cNvPr id="128" name="TextBox 13"/>
          <p:cNvSpPr/>
          <p:nvPr/>
        </p:nvSpPr>
        <p:spPr>
          <a:xfrm>
            <a:off x="1426320" y="3182040"/>
            <a:ext cx="4114440" cy="246960"/>
          </a:xfrm>
          <a:prstGeom prst="rect">
            <a:avLst/>
          </a:prstGeom>
          <a:noFill/>
          <a:ln w="0">
            <a:noFill/>
          </a:ln>
        </p:spPr>
        <p:style>
          <a:lnRef idx="0"/>
          <a:fillRef idx="0"/>
          <a:effectRef idx="0"/>
          <a:fontRef idx="minor"/>
        </p:style>
        <p:txBody>
          <a:bodyPr lIns="0" rIns="0" tIns="0" bIns="0" anchor="t">
            <a:spAutoFit/>
          </a:bodyPr>
          <a:p>
            <a:pPr defTabSz="457200">
              <a:lnSpc>
                <a:spcPct val="120000"/>
              </a:lnSpc>
            </a:pPr>
            <a:r>
              <a:rPr b="0" lang="en-US" sz="1350" spc="-1" strike="noStrike">
                <a:solidFill>
                  <a:srgbClr val="e9f2ed"/>
                </a:solidFill>
                <a:latin typeface="Inter"/>
              </a:rPr>
              <a:t>Il reçoit la carte de friction du couloir</a:t>
            </a:r>
            <a:endParaRPr b="0" lang="fr-FR" sz="1350" spc="-1" strike="noStrike">
              <a:solidFill>
                <a:srgbClr val="000000"/>
              </a:solidFill>
              <a:latin typeface="Arial"/>
            </a:endParaRPr>
          </a:p>
        </p:txBody>
      </p:sp>
      <p:sp>
        <p:nvSpPr>
          <p:cNvPr id="129" name="TextBox 14"/>
          <p:cNvSpPr/>
          <p:nvPr/>
        </p:nvSpPr>
        <p:spPr>
          <a:xfrm>
            <a:off x="1005840" y="3749040"/>
            <a:ext cx="365400" cy="216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200" spc="-1" strike="noStrike">
                <a:solidFill>
                  <a:srgbClr val="34d399"/>
                </a:solidFill>
                <a:latin typeface="JetBrains Mono"/>
              </a:rPr>
              <a:t>2</a:t>
            </a:r>
            <a:endParaRPr b="0" lang="fr-FR" sz="1200" spc="-1" strike="noStrike">
              <a:solidFill>
                <a:srgbClr val="000000"/>
              </a:solidFill>
              <a:latin typeface="Arial"/>
            </a:endParaRPr>
          </a:p>
        </p:txBody>
      </p:sp>
      <p:sp>
        <p:nvSpPr>
          <p:cNvPr id="130" name="TextBox 15"/>
          <p:cNvSpPr/>
          <p:nvPr/>
        </p:nvSpPr>
        <p:spPr>
          <a:xfrm>
            <a:off x="1426320" y="3730680"/>
            <a:ext cx="4114440" cy="246960"/>
          </a:xfrm>
          <a:prstGeom prst="rect">
            <a:avLst/>
          </a:prstGeom>
          <a:noFill/>
          <a:ln w="0">
            <a:noFill/>
          </a:ln>
        </p:spPr>
        <p:style>
          <a:lnRef idx="0"/>
          <a:fillRef idx="0"/>
          <a:effectRef idx="0"/>
          <a:fontRef idx="minor"/>
        </p:style>
        <p:txBody>
          <a:bodyPr lIns="0" rIns="0" tIns="0" bIns="0" anchor="t">
            <a:spAutoFit/>
          </a:bodyPr>
          <a:p>
            <a:pPr defTabSz="457200">
              <a:lnSpc>
                <a:spcPct val="120000"/>
              </a:lnSpc>
            </a:pPr>
            <a:r>
              <a:rPr b="0" lang="en-US" sz="1350" spc="-1" strike="noStrike">
                <a:solidFill>
                  <a:srgbClr val="e9f2ed"/>
                </a:solidFill>
                <a:latin typeface="Inter"/>
              </a:rPr>
              <a:t>Il va vérifier sur le terrain, hors réseau</a:t>
            </a:r>
            <a:endParaRPr b="0" lang="fr-FR" sz="1350" spc="-1" strike="noStrike">
              <a:solidFill>
                <a:srgbClr val="000000"/>
              </a:solidFill>
              <a:latin typeface="Arial"/>
            </a:endParaRPr>
          </a:p>
        </p:txBody>
      </p:sp>
      <p:sp>
        <p:nvSpPr>
          <p:cNvPr id="131" name="TextBox 16"/>
          <p:cNvSpPr/>
          <p:nvPr/>
        </p:nvSpPr>
        <p:spPr>
          <a:xfrm>
            <a:off x="1005840" y="4297680"/>
            <a:ext cx="365400" cy="216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200" spc="-1" strike="noStrike">
                <a:solidFill>
                  <a:srgbClr val="34d399"/>
                </a:solidFill>
                <a:latin typeface="JetBrains Mono"/>
              </a:rPr>
              <a:t>3</a:t>
            </a:r>
            <a:endParaRPr b="0" lang="fr-FR" sz="1200" spc="-1" strike="noStrike">
              <a:solidFill>
                <a:srgbClr val="000000"/>
              </a:solidFill>
              <a:latin typeface="Arial"/>
            </a:endParaRPr>
          </a:p>
        </p:txBody>
      </p:sp>
      <p:sp>
        <p:nvSpPr>
          <p:cNvPr id="132" name="TextBox 17"/>
          <p:cNvSpPr/>
          <p:nvPr/>
        </p:nvSpPr>
        <p:spPr>
          <a:xfrm>
            <a:off x="1426320" y="4279320"/>
            <a:ext cx="4114440" cy="246960"/>
          </a:xfrm>
          <a:prstGeom prst="rect">
            <a:avLst/>
          </a:prstGeom>
          <a:noFill/>
          <a:ln w="0">
            <a:noFill/>
          </a:ln>
        </p:spPr>
        <p:style>
          <a:lnRef idx="0"/>
          <a:fillRef idx="0"/>
          <a:effectRef idx="0"/>
          <a:fontRef idx="minor"/>
        </p:style>
        <p:txBody>
          <a:bodyPr lIns="0" rIns="0" tIns="0" bIns="0" anchor="t">
            <a:spAutoFit/>
          </a:bodyPr>
          <a:p>
            <a:pPr defTabSz="457200">
              <a:lnSpc>
                <a:spcPct val="120000"/>
              </a:lnSpc>
            </a:pPr>
            <a:r>
              <a:rPr b="0" lang="en-US" sz="1350" spc="-1" strike="noStrike">
                <a:solidFill>
                  <a:srgbClr val="e9f2ed"/>
                </a:solidFill>
                <a:latin typeface="Inter"/>
              </a:rPr>
              <a:t>Il confirme ou invalide depuis son téléphone</a:t>
            </a:r>
            <a:endParaRPr b="0" lang="fr-FR" sz="1350" spc="-1" strike="noStrike">
              <a:solidFill>
                <a:srgbClr val="000000"/>
              </a:solidFill>
              <a:latin typeface="Arial"/>
            </a:endParaRPr>
          </a:p>
        </p:txBody>
      </p:sp>
      <p:sp>
        <p:nvSpPr>
          <p:cNvPr id="133" name="TextBox 18"/>
          <p:cNvSpPr/>
          <p:nvPr/>
        </p:nvSpPr>
        <p:spPr>
          <a:xfrm>
            <a:off x="1005840" y="4846320"/>
            <a:ext cx="365400" cy="216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200" spc="-1" strike="noStrike">
                <a:solidFill>
                  <a:srgbClr val="34d399"/>
                </a:solidFill>
                <a:latin typeface="JetBrains Mono"/>
              </a:rPr>
              <a:t>4</a:t>
            </a:r>
            <a:endParaRPr b="0" lang="fr-FR" sz="1200" spc="-1" strike="noStrike">
              <a:solidFill>
                <a:srgbClr val="000000"/>
              </a:solidFill>
              <a:latin typeface="Arial"/>
            </a:endParaRPr>
          </a:p>
        </p:txBody>
      </p:sp>
      <p:sp>
        <p:nvSpPr>
          <p:cNvPr id="134" name="TextBox 19"/>
          <p:cNvSpPr/>
          <p:nvPr/>
        </p:nvSpPr>
        <p:spPr>
          <a:xfrm>
            <a:off x="1426320" y="4827960"/>
            <a:ext cx="4114440" cy="246960"/>
          </a:xfrm>
          <a:prstGeom prst="rect">
            <a:avLst/>
          </a:prstGeom>
          <a:noFill/>
          <a:ln w="0">
            <a:noFill/>
          </a:ln>
        </p:spPr>
        <p:style>
          <a:lnRef idx="0"/>
          <a:fillRef idx="0"/>
          <a:effectRef idx="0"/>
          <a:fontRef idx="minor"/>
        </p:style>
        <p:txBody>
          <a:bodyPr lIns="0" rIns="0" tIns="0" bIns="0" anchor="t">
            <a:spAutoFit/>
          </a:bodyPr>
          <a:p>
            <a:pPr defTabSz="457200">
              <a:lnSpc>
                <a:spcPct val="120000"/>
              </a:lnSpc>
            </a:pPr>
            <a:r>
              <a:rPr b="0" lang="en-US" sz="1350" spc="-1" strike="noStrike">
                <a:solidFill>
                  <a:srgbClr val="e9f2ed"/>
                </a:solidFill>
                <a:latin typeface="Inter"/>
              </a:rPr>
              <a:t>Au retour du réseau, tout se synchronise</a:t>
            </a:r>
            <a:endParaRPr b="0" lang="fr-FR" sz="1350" spc="-1" strike="noStrike">
              <a:solidFill>
                <a:srgbClr val="000000"/>
              </a:solidFill>
              <a:latin typeface="Arial"/>
            </a:endParaRPr>
          </a:p>
        </p:txBody>
      </p:sp>
      <p:sp>
        <p:nvSpPr>
          <p:cNvPr id="135" name="TextBox 20"/>
          <p:cNvSpPr/>
          <p:nvPr/>
        </p:nvSpPr>
        <p:spPr>
          <a:xfrm>
            <a:off x="1005840" y="5394960"/>
            <a:ext cx="365400" cy="216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200" spc="-1" strike="noStrike">
                <a:solidFill>
                  <a:srgbClr val="34d399"/>
                </a:solidFill>
                <a:latin typeface="JetBrains Mono"/>
              </a:rPr>
              <a:t>5</a:t>
            </a:r>
            <a:endParaRPr b="0" lang="fr-FR" sz="1200" spc="-1" strike="noStrike">
              <a:solidFill>
                <a:srgbClr val="000000"/>
              </a:solidFill>
              <a:latin typeface="Arial"/>
            </a:endParaRPr>
          </a:p>
        </p:txBody>
      </p:sp>
      <p:sp>
        <p:nvSpPr>
          <p:cNvPr id="136" name="TextBox 21"/>
          <p:cNvSpPr/>
          <p:nvPr/>
        </p:nvSpPr>
        <p:spPr>
          <a:xfrm>
            <a:off x="1426320" y="5376600"/>
            <a:ext cx="4114440" cy="246960"/>
          </a:xfrm>
          <a:prstGeom prst="rect">
            <a:avLst/>
          </a:prstGeom>
          <a:noFill/>
          <a:ln w="0">
            <a:noFill/>
          </a:ln>
        </p:spPr>
        <p:style>
          <a:lnRef idx="0"/>
          <a:fillRef idx="0"/>
          <a:effectRef idx="0"/>
          <a:fontRef idx="minor"/>
        </p:style>
        <p:txBody>
          <a:bodyPr lIns="0" rIns="0" tIns="0" bIns="0" anchor="t">
            <a:spAutoFit/>
          </a:bodyPr>
          <a:p>
            <a:pPr defTabSz="457200">
              <a:lnSpc>
                <a:spcPct val="120000"/>
              </a:lnSpc>
            </a:pPr>
            <a:r>
              <a:rPr b="0" lang="en-US" sz="1350" spc="-1" strike="noStrike">
                <a:solidFill>
                  <a:srgbClr val="e9f2ed"/>
                </a:solidFill>
                <a:latin typeface="Inter"/>
              </a:rPr>
              <a:t>Le comité communal arbitre le lendemain</a:t>
            </a:r>
            <a:endParaRPr b="0" lang="fr-FR" sz="1350" spc="-1" strike="noStrike">
              <a:solidFill>
                <a:srgbClr val="000000"/>
              </a:solidFill>
              <a:latin typeface="Arial"/>
            </a:endParaRPr>
          </a:p>
        </p:txBody>
      </p:sp>
      <p:sp>
        <p:nvSpPr>
          <p:cNvPr id="137" name="Rounded Rectangle 22"/>
          <p:cNvSpPr/>
          <p:nvPr/>
        </p:nvSpPr>
        <p:spPr>
          <a:xfrm>
            <a:off x="6108120" y="2395800"/>
            <a:ext cx="5369760" cy="15724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38" name="TextBox 23"/>
          <p:cNvSpPr/>
          <p:nvPr/>
        </p:nvSpPr>
        <p:spPr>
          <a:xfrm>
            <a:off x="6400800" y="2670120"/>
            <a:ext cx="4205880" cy="198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100" spc="-1" strike="noStrike">
                <a:solidFill>
                  <a:srgbClr val="f5b544"/>
                </a:solidFill>
                <a:latin typeface="Inter"/>
              </a:rPr>
              <a:t>UTILISATEURS SECONDAIRES</a:t>
            </a:r>
            <a:endParaRPr b="0" lang="fr-FR" sz="1100" spc="-1" strike="noStrike">
              <a:solidFill>
                <a:srgbClr val="000000"/>
              </a:solidFill>
              <a:latin typeface="Arial"/>
            </a:endParaRPr>
          </a:p>
        </p:txBody>
      </p:sp>
      <p:sp>
        <p:nvSpPr>
          <p:cNvPr id="139" name="TextBox 24"/>
          <p:cNvSpPr/>
          <p:nvPr/>
        </p:nvSpPr>
        <p:spPr>
          <a:xfrm>
            <a:off x="6400800" y="3054240"/>
            <a:ext cx="4784760" cy="535320"/>
          </a:xfrm>
          <a:prstGeom prst="rect">
            <a:avLst/>
          </a:prstGeom>
          <a:noFill/>
          <a:ln w="0">
            <a:noFill/>
          </a:ln>
        </p:spPr>
        <p:style>
          <a:lnRef idx="0"/>
          <a:fillRef idx="0"/>
          <a:effectRef idx="0"/>
          <a:fontRef idx="minor"/>
        </p:style>
        <p:txBody>
          <a:bodyPr lIns="0" rIns="0" tIns="0" bIns="0" anchor="t">
            <a:spAutoFit/>
          </a:bodyPr>
          <a:p>
            <a:pPr defTabSz="457200">
              <a:lnSpc>
                <a:spcPct val="135000"/>
              </a:lnSpc>
            </a:pPr>
            <a:r>
              <a:rPr b="0" lang="en-US" sz="1300" spc="-1" strike="noStrike">
                <a:solidFill>
                  <a:srgbClr val="93a79d"/>
                </a:solidFill>
                <a:latin typeface="Inter"/>
              </a:rPr>
              <a:t>Le comité communal de transhumance (web)</a:t>
            </a:r>
            <a:endParaRPr b="0" lang="fr-FR" sz="1300" spc="-1" strike="noStrike">
              <a:solidFill>
                <a:srgbClr val="000000"/>
              </a:solidFill>
              <a:latin typeface="Arial"/>
            </a:endParaRPr>
          </a:p>
          <a:p>
            <a:pPr defTabSz="457200">
              <a:lnSpc>
                <a:spcPct val="135000"/>
              </a:lnSpc>
            </a:pPr>
            <a:r>
              <a:rPr b="0" lang="en-US" sz="1300" spc="-1" strike="noStrike">
                <a:solidFill>
                  <a:srgbClr val="93a79d"/>
                </a:solidFill>
                <a:latin typeface="Inter"/>
              </a:rPr>
              <a:t>Les représentants d'éleveurs (message vocal)</a:t>
            </a:r>
            <a:endParaRPr b="0" lang="fr-FR" sz="1300" spc="-1" strike="noStrike">
              <a:solidFill>
                <a:srgbClr val="000000"/>
              </a:solidFill>
              <a:latin typeface="Arial"/>
            </a:endParaRPr>
          </a:p>
        </p:txBody>
      </p:sp>
      <p:sp>
        <p:nvSpPr>
          <p:cNvPr id="140" name="Rounded Rectangle 25"/>
          <p:cNvSpPr/>
          <p:nvPr/>
        </p:nvSpPr>
        <p:spPr>
          <a:xfrm>
            <a:off x="6108120" y="4187880"/>
            <a:ext cx="5369760" cy="160884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41" name="TextBox 26"/>
          <p:cNvSpPr/>
          <p:nvPr/>
        </p:nvSpPr>
        <p:spPr>
          <a:xfrm>
            <a:off x="6400800" y="4462200"/>
            <a:ext cx="4205880" cy="198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100" spc="-1" strike="noStrike">
                <a:solidFill>
                  <a:srgbClr val="d9b48f"/>
                </a:solidFill>
                <a:latin typeface="Inter"/>
              </a:rPr>
              <a:t>COUVERTURE ET DÉMONSTRATION</a:t>
            </a:r>
            <a:endParaRPr b="0" lang="fr-FR" sz="1100" spc="-1" strike="noStrike">
              <a:solidFill>
                <a:srgbClr val="000000"/>
              </a:solidFill>
              <a:latin typeface="Arial"/>
            </a:endParaRPr>
          </a:p>
        </p:txBody>
      </p:sp>
      <p:sp>
        <p:nvSpPr>
          <p:cNvPr id="142" name="TextBox 27"/>
          <p:cNvSpPr/>
          <p:nvPr/>
        </p:nvSpPr>
        <p:spPr>
          <a:xfrm>
            <a:off x="6400800" y="4846320"/>
            <a:ext cx="4784760" cy="535320"/>
          </a:xfrm>
          <a:prstGeom prst="rect">
            <a:avLst/>
          </a:prstGeom>
          <a:noFill/>
          <a:ln w="0">
            <a:noFill/>
          </a:ln>
        </p:spPr>
        <p:style>
          <a:lnRef idx="0"/>
          <a:fillRef idx="0"/>
          <a:effectRef idx="0"/>
          <a:fontRef idx="minor"/>
        </p:style>
        <p:txBody>
          <a:bodyPr lIns="0" rIns="0" tIns="0" bIns="0" anchor="t">
            <a:spAutoFit/>
          </a:bodyPr>
          <a:p>
            <a:pPr defTabSz="457200">
              <a:lnSpc>
                <a:spcPct val="135000"/>
              </a:lnSpc>
            </a:pPr>
            <a:r>
              <a:rPr b="0" lang="en-US" sz="1300" spc="-1" strike="noStrike">
                <a:solidFill>
                  <a:srgbClr val="93a79d"/>
                </a:solidFill>
                <a:latin typeface="Inter"/>
              </a:rPr>
              <a:t>5 départements · 33 communes · 1 585 km</a:t>
            </a:r>
            <a:endParaRPr b="0" lang="fr-FR" sz="1300" spc="-1" strike="noStrike">
              <a:solidFill>
                <a:srgbClr val="000000"/>
              </a:solidFill>
              <a:latin typeface="Arial"/>
            </a:endParaRPr>
          </a:p>
          <a:p>
            <a:pPr defTabSz="457200">
              <a:lnSpc>
                <a:spcPct val="135000"/>
              </a:lnSpc>
            </a:pPr>
            <a:r>
              <a:rPr b="0" lang="en-US" sz="1300" spc="-1" strike="noStrike">
                <a:solidFill>
                  <a:srgbClr val="93a79d"/>
                </a:solidFill>
                <a:latin typeface="Inter"/>
              </a:rPr>
              <a:t>Banikoara, commune de référence détaillée</a:t>
            </a:r>
            <a:endParaRPr b="0" lang="fr-FR"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44"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145"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146"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05 / 15</a:t>
            </a:r>
            <a:endParaRPr b="0" lang="fr-FR" sz="900" spc="-1" strike="noStrike">
              <a:solidFill>
                <a:srgbClr val="000000"/>
              </a:solidFill>
              <a:latin typeface="Arial"/>
            </a:endParaRPr>
          </a:p>
        </p:txBody>
      </p:sp>
      <p:sp>
        <p:nvSpPr>
          <p:cNvPr id="147"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48"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LA SOLUTION</a:t>
            </a:r>
            <a:endParaRPr b="0" lang="fr-FR" sz="1100" spc="-1" strike="noStrike">
              <a:solidFill>
                <a:srgbClr val="000000"/>
              </a:solidFill>
              <a:latin typeface="Arial"/>
            </a:endParaRPr>
          </a:p>
        </p:txBody>
      </p:sp>
      <p:sp>
        <p:nvSpPr>
          <p:cNvPr id="149" name="TextBox 7"/>
          <p:cNvSpPr/>
          <p:nvPr/>
        </p:nvSpPr>
        <p:spPr>
          <a:xfrm>
            <a:off x="713160" y="932760"/>
            <a:ext cx="10789560" cy="990360"/>
          </a:xfrm>
          <a:prstGeom prst="rect">
            <a:avLst/>
          </a:prstGeom>
          <a:noFill/>
          <a:ln w="0">
            <a:noFill/>
          </a:ln>
        </p:spPr>
        <p:style>
          <a:lnRef idx="0"/>
          <a:fillRef idx="0"/>
          <a:effectRef idx="0"/>
          <a:fontRef idx="minor"/>
        </p:style>
        <p:txBody>
          <a:bodyPr lIns="0" rIns="0" tIns="0" bIns="0" anchor="t">
            <a:spAutoFit/>
          </a:bodyPr>
          <a:p>
            <a:pPr defTabSz="457200">
              <a:lnSpc>
                <a:spcPct val="116000"/>
              </a:lnSpc>
            </a:pPr>
            <a:r>
              <a:rPr b="1" lang="en-US" sz="2800" spc="-1" strike="noStrike">
                <a:solidFill>
                  <a:srgbClr val="e9f2ed"/>
                </a:solidFill>
                <a:latin typeface="Space Grotesk"/>
              </a:rPr>
              <a:t>Transformer une carte statique</a:t>
            </a:r>
            <a:endParaRPr b="0" lang="fr-FR" sz="2800" spc="-1" strike="noStrike">
              <a:solidFill>
                <a:srgbClr val="000000"/>
              </a:solidFill>
              <a:latin typeface="Arial"/>
            </a:endParaRPr>
          </a:p>
          <a:p>
            <a:pPr defTabSz="457200">
              <a:lnSpc>
                <a:spcPct val="116000"/>
              </a:lnSpc>
            </a:pPr>
            <a:r>
              <a:rPr b="1" lang="en-US" sz="2800" spc="-1" strike="noStrike">
                <a:solidFill>
                  <a:srgbClr val="e9f2ed"/>
                </a:solidFill>
                <a:latin typeface="Space Grotesk"/>
              </a:rPr>
              <a:t>en système de veille actualisé avant chaque saison.</a:t>
            </a:r>
            <a:endParaRPr b="0" lang="fr-FR" sz="2800" spc="-1" strike="noStrike">
              <a:solidFill>
                <a:srgbClr val="000000"/>
              </a:solidFill>
              <a:latin typeface="Arial"/>
            </a:endParaRPr>
          </a:p>
        </p:txBody>
      </p:sp>
      <p:sp>
        <p:nvSpPr>
          <p:cNvPr id="150" name="Rounded Rectangle 8"/>
          <p:cNvSpPr/>
          <p:nvPr/>
        </p:nvSpPr>
        <p:spPr>
          <a:xfrm>
            <a:off x="713160" y="2606040"/>
            <a:ext cx="2395440" cy="840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51" name="Rectangle 9"/>
          <p:cNvSpPr/>
          <p:nvPr/>
        </p:nvSpPr>
        <p:spPr>
          <a:xfrm>
            <a:off x="713160" y="2606040"/>
            <a:ext cx="31680" cy="8409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52" name="TextBox 10"/>
          <p:cNvSpPr/>
          <p:nvPr/>
        </p:nvSpPr>
        <p:spPr>
          <a:xfrm>
            <a:off x="914400" y="2788920"/>
            <a:ext cx="2011320" cy="234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300" spc="-1" strike="noStrike">
                <a:solidFill>
                  <a:srgbClr val="e9f2ed"/>
                </a:solidFill>
                <a:latin typeface="Space Grotesk"/>
              </a:rPr>
              <a:t>Sentinel-2</a:t>
            </a:r>
            <a:endParaRPr b="0" lang="fr-FR" sz="1300" spc="-1" strike="noStrike">
              <a:solidFill>
                <a:srgbClr val="000000"/>
              </a:solidFill>
              <a:latin typeface="Arial"/>
            </a:endParaRPr>
          </a:p>
        </p:txBody>
      </p:sp>
      <p:sp>
        <p:nvSpPr>
          <p:cNvPr id="153" name="TextBox 11"/>
          <p:cNvSpPr/>
          <p:nvPr/>
        </p:nvSpPr>
        <p:spPr>
          <a:xfrm>
            <a:off x="914400" y="3090600"/>
            <a:ext cx="2011320" cy="18864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050" spc="-1" strike="noStrike">
                <a:solidFill>
                  <a:srgbClr val="93a79d"/>
                </a:solidFill>
                <a:latin typeface="Inter"/>
              </a:rPr>
              <a:t>images 10 m</a:t>
            </a:r>
            <a:endParaRPr b="0" lang="fr-FR" sz="1050" spc="-1" strike="noStrike">
              <a:solidFill>
                <a:srgbClr val="000000"/>
              </a:solidFill>
              <a:latin typeface="Arial"/>
            </a:endParaRPr>
          </a:p>
        </p:txBody>
      </p:sp>
      <p:sp>
        <p:nvSpPr>
          <p:cNvPr id="154" name="Right Arrow 12"/>
          <p:cNvSpPr/>
          <p:nvPr/>
        </p:nvSpPr>
        <p:spPr>
          <a:xfrm>
            <a:off x="3191400" y="2976480"/>
            <a:ext cx="219240" cy="100080"/>
          </a:xfrm>
          <a:prstGeom prst="rightArrow">
            <a:avLst>
              <a:gd name="adj1" fmla="val 50000"/>
              <a:gd name="adj2" fmla="val 50000"/>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400" bIns="5400" anchor="ctr">
            <a:noAutofit/>
          </a:bodyPr>
          <a:p>
            <a:pPr algn="ctr" defTabSz="457200">
              <a:lnSpc>
                <a:spcPct val="100000"/>
              </a:lnSpc>
            </a:pPr>
            <a:endParaRPr b="0" lang="en-US" sz="1800" spc="-1" strike="noStrike">
              <a:solidFill>
                <a:schemeClr val="lt1"/>
              </a:solidFill>
              <a:latin typeface="Arial"/>
            </a:endParaRPr>
          </a:p>
        </p:txBody>
      </p:sp>
      <p:sp>
        <p:nvSpPr>
          <p:cNvPr id="155" name="Rounded Rectangle 13"/>
          <p:cNvSpPr/>
          <p:nvPr/>
        </p:nvSpPr>
        <p:spPr>
          <a:xfrm>
            <a:off x="3493080" y="2606040"/>
            <a:ext cx="2395440" cy="840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56" name="Rectangle 14"/>
          <p:cNvSpPr/>
          <p:nvPr/>
        </p:nvSpPr>
        <p:spPr>
          <a:xfrm>
            <a:off x="3493080" y="2606040"/>
            <a:ext cx="31680" cy="8409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57" name="TextBox 15"/>
          <p:cNvSpPr/>
          <p:nvPr/>
        </p:nvSpPr>
        <p:spPr>
          <a:xfrm>
            <a:off x="3694320" y="2788920"/>
            <a:ext cx="2011320" cy="234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300" spc="-1" strike="noStrike">
                <a:solidFill>
                  <a:srgbClr val="e9f2ed"/>
                </a:solidFill>
                <a:latin typeface="Space Grotesk"/>
              </a:rPr>
              <a:t>Classification</a:t>
            </a:r>
            <a:endParaRPr b="0" lang="fr-FR" sz="1300" spc="-1" strike="noStrike">
              <a:solidFill>
                <a:srgbClr val="000000"/>
              </a:solidFill>
              <a:latin typeface="Arial"/>
            </a:endParaRPr>
          </a:p>
        </p:txBody>
      </p:sp>
      <p:sp>
        <p:nvSpPr>
          <p:cNvPr id="158" name="TextBox 16"/>
          <p:cNvSpPr/>
          <p:nvPr/>
        </p:nvSpPr>
        <p:spPr>
          <a:xfrm>
            <a:off x="3694320" y="3090600"/>
            <a:ext cx="2011320" cy="18864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050" spc="-1" strike="noStrike">
                <a:solidFill>
                  <a:srgbClr val="93a79d"/>
                </a:solidFill>
                <a:latin typeface="Inter"/>
              </a:rPr>
              <a:t>zones en culture</a:t>
            </a:r>
            <a:endParaRPr b="0" lang="fr-FR" sz="1050" spc="-1" strike="noStrike">
              <a:solidFill>
                <a:srgbClr val="000000"/>
              </a:solidFill>
              <a:latin typeface="Arial"/>
            </a:endParaRPr>
          </a:p>
        </p:txBody>
      </p:sp>
      <p:sp>
        <p:nvSpPr>
          <p:cNvPr id="159" name="Right Arrow 17"/>
          <p:cNvSpPr/>
          <p:nvPr/>
        </p:nvSpPr>
        <p:spPr>
          <a:xfrm>
            <a:off x="5970960" y="2976480"/>
            <a:ext cx="219240" cy="100080"/>
          </a:xfrm>
          <a:prstGeom prst="rightArrow">
            <a:avLst>
              <a:gd name="adj1" fmla="val 50000"/>
              <a:gd name="adj2" fmla="val 50000"/>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400" bIns="5400" anchor="ctr">
            <a:noAutofit/>
          </a:bodyPr>
          <a:p>
            <a:pPr algn="ctr" defTabSz="457200">
              <a:lnSpc>
                <a:spcPct val="100000"/>
              </a:lnSpc>
            </a:pPr>
            <a:endParaRPr b="0" lang="en-US" sz="1800" spc="-1" strike="noStrike">
              <a:solidFill>
                <a:schemeClr val="lt1"/>
              </a:solidFill>
              <a:latin typeface="Arial"/>
            </a:endParaRPr>
          </a:p>
        </p:txBody>
      </p:sp>
      <p:sp>
        <p:nvSpPr>
          <p:cNvPr id="160" name="Rounded Rectangle 18"/>
          <p:cNvSpPr/>
          <p:nvPr/>
        </p:nvSpPr>
        <p:spPr>
          <a:xfrm>
            <a:off x="6272640" y="2606040"/>
            <a:ext cx="2395440" cy="840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61" name="Rectangle 19"/>
          <p:cNvSpPr/>
          <p:nvPr/>
        </p:nvSpPr>
        <p:spPr>
          <a:xfrm>
            <a:off x="6272640" y="2606040"/>
            <a:ext cx="31680" cy="8409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62" name="TextBox 20"/>
          <p:cNvSpPr/>
          <p:nvPr/>
        </p:nvSpPr>
        <p:spPr>
          <a:xfrm>
            <a:off x="6473880" y="2788920"/>
            <a:ext cx="2011320" cy="234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300" spc="-1" strike="noStrike">
                <a:solidFill>
                  <a:srgbClr val="e9f2ed"/>
                </a:solidFill>
                <a:latin typeface="Space Grotesk"/>
              </a:rPr>
              <a:t>Croisement</a:t>
            </a:r>
            <a:endParaRPr b="0" lang="fr-FR" sz="1300" spc="-1" strike="noStrike">
              <a:solidFill>
                <a:srgbClr val="000000"/>
              </a:solidFill>
              <a:latin typeface="Arial"/>
            </a:endParaRPr>
          </a:p>
        </p:txBody>
      </p:sp>
      <p:sp>
        <p:nvSpPr>
          <p:cNvPr id="163" name="TextBox 21"/>
          <p:cNvSpPr/>
          <p:nvPr/>
        </p:nvSpPr>
        <p:spPr>
          <a:xfrm>
            <a:off x="6473880" y="3090600"/>
            <a:ext cx="2011320" cy="18864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050" spc="-1" strike="noStrike">
                <a:solidFill>
                  <a:srgbClr val="93a79d"/>
                </a:solidFill>
                <a:latin typeface="Inter"/>
              </a:rPr>
              <a:t>emprise du couloir</a:t>
            </a:r>
            <a:endParaRPr b="0" lang="fr-FR" sz="1050" spc="-1" strike="noStrike">
              <a:solidFill>
                <a:srgbClr val="000000"/>
              </a:solidFill>
              <a:latin typeface="Arial"/>
            </a:endParaRPr>
          </a:p>
        </p:txBody>
      </p:sp>
      <p:sp>
        <p:nvSpPr>
          <p:cNvPr id="164" name="Right Arrow 22"/>
          <p:cNvSpPr/>
          <p:nvPr/>
        </p:nvSpPr>
        <p:spPr>
          <a:xfrm>
            <a:off x="8750880" y="2976480"/>
            <a:ext cx="219240" cy="100080"/>
          </a:xfrm>
          <a:prstGeom prst="rightArrow">
            <a:avLst>
              <a:gd name="adj1" fmla="val 50000"/>
              <a:gd name="adj2" fmla="val 50000"/>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400" bIns="5400" anchor="ctr">
            <a:noAutofit/>
          </a:bodyPr>
          <a:p>
            <a:pPr algn="ctr" defTabSz="457200">
              <a:lnSpc>
                <a:spcPct val="100000"/>
              </a:lnSpc>
            </a:pPr>
            <a:endParaRPr b="0" lang="en-US" sz="1800" spc="-1" strike="noStrike">
              <a:solidFill>
                <a:schemeClr val="lt1"/>
              </a:solidFill>
              <a:latin typeface="Arial"/>
            </a:endParaRPr>
          </a:p>
        </p:txBody>
      </p:sp>
      <p:sp>
        <p:nvSpPr>
          <p:cNvPr id="165" name="Rounded Rectangle 23"/>
          <p:cNvSpPr/>
          <p:nvPr/>
        </p:nvSpPr>
        <p:spPr>
          <a:xfrm>
            <a:off x="9052560" y="2606040"/>
            <a:ext cx="2395440" cy="840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66" name="Rectangle 24"/>
          <p:cNvSpPr/>
          <p:nvPr/>
        </p:nvSpPr>
        <p:spPr>
          <a:xfrm>
            <a:off x="9052560" y="2606040"/>
            <a:ext cx="31680" cy="8409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67" name="TextBox 25"/>
          <p:cNvSpPr/>
          <p:nvPr/>
        </p:nvSpPr>
        <p:spPr>
          <a:xfrm>
            <a:off x="9253800" y="2788920"/>
            <a:ext cx="2011320" cy="234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300" spc="-1" strike="noStrike">
                <a:solidFill>
                  <a:srgbClr val="e9f2ed"/>
                </a:solidFill>
                <a:latin typeface="Space Grotesk"/>
              </a:rPr>
              <a:t>Carte de friction</a:t>
            </a:r>
            <a:endParaRPr b="0" lang="fr-FR" sz="1300" spc="-1" strike="noStrike">
              <a:solidFill>
                <a:srgbClr val="000000"/>
              </a:solidFill>
              <a:latin typeface="Arial"/>
            </a:endParaRPr>
          </a:p>
        </p:txBody>
      </p:sp>
      <p:sp>
        <p:nvSpPr>
          <p:cNvPr id="168" name="TextBox 26"/>
          <p:cNvSpPr/>
          <p:nvPr/>
        </p:nvSpPr>
        <p:spPr>
          <a:xfrm>
            <a:off x="9253800" y="3090600"/>
            <a:ext cx="2011320" cy="18864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050" spc="-1" strike="noStrike">
                <a:solidFill>
                  <a:srgbClr val="93a79d"/>
                </a:solidFill>
                <a:latin typeface="Inter"/>
              </a:rPr>
              <a:t>gravité + confiance</a:t>
            </a:r>
            <a:endParaRPr b="0" lang="fr-FR" sz="1050" spc="-1" strike="noStrike">
              <a:solidFill>
                <a:srgbClr val="000000"/>
              </a:solidFill>
              <a:latin typeface="Arial"/>
            </a:endParaRPr>
          </a:p>
        </p:txBody>
      </p:sp>
      <p:sp>
        <p:nvSpPr>
          <p:cNvPr id="169" name="Rectangle 27"/>
          <p:cNvSpPr/>
          <p:nvPr/>
        </p:nvSpPr>
        <p:spPr>
          <a:xfrm>
            <a:off x="10232280" y="3575160"/>
            <a:ext cx="40680" cy="20088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70" name="Rectangle 28"/>
          <p:cNvSpPr/>
          <p:nvPr/>
        </p:nvSpPr>
        <p:spPr>
          <a:xfrm>
            <a:off x="1911240" y="3721680"/>
            <a:ext cx="8339040" cy="1800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6640" bIns="-26640" anchor="ctr">
            <a:noAutofit/>
          </a:bodyPr>
          <a:p>
            <a:pPr algn="ctr" defTabSz="457200">
              <a:lnSpc>
                <a:spcPct val="100000"/>
              </a:lnSpc>
            </a:pPr>
            <a:endParaRPr b="0" lang="en-US" sz="1800" spc="-1" strike="noStrike">
              <a:solidFill>
                <a:schemeClr val="lt1"/>
              </a:solidFill>
              <a:latin typeface="Arial"/>
            </a:endParaRPr>
          </a:p>
        </p:txBody>
      </p:sp>
      <p:sp>
        <p:nvSpPr>
          <p:cNvPr id="171" name="Down Arrow 29"/>
          <p:cNvSpPr/>
          <p:nvPr/>
        </p:nvSpPr>
        <p:spPr>
          <a:xfrm>
            <a:off x="1828800" y="3721680"/>
            <a:ext cx="164160" cy="383760"/>
          </a:xfrm>
          <a:prstGeom prst="downArrow">
            <a:avLst>
              <a:gd name="adj1" fmla="val 50000"/>
              <a:gd name="adj2" fmla="val 50000"/>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72" name="Rounded Rectangle 30"/>
          <p:cNvSpPr/>
          <p:nvPr/>
        </p:nvSpPr>
        <p:spPr>
          <a:xfrm>
            <a:off x="713160" y="4224600"/>
            <a:ext cx="2395440" cy="840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73" name="Rectangle 31"/>
          <p:cNvSpPr/>
          <p:nvPr/>
        </p:nvSpPr>
        <p:spPr>
          <a:xfrm>
            <a:off x="713160" y="4224600"/>
            <a:ext cx="31680" cy="84096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74" name="TextBox 32"/>
          <p:cNvSpPr/>
          <p:nvPr/>
        </p:nvSpPr>
        <p:spPr>
          <a:xfrm>
            <a:off x="914400" y="4407480"/>
            <a:ext cx="2011320" cy="234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300" spc="-1" strike="noStrike">
                <a:solidFill>
                  <a:srgbClr val="e9f2ed"/>
                </a:solidFill>
                <a:latin typeface="Space Grotesk"/>
              </a:rPr>
              <a:t>Vérification terrain</a:t>
            </a:r>
            <a:endParaRPr b="0" lang="fr-FR" sz="1300" spc="-1" strike="noStrike">
              <a:solidFill>
                <a:srgbClr val="000000"/>
              </a:solidFill>
              <a:latin typeface="Arial"/>
            </a:endParaRPr>
          </a:p>
        </p:txBody>
      </p:sp>
      <p:sp>
        <p:nvSpPr>
          <p:cNvPr id="175" name="TextBox 33"/>
          <p:cNvSpPr/>
          <p:nvPr/>
        </p:nvSpPr>
        <p:spPr>
          <a:xfrm>
            <a:off x="914400" y="4709160"/>
            <a:ext cx="2011320" cy="18864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050" spc="-1" strike="noStrike">
                <a:solidFill>
                  <a:srgbClr val="93a79d"/>
                </a:solidFill>
                <a:latin typeface="Inter"/>
              </a:rPr>
              <a:t>hors ligne</a:t>
            </a:r>
            <a:endParaRPr b="0" lang="fr-FR" sz="1050" spc="-1" strike="noStrike">
              <a:solidFill>
                <a:srgbClr val="000000"/>
              </a:solidFill>
              <a:latin typeface="Arial"/>
            </a:endParaRPr>
          </a:p>
        </p:txBody>
      </p:sp>
      <p:sp>
        <p:nvSpPr>
          <p:cNvPr id="176" name="Right Arrow 34"/>
          <p:cNvSpPr/>
          <p:nvPr/>
        </p:nvSpPr>
        <p:spPr>
          <a:xfrm>
            <a:off x="3191400" y="4595040"/>
            <a:ext cx="219240" cy="100080"/>
          </a:xfrm>
          <a:prstGeom prst="rightArrow">
            <a:avLst>
              <a:gd name="adj1" fmla="val 50000"/>
              <a:gd name="adj2" fmla="val 50000"/>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400" bIns="5400" anchor="ctr">
            <a:noAutofit/>
          </a:bodyPr>
          <a:p>
            <a:pPr algn="ctr" defTabSz="457200">
              <a:lnSpc>
                <a:spcPct val="100000"/>
              </a:lnSpc>
            </a:pPr>
            <a:endParaRPr b="0" lang="en-US" sz="1800" spc="-1" strike="noStrike">
              <a:solidFill>
                <a:schemeClr val="lt1"/>
              </a:solidFill>
              <a:latin typeface="Arial"/>
            </a:endParaRPr>
          </a:p>
        </p:txBody>
      </p:sp>
      <p:sp>
        <p:nvSpPr>
          <p:cNvPr id="177" name="Rounded Rectangle 35"/>
          <p:cNvSpPr/>
          <p:nvPr/>
        </p:nvSpPr>
        <p:spPr>
          <a:xfrm>
            <a:off x="3493080" y="4224600"/>
            <a:ext cx="2395440" cy="840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78" name="Rectangle 36"/>
          <p:cNvSpPr/>
          <p:nvPr/>
        </p:nvSpPr>
        <p:spPr>
          <a:xfrm>
            <a:off x="3493080" y="4224600"/>
            <a:ext cx="31680" cy="840960"/>
          </a:xfrm>
          <a:prstGeom prst="rect">
            <a:avLst/>
          </a:prstGeom>
          <a:solidFill>
            <a:srgbClr val="f06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79" name="TextBox 37"/>
          <p:cNvSpPr/>
          <p:nvPr/>
        </p:nvSpPr>
        <p:spPr>
          <a:xfrm>
            <a:off x="3694320" y="4407480"/>
            <a:ext cx="2011320" cy="234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300" spc="-1" strike="noStrike">
                <a:solidFill>
                  <a:srgbClr val="e9f2ed"/>
                </a:solidFill>
                <a:latin typeface="Space Grotesk"/>
              </a:rPr>
              <a:t>Arbitrage du comité</a:t>
            </a:r>
            <a:endParaRPr b="0" lang="fr-FR" sz="1300" spc="-1" strike="noStrike">
              <a:solidFill>
                <a:srgbClr val="000000"/>
              </a:solidFill>
              <a:latin typeface="Arial"/>
            </a:endParaRPr>
          </a:p>
        </p:txBody>
      </p:sp>
      <p:sp>
        <p:nvSpPr>
          <p:cNvPr id="180" name="TextBox 38"/>
          <p:cNvSpPr/>
          <p:nvPr/>
        </p:nvSpPr>
        <p:spPr>
          <a:xfrm>
            <a:off x="3694320" y="4709160"/>
            <a:ext cx="2011320" cy="18864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050" spc="-1" strike="noStrike">
                <a:solidFill>
                  <a:srgbClr val="93a79d"/>
                </a:solidFill>
                <a:latin typeface="Inter"/>
              </a:rPr>
              <a:t>maintien / ajustement</a:t>
            </a:r>
            <a:endParaRPr b="0" lang="fr-FR" sz="1050" spc="-1" strike="noStrike">
              <a:solidFill>
                <a:srgbClr val="000000"/>
              </a:solidFill>
              <a:latin typeface="Arial"/>
            </a:endParaRPr>
          </a:p>
        </p:txBody>
      </p:sp>
      <p:sp>
        <p:nvSpPr>
          <p:cNvPr id="181" name="Right Arrow 39"/>
          <p:cNvSpPr/>
          <p:nvPr/>
        </p:nvSpPr>
        <p:spPr>
          <a:xfrm>
            <a:off x="5970960" y="4595040"/>
            <a:ext cx="219240" cy="100080"/>
          </a:xfrm>
          <a:prstGeom prst="rightArrow">
            <a:avLst>
              <a:gd name="adj1" fmla="val 50000"/>
              <a:gd name="adj2" fmla="val 50000"/>
            </a:avLst>
          </a:prstGeom>
          <a:solidFill>
            <a:srgbClr val="f06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400" bIns="5400" anchor="ctr">
            <a:noAutofit/>
          </a:bodyPr>
          <a:p>
            <a:pPr algn="ctr" defTabSz="457200">
              <a:lnSpc>
                <a:spcPct val="100000"/>
              </a:lnSpc>
            </a:pPr>
            <a:endParaRPr b="0" lang="en-US" sz="1800" spc="-1" strike="noStrike">
              <a:solidFill>
                <a:schemeClr val="lt1"/>
              </a:solidFill>
              <a:latin typeface="Arial"/>
            </a:endParaRPr>
          </a:p>
        </p:txBody>
      </p:sp>
      <p:sp>
        <p:nvSpPr>
          <p:cNvPr id="182" name="Rounded Rectangle 40"/>
          <p:cNvSpPr/>
          <p:nvPr/>
        </p:nvSpPr>
        <p:spPr>
          <a:xfrm>
            <a:off x="6272640" y="4224600"/>
            <a:ext cx="2395440" cy="840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83" name="Rectangle 41"/>
          <p:cNvSpPr/>
          <p:nvPr/>
        </p:nvSpPr>
        <p:spPr>
          <a:xfrm>
            <a:off x="6272640" y="4224600"/>
            <a:ext cx="31680" cy="8409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84" name="TextBox 42"/>
          <p:cNvSpPr/>
          <p:nvPr/>
        </p:nvSpPr>
        <p:spPr>
          <a:xfrm>
            <a:off x="6473880" y="4407480"/>
            <a:ext cx="2011320" cy="234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300" spc="-1" strike="noStrike">
                <a:solidFill>
                  <a:srgbClr val="e9f2ed"/>
                </a:solidFill>
                <a:latin typeface="Space Grotesk"/>
              </a:rPr>
              <a:t>Diffusion vocale</a:t>
            </a:r>
            <a:endParaRPr b="0" lang="fr-FR" sz="1300" spc="-1" strike="noStrike">
              <a:solidFill>
                <a:srgbClr val="000000"/>
              </a:solidFill>
              <a:latin typeface="Arial"/>
            </a:endParaRPr>
          </a:p>
        </p:txBody>
      </p:sp>
      <p:sp>
        <p:nvSpPr>
          <p:cNvPr id="185" name="TextBox 43"/>
          <p:cNvSpPr/>
          <p:nvPr/>
        </p:nvSpPr>
        <p:spPr>
          <a:xfrm>
            <a:off x="6473880" y="4709160"/>
            <a:ext cx="2011320" cy="18864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050" spc="-1" strike="noStrike">
                <a:solidFill>
                  <a:srgbClr val="93a79d"/>
                </a:solidFill>
                <a:latin typeface="Inter"/>
              </a:rPr>
              <a:t>en fulfulde</a:t>
            </a:r>
            <a:endParaRPr b="0" lang="fr-FR" sz="1050" spc="-1" strike="noStrike">
              <a:solidFill>
                <a:srgbClr val="000000"/>
              </a:solidFill>
              <a:latin typeface="Arial"/>
            </a:endParaRPr>
          </a:p>
        </p:txBody>
      </p:sp>
      <p:sp>
        <p:nvSpPr>
          <p:cNvPr id="186" name="TextBox 44"/>
          <p:cNvSpPr/>
          <p:nvPr/>
        </p:nvSpPr>
        <p:spPr>
          <a:xfrm>
            <a:off x="713160" y="5394960"/>
            <a:ext cx="1078956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93a79d"/>
                </a:solidFill>
                <a:latin typeface="Inter"/>
              </a:rPr>
              <a:t>Machine en amont · décision humaine au centre · restitution dans la langue des éleveurs</a:t>
            </a:r>
            <a:endParaRPr b="0" lang="fr-FR" sz="12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88"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189"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190"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06 / 15</a:t>
            </a:r>
            <a:endParaRPr b="0" lang="fr-FR" sz="900" spc="-1" strike="noStrike">
              <a:solidFill>
                <a:srgbClr val="000000"/>
              </a:solidFill>
              <a:latin typeface="Arial"/>
            </a:endParaRPr>
          </a:p>
        </p:txBody>
      </p:sp>
      <p:sp>
        <p:nvSpPr>
          <p:cNvPr id="191"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192"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LE LIVRABLE</a:t>
            </a:r>
            <a:endParaRPr b="0" lang="fr-FR" sz="1100" spc="-1" strike="noStrike">
              <a:solidFill>
                <a:srgbClr val="000000"/>
              </a:solidFill>
              <a:latin typeface="Arial"/>
            </a:endParaRPr>
          </a:p>
        </p:txBody>
      </p:sp>
      <p:sp>
        <p:nvSpPr>
          <p:cNvPr id="193" name="TextBox 7"/>
          <p:cNvSpPr/>
          <p:nvPr/>
        </p:nvSpPr>
        <p:spPr>
          <a:xfrm>
            <a:off x="713160" y="932760"/>
            <a:ext cx="10764720" cy="5173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3200" spc="-1" strike="noStrike">
                <a:solidFill>
                  <a:srgbClr val="e9f2ed"/>
                </a:solidFill>
                <a:latin typeface="Space Grotesk"/>
              </a:rPr>
              <a:t>La carte de friction</a:t>
            </a:r>
            <a:endParaRPr b="0" lang="fr-FR" sz="3200" spc="-1" strike="noStrike">
              <a:solidFill>
                <a:srgbClr val="000000"/>
              </a:solidFill>
              <a:latin typeface="Arial"/>
            </a:endParaRPr>
          </a:p>
        </p:txBody>
      </p:sp>
      <p:sp>
        <p:nvSpPr>
          <p:cNvPr id="194" name="TextBox 8"/>
          <p:cNvSpPr/>
          <p:nvPr/>
        </p:nvSpPr>
        <p:spPr>
          <a:xfrm>
            <a:off x="713160" y="1646280"/>
            <a:ext cx="10216080" cy="546840"/>
          </a:xfrm>
          <a:prstGeom prst="rect">
            <a:avLst/>
          </a:prstGeom>
          <a:noFill/>
          <a:ln w="0">
            <a:noFill/>
          </a:ln>
        </p:spPr>
        <p:style>
          <a:lnRef idx="0"/>
          <a:fillRef idx="0"/>
          <a:effectRef idx="0"/>
          <a:fontRef idx="minor"/>
        </p:style>
        <p:txBody>
          <a:bodyPr lIns="0" rIns="0" tIns="0" bIns="0" anchor="t">
            <a:spAutoFit/>
          </a:bodyPr>
          <a:p>
            <a:pPr defTabSz="457200">
              <a:lnSpc>
                <a:spcPct val="128000"/>
              </a:lnSpc>
            </a:pPr>
            <a:r>
              <a:rPr b="0" lang="en-US" sz="1400" spc="-1" strike="noStrike">
                <a:solidFill>
                  <a:srgbClr val="93a79d"/>
                </a:solidFill>
                <a:latin typeface="Inter"/>
              </a:rPr>
              <a:t>Ce que le comité reçoit avant la saison : les portions devenues cultivées, classées par gravité, avec leur niveau de confiance. 157 zones sur 33 communes, dont 84 en attente de vérification.</a:t>
            </a:r>
            <a:endParaRPr b="0" lang="fr-FR" sz="1400" spc="-1" strike="noStrike">
              <a:solidFill>
                <a:srgbClr val="000000"/>
              </a:solidFill>
              <a:latin typeface="Arial"/>
            </a:endParaRPr>
          </a:p>
        </p:txBody>
      </p:sp>
      <p:sp>
        <p:nvSpPr>
          <p:cNvPr id="195" name="TextBox 9"/>
          <p:cNvSpPr/>
          <p:nvPr/>
        </p:nvSpPr>
        <p:spPr>
          <a:xfrm>
            <a:off x="987480" y="2999160"/>
            <a:ext cx="2834280" cy="180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000" spc="-1" strike="noStrike">
                <a:solidFill>
                  <a:srgbClr val="93a79d"/>
                </a:solidFill>
                <a:latin typeface="Inter"/>
              </a:rPr>
              <a:t>SEGMENT</a:t>
            </a:r>
            <a:endParaRPr b="0" lang="fr-FR" sz="1000" spc="-1" strike="noStrike">
              <a:solidFill>
                <a:srgbClr val="000000"/>
              </a:solidFill>
              <a:latin typeface="Arial"/>
            </a:endParaRPr>
          </a:p>
        </p:txBody>
      </p:sp>
      <p:sp>
        <p:nvSpPr>
          <p:cNvPr id="196" name="TextBox 10"/>
          <p:cNvSpPr/>
          <p:nvPr/>
        </p:nvSpPr>
        <p:spPr>
          <a:xfrm>
            <a:off x="3959280" y="2999160"/>
            <a:ext cx="1371240" cy="180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000" spc="-1" strike="noStrike">
                <a:solidFill>
                  <a:srgbClr val="93a79d"/>
                </a:solidFill>
                <a:latin typeface="Inter"/>
              </a:rPr>
              <a:t>SURFACE</a:t>
            </a:r>
            <a:endParaRPr b="0" lang="fr-FR" sz="1000" spc="-1" strike="noStrike">
              <a:solidFill>
                <a:srgbClr val="000000"/>
              </a:solidFill>
              <a:latin typeface="Arial"/>
            </a:endParaRPr>
          </a:p>
        </p:txBody>
      </p:sp>
      <p:sp>
        <p:nvSpPr>
          <p:cNvPr id="197" name="TextBox 11"/>
          <p:cNvSpPr/>
          <p:nvPr/>
        </p:nvSpPr>
        <p:spPr>
          <a:xfrm>
            <a:off x="5605200" y="2999160"/>
            <a:ext cx="2377080" cy="180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000" spc="-1" strike="noStrike">
                <a:solidFill>
                  <a:srgbClr val="93a79d"/>
                </a:solidFill>
                <a:latin typeface="Inter"/>
              </a:rPr>
              <a:t>GRAVITÉ</a:t>
            </a:r>
            <a:endParaRPr b="0" lang="fr-FR" sz="1000" spc="-1" strike="noStrike">
              <a:solidFill>
                <a:srgbClr val="000000"/>
              </a:solidFill>
              <a:latin typeface="Arial"/>
            </a:endParaRPr>
          </a:p>
        </p:txBody>
      </p:sp>
      <p:sp>
        <p:nvSpPr>
          <p:cNvPr id="198" name="TextBox 12"/>
          <p:cNvSpPr/>
          <p:nvPr/>
        </p:nvSpPr>
        <p:spPr>
          <a:xfrm>
            <a:off x="8211240" y="2999160"/>
            <a:ext cx="1462680" cy="180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000" spc="-1" strike="noStrike">
                <a:solidFill>
                  <a:srgbClr val="93a79d"/>
                </a:solidFill>
                <a:latin typeface="Inter"/>
              </a:rPr>
              <a:t>CONFIANCE</a:t>
            </a:r>
            <a:endParaRPr b="0" lang="fr-FR" sz="1000" spc="-1" strike="noStrike">
              <a:solidFill>
                <a:srgbClr val="000000"/>
              </a:solidFill>
              <a:latin typeface="Arial"/>
            </a:endParaRPr>
          </a:p>
        </p:txBody>
      </p:sp>
      <p:sp>
        <p:nvSpPr>
          <p:cNvPr id="199" name="TextBox 13"/>
          <p:cNvSpPr/>
          <p:nvPr/>
        </p:nvSpPr>
        <p:spPr>
          <a:xfrm>
            <a:off x="9902880" y="2999160"/>
            <a:ext cx="1462680" cy="180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000" spc="-1" strike="noStrike">
                <a:solidFill>
                  <a:srgbClr val="93a79d"/>
                </a:solidFill>
                <a:latin typeface="Inter"/>
              </a:rPr>
              <a:t>STATUT</a:t>
            </a:r>
            <a:endParaRPr b="0" lang="fr-FR" sz="1000" spc="-1" strike="noStrike">
              <a:solidFill>
                <a:srgbClr val="000000"/>
              </a:solidFill>
              <a:latin typeface="Arial"/>
            </a:endParaRPr>
          </a:p>
        </p:txBody>
      </p:sp>
      <p:sp>
        <p:nvSpPr>
          <p:cNvPr id="200" name="Rectangle 14"/>
          <p:cNvSpPr/>
          <p:nvPr/>
        </p:nvSpPr>
        <p:spPr>
          <a:xfrm>
            <a:off x="713160" y="331020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201" name="Rounded Rectangle 15"/>
          <p:cNvSpPr/>
          <p:nvPr/>
        </p:nvSpPr>
        <p:spPr>
          <a:xfrm>
            <a:off x="713160" y="3474720"/>
            <a:ext cx="10764720" cy="548280"/>
          </a:xfrm>
          <a:prstGeom prst="roundRect">
            <a:avLst>
              <a:gd name="adj" fmla="val 14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02" name="Rectangle 16"/>
          <p:cNvSpPr/>
          <p:nvPr/>
        </p:nvSpPr>
        <p:spPr>
          <a:xfrm>
            <a:off x="713160" y="3474720"/>
            <a:ext cx="31680" cy="548280"/>
          </a:xfrm>
          <a:prstGeom prst="rect">
            <a:avLst/>
          </a:prstGeom>
          <a:solidFill>
            <a:srgbClr val="f06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03" name="TextBox 17"/>
          <p:cNvSpPr/>
          <p:nvPr/>
        </p:nvSpPr>
        <p:spPr>
          <a:xfrm>
            <a:off x="987480" y="3648600"/>
            <a:ext cx="283428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Couloir central · segment 04</a:t>
            </a:r>
            <a:endParaRPr b="0" lang="fr-FR" sz="1250" spc="-1" strike="noStrike">
              <a:solidFill>
                <a:srgbClr val="000000"/>
              </a:solidFill>
              <a:latin typeface="Arial"/>
            </a:endParaRPr>
          </a:p>
        </p:txBody>
      </p:sp>
      <p:sp>
        <p:nvSpPr>
          <p:cNvPr id="204" name="TextBox 18"/>
          <p:cNvSpPr/>
          <p:nvPr/>
        </p:nvSpPr>
        <p:spPr>
          <a:xfrm>
            <a:off x="3959280" y="3648600"/>
            <a:ext cx="137124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93a79d"/>
                </a:solidFill>
                <a:latin typeface="JetBrains Mono"/>
              </a:rPr>
              <a:t>18,4 ha</a:t>
            </a:r>
            <a:endParaRPr b="0" lang="fr-FR" sz="1250" spc="-1" strike="noStrike">
              <a:solidFill>
                <a:srgbClr val="000000"/>
              </a:solidFill>
              <a:latin typeface="Arial"/>
            </a:endParaRPr>
          </a:p>
        </p:txBody>
      </p:sp>
      <p:sp>
        <p:nvSpPr>
          <p:cNvPr id="205" name="Oval 19"/>
          <p:cNvSpPr/>
          <p:nvPr/>
        </p:nvSpPr>
        <p:spPr>
          <a:xfrm>
            <a:off x="5605200" y="3689640"/>
            <a:ext cx="118440" cy="118440"/>
          </a:xfrm>
          <a:prstGeom prst="ellipse">
            <a:avLst/>
          </a:prstGeom>
          <a:solidFill>
            <a:srgbClr val="f06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457200">
              <a:lnSpc>
                <a:spcPct val="100000"/>
              </a:lnSpc>
            </a:pPr>
            <a:endParaRPr b="0" lang="en-US" sz="1800" spc="-1" strike="noStrike">
              <a:solidFill>
                <a:schemeClr val="lt1"/>
              </a:solidFill>
              <a:latin typeface="Arial"/>
            </a:endParaRPr>
          </a:p>
        </p:txBody>
      </p:sp>
      <p:sp>
        <p:nvSpPr>
          <p:cNvPr id="206" name="TextBox 20"/>
          <p:cNvSpPr/>
          <p:nvPr/>
        </p:nvSpPr>
        <p:spPr>
          <a:xfrm>
            <a:off x="5815440" y="3648600"/>
            <a:ext cx="219420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250" spc="-1" strike="noStrike">
                <a:solidFill>
                  <a:srgbClr val="f0665f"/>
                </a:solidFill>
                <a:latin typeface="Inter"/>
              </a:rPr>
              <a:t>Grave</a:t>
            </a:r>
            <a:endParaRPr b="0" lang="fr-FR" sz="1250" spc="-1" strike="noStrike">
              <a:solidFill>
                <a:srgbClr val="000000"/>
              </a:solidFill>
              <a:latin typeface="Arial"/>
            </a:endParaRPr>
          </a:p>
        </p:txBody>
      </p:sp>
      <p:sp>
        <p:nvSpPr>
          <p:cNvPr id="207" name="TextBox 21"/>
          <p:cNvSpPr/>
          <p:nvPr/>
        </p:nvSpPr>
        <p:spPr>
          <a:xfrm>
            <a:off x="8211240" y="3648600"/>
            <a:ext cx="146268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93a79d"/>
                </a:solidFill>
                <a:latin typeface="JetBrains Mono"/>
              </a:rPr>
              <a:t>0.88</a:t>
            </a:r>
            <a:endParaRPr b="0" lang="fr-FR" sz="1250" spc="-1" strike="noStrike">
              <a:solidFill>
                <a:srgbClr val="000000"/>
              </a:solidFill>
              <a:latin typeface="Arial"/>
            </a:endParaRPr>
          </a:p>
        </p:txBody>
      </p:sp>
      <p:sp>
        <p:nvSpPr>
          <p:cNvPr id="208" name="TextBox 22"/>
          <p:cNvSpPr/>
          <p:nvPr/>
        </p:nvSpPr>
        <p:spPr>
          <a:xfrm>
            <a:off x="9902880" y="3648600"/>
            <a:ext cx="1554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f5b544"/>
                </a:solidFill>
                <a:latin typeface="Inter"/>
              </a:rPr>
              <a:t>à vérifier</a:t>
            </a:r>
            <a:endParaRPr b="0" lang="fr-FR" sz="1250" spc="-1" strike="noStrike">
              <a:solidFill>
                <a:srgbClr val="000000"/>
              </a:solidFill>
              <a:latin typeface="Arial"/>
            </a:endParaRPr>
          </a:p>
        </p:txBody>
      </p:sp>
      <p:sp>
        <p:nvSpPr>
          <p:cNvPr id="209" name="Rounded Rectangle 23"/>
          <p:cNvSpPr/>
          <p:nvPr/>
        </p:nvSpPr>
        <p:spPr>
          <a:xfrm>
            <a:off x="713160" y="4133160"/>
            <a:ext cx="10764720" cy="548280"/>
          </a:xfrm>
          <a:prstGeom prst="roundRect">
            <a:avLst>
              <a:gd name="adj" fmla="val 14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10" name="Rectangle 24"/>
          <p:cNvSpPr/>
          <p:nvPr/>
        </p:nvSpPr>
        <p:spPr>
          <a:xfrm>
            <a:off x="713160" y="4133160"/>
            <a:ext cx="31680" cy="54828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11" name="TextBox 25"/>
          <p:cNvSpPr/>
          <p:nvPr/>
        </p:nvSpPr>
        <p:spPr>
          <a:xfrm>
            <a:off x="987480" y="4306680"/>
            <a:ext cx="283428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Couloir central · segment 07</a:t>
            </a:r>
            <a:endParaRPr b="0" lang="fr-FR" sz="1250" spc="-1" strike="noStrike">
              <a:solidFill>
                <a:srgbClr val="000000"/>
              </a:solidFill>
              <a:latin typeface="Arial"/>
            </a:endParaRPr>
          </a:p>
        </p:txBody>
      </p:sp>
      <p:sp>
        <p:nvSpPr>
          <p:cNvPr id="212" name="TextBox 26"/>
          <p:cNvSpPr/>
          <p:nvPr/>
        </p:nvSpPr>
        <p:spPr>
          <a:xfrm>
            <a:off x="3959280" y="4306680"/>
            <a:ext cx="137124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93a79d"/>
                </a:solidFill>
                <a:latin typeface="JetBrains Mono"/>
              </a:rPr>
              <a:t>6,1 ha</a:t>
            </a:r>
            <a:endParaRPr b="0" lang="fr-FR" sz="1250" spc="-1" strike="noStrike">
              <a:solidFill>
                <a:srgbClr val="000000"/>
              </a:solidFill>
              <a:latin typeface="Arial"/>
            </a:endParaRPr>
          </a:p>
        </p:txBody>
      </p:sp>
      <p:sp>
        <p:nvSpPr>
          <p:cNvPr id="213" name="Oval 27"/>
          <p:cNvSpPr/>
          <p:nvPr/>
        </p:nvSpPr>
        <p:spPr>
          <a:xfrm>
            <a:off x="5605200" y="4348080"/>
            <a:ext cx="118440" cy="118440"/>
          </a:xfrm>
          <a:prstGeom prst="ellipse">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457200">
              <a:lnSpc>
                <a:spcPct val="100000"/>
              </a:lnSpc>
            </a:pPr>
            <a:endParaRPr b="0" lang="en-US" sz="1800" spc="-1" strike="noStrike">
              <a:solidFill>
                <a:schemeClr val="lt1"/>
              </a:solidFill>
              <a:latin typeface="Arial"/>
            </a:endParaRPr>
          </a:p>
        </p:txBody>
      </p:sp>
      <p:sp>
        <p:nvSpPr>
          <p:cNvPr id="214" name="TextBox 28"/>
          <p:cNvSpPr/>
          <p:nvPr/>
        </p:nvSpPr>
        <p:spPr>
          <a:xfrm>
            <a:off x="5815440" y="4306680"/>
            <a:ext cx="219420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250" spc="-1" strike="noStrike">
                <a:solidFill>
                  <a:srgbClr val="f5b544"/>
                </a:solidFill>
                <a:latin typeface="Inter"/>
              </a:rPr>
              <a:t>Moyenne</a:t>
            </a:r>
            <a:endParaRPr b="0" lang="fr-FR" sz="1250" spc="-1" strike="noStrike">
              <a:solidFill>
                <a:srgbClr val="000000"/>
              </a:solidFill>
              <a:latin typeface="Arial"/>
            </a:endParaRPr>
          </a:p>
        </p:txBody>
      </p:sp>
      <p:sp>
        <p:nvSpPr>
          <p:cNvPr id="215" name="TextBox 29"/>
          <p:cNvSpPr/>
          <p:nvPr/>
        </p:nvSpPr>
        <p:spPr>
          <a:xfrm>
            <a:off x="8211240" y="4306680"/>
            <a:ext cx="146268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93a79d"/>
                </a:solidFill>
                <a:latin typeface="JetBrains Mono"/>
              </a:rPr>
              <a:t>0.71</a:t>
            </a:r>
            <a:endParaRPr b="0" lang="fr-FR" sz="1250" spc="-1" strike="noStrike">
              <a:solidFill>
                <a:srgbClr val="000000"/>
              </a:solidFill>
              <a:latin typeface="Arial"/>
            </a:endParaRPr>
          </a:p>
        </p:txBody>
      </p:sp>
      <p:sp>
        <p:nvSpPr>
          <p:cNvPr id="216" name="TextBox 30"/>
          <p:cNvSpPr/>
          <p:nvPr/>
        </p:nvSpPr>
        <p:spPr>
          <a:xfrm>
            <a:off x="9902880" y="4306680"/>
            <a:ext cx="1554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34d399"/>
                </a:solidFill>
                <a:latin typeface="Inter"/>
              </a:rPr>
              <a:t>confirmé</a:t>
            </a:r>
            <a:endParaRPr b="0" lang="fr-FR" sz="1250" spc="-1" strike="noStrike">
              <a:solidFill>
                <a:srgbClr val="000000"/>
              </a:solidFill>
              <a:latin typeface="Arial"/>
            </a:endParaRPr>
          </a:p>
        </p:txBody>
      </p:sp>
      <p:sp>
        <p:nvSpPr>
          <p:cNvPr id="217" name="Rounded Rectangle 31"/>
          <p:cNvSpPr/>
          <p:nvPr/>
        </p:nvSpPr>
        <p:spPr>
          <a:xfrm>
            <a:off x="713160" y="4791600"/>
            <a:ext cx="10764720" cy="548280"/>
          </a:xfrm>
          <a:prstGeom prst="roundRect">
            <a:avLst>
              <a:gd name="adj" fmla="val 14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18" name="Rectangle 32"/>
          <p:cNvSpPr/>
          <p:nvPr/>
        </p:nvSpPr>
        <p:spPr>
          <a:xfrm>
            <a:off x="713160" y="4791600"/>
            <a:ext cx="31680" cy="54828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19" name="TextBox 33"/>
          <p:cNvSpPr/>
          <p:nvPr/>
        </p:nvSpPr>
        <p:spPr>
          <a:xfrm>
            <a:off x="987480" y="4965120"/>
            <a:ext cx="283428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Dérivation ouest · segment 12</a:t>
            </a:r>
            <a:endParaRPr b="0" lang="fr-FR" sz="1250" spc="-1" strike="noStrike">
              <a:solidFill>
                <a:srgbClr val="000000"/>
              </a:solidFill>
              <a:latin typeface="Arial"/>
            </a:endParaRPr>
          </a:p>
        </p:txBody>
      </p:sp>
      <p:sp>
        <p:nvSpPr>
          <p:cNvPr id="220" name="TextBox 34"/>
          <p:cNvSpPr/>
          <p:nvPr/>
        </p:nvSpPr>
        <p:spPr>
          <a:xfrm>
            <a:off x="3959280" y="4965120"/>
            <a:ext cx="137124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93a79d"/>
                </a:solidFill>
                <a:latin typeface="JetBrains Mono"/>
              </a:rPr>
              <a:t>2,3 ha</a:t>
            </a:r>
            <a:endParaRPr b="0" lang="fr-FR" sz="1250" spc="-1" strike="noStrike">
              <a:solidFill>
                <a:srgbClr val="000000"/>
              </a:solidFill>
              <a:latin typeface="Arial"/>
            </a:endParaRPr>
          </a:p>
        </p:txBody>
      </p:sp>
      <p:sp>
        <p:nvSpPr>
          <p:cNvPr id="221" name="Oval 35"/>
          <p:cNvSpPr/>
          <p:nvPr/>
        </p:nvSpPr>
        <p:spPr>
          <a:xfrm>
            <a:off x="5605200" y="5006520"/>
            <a:ext cx="118440" cy="118440"/>
          </a:xfrm>
          <a:prstGeom prst="ellipse">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8880" bIns="38880" anchor="ctr">
            <a:noAutofit/>
          </a:bodyPr>
          <a:p>
            <a:pPr algn="ctr" defTabSz="457200">
              <a:lnSpc>
                <a:spcPct val="100000"/>
              </a:lnSpc>
            </a:pPr>
            <a:endParaRPr b="0" lang="en-US" sz="1800" spc="-1" strike="noStrike">
              <a:solidFill>
                <a:schemeClr val="lt1"/>
              </a:solidFill>
              <a:latin typeface="Arial"/>
            </a:endParaRPr>
          </a:p>
        </p:txBody>
      </p:sp>
      <p:sp>
        <p:nvSpPr>
          <p:cNvPr id="222" name="TextBox 36"/>
          <p:cNvSpPr/>
          <p:nvPr/>
        </p:nvSpPr>
        <p:spPr>
          <a:xfrm>
            <a:off x="5815440" y="4965120"/>
            <a:ext cx="219420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250" spc="-1" strike="noStrike">
                <a:solidFill>
                  <a:srgbClr val="34d399"/>
                </a:solidFill>
                <a:latin typeface="Inter"/>
              </a:rPr>
              <a:t>Faible</a:t>
            </a:r>
            <a:endParaRPr b="0" lang="fr-FR" sz="1250" spc="-1" strike="noStrike">
              <a:solidFill>
                <a:srgbClr val="000000"/>
              </a:solidFill>
              <a:latin typeface="Arial"/>
            </a:endParaRPr>
          </a:p>
        </p:txBody>
      </p:sp>
      <p:sp>
        <p:nvSpPr>
          <p:cNvPr id="223" name="TextBox 37"/>
          <p:cNvSpPr/>
          <p:nvPr/>
        </p:nvSpPr>
        <p:spPr>
          <a:xfrm>
            <a:off x="8211240" y="4965120"/>
            <a:ext cx="146268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93a79d"/>
                </a:solidFill>
                <a:latin typeface="JetBrains Mono"/>
              </a:rPr>
              <a:t>0.54</a:t>
            </a:r>
            <a:endParaRPr b="0" lang="fr-FR" sz="1250" spc="-1" strike="noStrike">
              <a:solidFill>
                <a:srgbClr val="000000"/>
              </a:solidFill>
              <a:latin typeface="Arial"/>
            </a:endParaRPr>
          </a:p>
        </p:txBody>
      </p:sp>
      <p:sp>
        <p:nvSpPr>
          <p:cNvPr id="224" name="TextBox 38"/>
          <p:cNvSpPr/>
          <p:nvPr/>
        </p:nvSpPr>
        <p:spPr>
          <a:xfrm>
            <a:off x="9902880" y="4965120"/>
            <a:ext cx="1554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93a79d"/>
                </a:solidFill>
                <a:latin typeface="Inter"/>
              </a:rPr>
              <a:t>incertain</a:t>
            </a:r>
            <a:endParaRPr b="0" lang="fr-FR" sz="1250" spc="-1" strike="noStrike">
              <a:solidFill>
                <a:srgbClr val="000000"/>
              </a:solidFill>
              <a:latin typeface="Arial"/>
            </a:endParaRPr>
          </a:p>
        </p:txBody>
      </p:sp>
      <p:sp>
        <p:nvSpPr>
          <p:cNvPr id="225" name="TextBox 39"/>
          <p:cNvSpPr/>
          <p:nvPr/>
        </p:nvSpPr>
        <p:spPr>
          <a:xfrm>
            <a:off x="713160" y="5577840"/>
            <a:ext cx="10789560" cy="216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i="1" lang="en-US" sz="1200" spc="-1" strike="noStrike">
                <a:solidFill>
                  <a:srgbClr val="93a79d"/>
                </a:solidFill>
                <a:latin typeface="Inter"/>
              </a:rPr>
              <a:t>Chaque ligne garde sa source, sa date de passage satellite et son statut de validation.</a:t>
            </a:r>
            <a:endParaRPr b="0" lang="fr-FR"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27"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228"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229"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07 / 15</a:t>
            </a:r>
            <a:endParaRPr b="0" lang="fr-FR" sz="900" spc="-1" strike="noStrike">
              <a:solidFill>
                <a:srgbClr val="000000"/>
              </a:solidFill>
              <a:latin typeface="Arial"/>
            </a:endParaRPr>
          </a:p>
        </p:txBody>
      </p:sp>
      <p:sp>
        <p:nvSpPr>
          <p:cNvPr id="230"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31"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POURQUOI L'IA</a:t>
            </a:r>
            <a:endParaRPr b="0" lang="fr-FR" sz="1100" spc="-1" strike="noStrike">
              <a:solidFill>
                <a:srgbClr val="000000"/>
              </a:solidFill>
              <a:latin typeface="Arial"/>
            </a:endParaRPr>
          </a:p>
        </p:txBody>
      </p:sp>
      <p:sp>
        <p:nvSpPr>
          <p:cNvPr id="232" name="TextBox 7"/>
          <p:cNvSpPr/>
          <p:nvPr/>
        </p:nvSpPr>
        <p:spPr>
          <a:xfrm>
            <a:off x="713160" y="932760"/>
            <a:ext cx="10764720" cy="96948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3000" spc="-1" strike="noStrike">
                <a:solidFill>
                  <a:srgbClr val="e9f2ed"/>
                </a:solidFill>
                <a:latin typeface="Space Grotesk"/>
              </a:rPr>
              <a:t>L'IA n'est pas un ajout.</a:t>
            </a:r>
            <a:endParaRPr b="0" lang="fr-FR" sz="3000" spc="-1" strike="noStrike">
              <a:solidFill>
                <a:srgbClr val="000000"/>
              </a:solidFill>
              <a:latin typeface="Arial"/>
            </a:endParaRPr>
          </a:p>
          <a:p>
            <a:pPr defTabSz="457200">
              <a:lnSpc>
                <a:spcPct val="106000"/>
              </a:lnSpc>
            </a:pPr>
            <a:r>
              <a:rPr b="1" lang="en-US" sz="3000" spc="-1" strike="noStrike">
                <a:solidFill>
                  <a:srgbClr val="e9f2ed"/>
                </a:solidFill>
                <a:latin typeface="Space Grotesk"/>
              </a:rPr>
              <a:t>Elle est le mécanisme.</a:t>
            </a:r>
            <a:endParaRPr b="0" lang="fr-FR" sz="3000" spc="-1" strike="noStrike">
              <a:solidFill>
                <a:srgbClr val="000000"/>
              </a:solidFill>
              <a:latin typeface="Arial"/>
            </a:endParaRPr>
          </a:p>
        </p:txBody>
      </p:sp>
      <p:sp>
        <p:nvSpPr>
          <p:cNvPr id="233" name="TextBox 8"/>
          <p:cNvSpPr/>
          <p:nvPr/>
        </p:nvSpPr>
        <p:spPr>
          <a:xfrm>
            <a:off x="713160" y="2487240"/>
            <a:ext cx="10789560" cy="304920"/>
          </a:xfrm>
          <a:prstGeom prst="rect">
            <a:avLst/>
          </a:prstGeom>
          <a:noFill/>
          <a:ln w="0">
            <a:noFill/>
          </a:ln>
        </p:spPr>
        <p:style>
          <a:lnRef idx="0"/>
          <a:fillRef idx="0"/>
          <a:effectRef idx="0"/>
          <a:fontRef idx="minor"/>
        </p:style>
        <p:txBody>
          <a:bodyPr lIns="0" rIns="0" tIns="0" bIns="0" anchor="t">
            <a:spAutoFit/>
          </a:bodyPr>
          <a:p>
            <a:pPr defTabSz="457200">
              <a:lnSpc>
                <a:spcPct val="125000"/>
              </a:lnSpc>
            </a:pPr>
            <a:r>
              <a:rPr b="0" lang="en-US" sz="1600" spc="-1" strike="noStrike">
                <a:solidFill>
                  <a:srgbClr val="d9b48f"/>
                </a:solidFill>
                <a:latin typeface="Inter"/>
              </a:rPr>
              <a:t>Seule l'imagerie satellite peut rafraîchir la carte de 33 communes, chaque saison.</a:t>
            </a:r>
            <a:endParaRPr b="0" lang="fr-FR" sz="1600" spc="-1" strike="noStrike">
              <a:solidFill>
                <a:srgbClr val="000000"/>
              </a:solidFill>
              <a:latin typeface="Arial"/>
            </a:endParaRPr>
          </a:p>
        </p:txBody>
      </p:sp>
      <p:sp>
        <p:nvSpPr>
          <p:cNvPr id="234" name="Rounded Rectangle 9"/>
          <p:cNvSpPr/>
          <p:nvPr/>
        </p:nvSpPr>
        <p:spPr>
          <a:xfrm>
            <a:off x="713160" y="3246120"/>
            <a:ext cx="3405240" cy="21484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35" name="Rectangle 10"/>
          <p:cNvSpPr/>
          <p:nvPr/>
        </p:nvSpPr>
        <p:spPr>
          <a:xfrm>
            <a:off x="713160" y="3235320"/>
            <a:ext cx="3405240" cy="4536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36" name="TextBox 11"/>
          <p:cNvSpPr/>
          <p:nvPr/>
        </p:nvSpPr>
        <p:spPr>
          <a:xfrm>
            <a:off x="951120" y="3538800"/>
            <a:ext cx="2929680" cy="25632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L'échelle</a:t>
            </a:r>
            <a:endParaRPr b="0" lang="fr-FR" sz="1500" spc="-1" strike="noStrike">
              <a:solidFill>
                <a:srgbClr val="000000"/>
              </a:solidFill>
              <a:latin typeface="Arial"/>
            </a:endParaRPr>
          </a:p>
        </p:txBody>
      </p:sp>
      <p:sp>
        <p:nvSpPr>
          <p:cNvPr id="237" name="TextBox 12"/>
          <p:cNvSpPr/>
          <p:nvPr/>
        </p:nvSpPr>
        <p:spPr>
          <a:xfrm>
            <a:off x="951120" y="3972960"/>
            <a:ext cx="2929680" cy="98964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1 585 km de couloirs</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sur 33 communes.</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Aucune brigade ne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les arpente chaque année.</a:t>
            </a:r>
            <a:endParaRPr b="0" lang="fr-FR" sz="1250" spc="-1" strike="noStrike">
              <a:solidFill>
                <a:srgbClr val="000000"/>
              </a:solidFill>
              <a:latin typeface="Arial"/>
            </a:endParaRPr>
          </a:p>
        </p:txBody>
      </p:sp>
      <p:sp>
        <p:nvSpPr>
          <p:cNvPr id="238" name="Rounded Rectangle 13"/>
          <p:cNvSpPr/>
          <p:nvPr/>
        </p:nvSpPr>
        <p:spPr>
          <a:xfrm>
            <a:off x="4393080" y="3246120"/>
            <a:ext cx="3405240" cy="21484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39" name="Rectangle 14"/>
          <p:cNvSpPr/>
          <p:nvPr/>
        </p:nvSpPr>
        <p:spPr>
          <a:xfrm>
            <a:off x="4393080" y="3235320"/>
            <a:ext cx="340524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40" name="TextBox 15"/>
          <p:cNvSpPr/>
          <p:nvPr/>
        </p:nvSpPr>
        <p:spPr>
          <a:xfrm>
            <a:off x="4630680" y="3538800"/>
            <a:ext cx="2929680" cy="25632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La cadence</a:t>
            </a:r>
            <a:endParaRPr b="0" lang="fr-FR" sz="1500" spc="-1" strike="noStrike">
              <a:solidFill>
                <a:srgbClr val="000000"/>
              </a:solidFill>
              <a:latin typeface="Arial"/>
            </a:endParaRPr>
          </a:p>
        </p:txBody>
      </p:sp>
      <p:sp>
        <p:nvSpPr>
          <p:cNvPr id="241" name="TextBox 16"/>
          <p:cNvSpPr/>
          <p:nvPr/>
        </p:nvSpPr>
        <p:spPr>
          <a:xfrm>
            <a:off x="4630680" y="3972960"/>
            <a:ext cx="2929680" cy="98964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Sentinel-2 repasse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tous les 5 jours.</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La carte peut suivre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le rythme des champs.</a:t>
            </a:r>
            <a:endParaRPr b="0" lang="fr-FR" sz="1250" spc="-1" strike="noStrike">
              <a:solidFill>
                <a:srgbClr val="000000"/>
              </a:solidFill>
              <a:latin typeface="Arial"/>
            </a:endParaRPr>
          </a:p>
        </p:txBody>
      </p:sp>
      <p:sp>
        <p:nvSpPr>
          <p:cNvPr id="242" name="Rounded Rectangle 17"/>
          <p:cNvSpPr/>
          <p:nvPr/>
        </p:nvSpPr>
        <p:spPr>
          <a:xfrm>
            <a:off x="8073000" y="3246120"/>
            <a:ext cx="3405240" cy="21484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43" name="Rectangle 18"/>
          <p:cNvSpPr/>
          <p:nvPr/>
        </p:nvSpPr>
        <p:spPr>
          <a:xfrm>
            <a:off x="8073000" y="3235320"/>
            <a:ext cx="3405240" cy="453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44" name="TextBox 19"/>
          <p:cNvSpPr/>
          <p:nvPr/>
        </p:nvSpPr>
        <p:spPr>
          <a:xfrm>
            <a:off x="8310600" y="3538800"/>
            <a:ext cx="2929680" cy="25632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Le signal</a:t>
            </a:r>
            <a:endParaRPr b="0" lang="fr-FR" sz="1500" spc="-1" strike="noStrike">
              <a:solidFill>
                <a:srgbClr val="000000"/>
              </a:solidFill>
              <a:latin typeface="Arial"/>
            </a:endParaRPr>
          </a:p>
        </p:txBody>
      </p:sp>
      <p:sp>
        <p:nvSpPr>
          <p:cNvPr id="245" name="TextBox 20"/>
          <p:cNvSpPr/>
          <p:nvPr/>
        </p:nvSpPr>
        <p:spPr>
          <a:xfrm>
            <a:off x="8310600" y="3972960"/>
            <a:ext cx="2929680" cy="98964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Distinguer sol nu,</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jachère et culture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demande un modèle,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pas un seuil.</a:t>
            </a:r>
            <a:endParaRPr b="0" lang="fr-FR" sz="12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47"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248"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249"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08 / 15</a:t>
            </a:r>
            <a:endParaRPr b="0" lang="fr-FR" sz="900" spc="-1" strike="noStrike">
              <a:solidFill>
                <a:srgbClr val="000000"/>
              </a:solidFill>
              <a:latin typeface="Arial"/>
            </a:endParaRPr>
          </a:p>
        </p:txBody>
      </p:sp>
      <p:sp>
        <p:nvSpPr>
          <p:cNvPr id="250"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51"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LE MODÈLE</a:t>
            </a:r>
            <a:endParaRPr b="0" lang="fr-FR" sz="1100" spc="-1" strike="noStrike">
              <a:solidFill>
                <a:srgbClr val="000000"/>
              </a:solidFill>
              <a:latin typeface="Arial"/>
            </a:endParaRPr>
          </a:p>
        </p:txBody>
      </p:sp>
      <p:sp>
        <p:nvSpPr>
          <p:cNvPr id="252" name="TextBox 7"/>
          <p:cNvSpPr/>
          <p:nvPr/>
        </p:nvSpPr>
        <p:spPr>
          <a:xfrm>
            <a:off x="713160" y="932760"/>
            <a:ext cx="10764720" cy="4849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3000" spc="-1" strike="noStrike">
                <a:solidFill>
                  <a:srgbClr val="e9f2ed"/>
                </a:solidFill>
                <a:latin typeface="Space Grotesk"/>
              </a:rPr>
              <a:t>Un classifieur réellement entraîné.</a:t>
            </a:r>
            <a:endParaRPr b="0" lang="fr-FR" sz="3000" spc="-1" strike="noStrike">
              <a:solidFill>
                <a:srgbClr val="000000"/>
              </a:solidFill>
              <a:latin typeface="Arial"/>
            </a:endParaRPr>
          </a:p>
        </p:txBody>
      </p:sp>
      <p:sp>
        <p:nvSpPr>
          <p:cNvPr id="253" name="TextBox 8"/>
          <p:cNvSpPr/>
          <p:nvPr/>
        </p:nvSpPr>
        <p:spPr>
          <a:xfrm>
            <a:off x="713160" y="1613880"/>
            <a:ext cx="10216080" cy="273600"/>
          </a:xfrm>
          <a:prstGeom prst="rect">
            <a:avLst/>
          </a:prstGeom>
          <a:noFill/>
          <a:ln w="0">
            <a:noFill/>
          </a:ln>
        </p:spPr>
        <p:style>
          <a:lnRef idx="0"/>
          <a:fillRef idx="0"/>
          <a:effectRef idx="0"/>
          <a:fontRef idx="minor"/>
        </p:style>
        <p:txBody>
          <a:bodyPr lIns="0" rIns="0" tIns="0" bIns="0" anchor="t">
            <a:spAutoFit/>
          </a:bodyPr>
          <a:p>
            <a:pPr defTabSz="457200">
              <a:lnSpc>
                <a:spcPct val="128000"/>
              </a:lnSpc>
            </a:pPr>
            <a:r>
              <a:rPr b="0" lang="en-US" sz="1400" spc="-1" strike="noStrike">
                <a:solidFill>
                  <a:srgbClr val="93a79d"/>
                </a:solidFill>
                <a:latin typeface="Inter"/>
              </a:rPr>
              <a:t>Métriques mesurées sur un jeu de test tenu à l'écart, pas des valeurs annoncées.</a:t>
            </a:r>
            <a:endParaRPr b="0" lang="fr-FR" sz="1400" spc="-1" strike="noStrike">
              <a:solidFill>
                <a:srgbClr val="000000"/>
              </a:solidFill>
              <a:latin typeface="Arial"/>
            </a:endParaRPr>
          </a:p>
        </p:txBody>
      </p:sp>
      <p:sp>
        <p:nvSpPr>
          <p:cNvPr id="254" name="Rounded Rectangle 9"/>
          <p:cNvSpPr/>
          <p:nvPr/>
        </p:nvSpPr>
        <p:spPr>
          <a:xfrm>
            <a:off x="713160" y="2121480"/>
            <a:ext cx="1962360" cy="93240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55" name="Rectangle 10"/>
          <p:cNvSpPr/>
          <p:nvPr/>
        </p:nvSpPr>
        <p:spPr>
          <a:xfrm>
            <a:off x="713160" y="2110320"/>
            <a:ext cx="196236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56" name="TextBox 11"/>
          <p:cNvSpPr/>
          <p:nvPr/>
        </p:nvSpPr>
        <p:spPr>
          <a:xfrm>
            <a:off x="713160" y="2368440"/>
            <a:ext cx="1962360" cy="378000"/>
          </a:xfrm>
          <a:prstGeom prst="rect">
            <a:avLst/>
          </a:prstGeom>
          <a:noFill/>
          <a:ln w="0">
            <a:noFill/>
          </a:ln>
        </p:spPr>
        <p:style>
          <a:lnRef idx="0"/>
          <a:fillRef idx="0"/>
          <a:effectRef idx="0"/>
          <a:fontRef idx="minor"/>
        </p:style>
        <p:txBody>
          <a:bodyPr lIns="0" rIns="0" tIns="0" bIns="0" anchor="t">
            <a:spAutoFit/>
          </a:bodyPr>
          <a:p>
            <a:pPr algn="ctr" defTabSz="457200">
              <a:lnSpc>
                <a:spcPct val="118000"/>
              </a:lnSpc>
            </a:pPr>
            <a:r>
              <a:rPr b="1" lang="en-US" sz="2100" spc="-1" strike="noStrike">
                <a:solidFill>
                  <a:srgbClr val="34d399"/>
                </a:solidFill>
                <a:latin typeface="JetBrains Mono"/>
              </a:rPr>
              <a:t>0,9528</a:t>
            </a:r>
            <a:endParaRPr b="0" lang="fr-FR" sz="2100" spc="-1" strike="noStrike">
              <a:solidFill>
                <a:srgbClr val="000000"/>
              </a:solidFill>
              <a:latin typeface="Arial"/>
            </a:endParaRPr>
          </a:p>
        </p:txBody>
      </p:sp>
      <p:sp>
        <p:nvSpPr>
          <p:cNvPr id="257" name="TextBox 12"/>
          <p:cNvSpPr/>
          <p:nvPr/>
        </p:nvSpPr>
        <p:spPr>
          <a:xfrm>
            <a:off x="713160" y="2752200"/>
            <a:ext cx="1962360" cy="188640"/>
          </a:xfrm>
          <a:prstGeom prst="rect">
            <a:avLst/>
          </a:prstGeom>
          <a:noFill/>
          <a:ln w="0">
            <a:noFill/>
          </a:ln>
        </p:spPr>
        <p:style>
          <a:lnRef idx="0"/>
          <a:fillRef idx="0"/>
          <a:effectRef idx="0"/>
          <a:fontRef idx="minor"/>
        </p:style>
        <p:txBody>
          <a:bodyPr lIns="0" rIns="0" tIns="0" bIns="0" anchor="t">
            <a:spAutoFit/>
          </a:bodyPr>
          <a:p>
            <a:pPr algn="ctr" defTabSz="457200">
              <a:lnSpc>
                <a:spcPct val="118000"/>
              </a:lnSpc>
            </a:pPr>
            <a:r>
              <a:rPr b="0" lang="en-US" sz="1050" spc="-1" strike="noStrike">
                <a:solidFill>
                  <a:srgbClr val="93a79d"/>
                </a:solidFill>
                <a:latin typeface="Inter"/>
              </a:rPr>
              <a:t>exactitude</a:t>
            </a:r>
            <a:endParaRPr b="0" lang="fr-FR" sz="1050" spc="-1" strike="noStrike">
              <a:solidFill>
                <a:srgbClr val="000000"/>
              </a:solidFill>
              <a:latin typeface="Arial"/>
            </a:endParaRPr>
          </a:p>
        </p:txBody>
      </p:sp>
      <p:sp>
        <p:nvSpPr>
          <p:cNvPr id="258" name="Rounded Rectangle 13"/>
          <p:cNvSpPr/>
          <p:nvPr/>
        </p:nvSpPr>
        <p:spPr>
          <a:xfrm>
            <a:off x="2913840" y="2121480"/>
            <a:ext cx="1962360" cy="93240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59" name="Rectangle 14"/>
          <p:cNvSpPr/>
          <p:nvPr/>
        </p:nvSpPr>
        <p:spPr>
          <a:xfrm>
            <a:off x="2913840" y="2110320"/>
            <a:ext cx="196236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60" name="TextBox 15"/>
          <p:cNvSpPr/>
          <p:nvPr/>
        </p:nvSpPr>
        <p:spPr>
          <a:xfrm>
            <a:off x="2913840" y="2368440"/>
            <a:ext cx="1962360" cy="378000"/>
          </a:xfrm>
          <a:prstGeom prst="rect">
            <a:avLst/>
          </a:prstGeom>
          <a:noFill/>
          <a:ln w="0">
            <a:noFill/>
          </a:ln>
        </p:spPr>
        <p:style>
          <a:lnRef idx="0"/>
          <a:fillRef idx="0"/>
          <a:effectRef idx="0"/>
          <a:fontRef idx="minor"/>
        </p:style>
        <p:txBody>
          <a:bodyPr lIns="0" rIns="0" tIns="0" bIns="0" anchor="t">
            <a:spAutoFit/>
          </a:bodyPr>
          <a:p>
            <a:pPr algn="ctr" defTabSz="457200">
              <a:lnSpc>
                <a:spcPct val="118000"/>
              </a:lnSpc>
            </a:pPr>
            <a:r>
              <a:rPr b="1" lang="en-US" sz="2100" spc="-1" strike="noStrike">
                <a:solidFill>
                  <a:srgbClr val="34d399"/>
                </a:solidFill>
                <a:latin typeface="JetBrains Mono"/>
              </a:rPr>
              <a:t>0,902</a:t>
            </a:r>
            <a:endParaRPr b="0" lang="fr-FR" sz="2100" spc="-1" strike="noStrike">
              <a:solidFill>
                <a:srgbClr val="000000"/>
              </a:solidFill>
              <a:latin typeface="Arial"/>
            </a:endParaRPr>
          </a:p>
        </p:txBody>
      </p:sp>
      <p:sp>
        <p:nvSpPr>
          <p:cNvPr id="261" name="TextBox 16"/>
          <p:cNvSpPr/>
          <p:nvPr/>
        </p:nvSpPr>
        <p:spPr>
          <a:xfrm>
            <a:off x="2913840" y="2752200"/>
            <a:ext cx="1962360" cy="188640"/>
          </a:xfrm>
          <a:prstGeom prst="rect">
            <a:avLst/>
          </a:prstGeom>
          <a:noFill/>
          <a:ln w="0">
            <a:noFill/>
          </a:ln>
        </p:spPr>
        <p:style>
          <a:lnRef idx="0"/>
          <a:fillRef idx="0"/>
          <a:effectRef idx="0"/>
          <a:fontRef idx="minor"/>
        </p:style>
        <p:txBody>
          <a:bodyPr lIns="0" rIns="0" tIns="0" bIns="0" anchor="t">
            <a:spAutoFit/>
          </a:bodyPr>
          <a:p>
            <a:pPr algn="ctr" defTabSz="457200">
              <a:lnSpc>
                <a:spcPct val="118000"/>
              </a:lnSpc>
            </a:pPr>
            <a:r>
              <a:rPr b="0" lang="en-US" sz="1050" spc="-1" strike="noStrike">
                <a:solidFill>
                  <a:srgbClr val="93a79d"/>
                </a:solidFill>
                <a:latin typeface="Inter"/>
              </a:rPr>
              <a:t>précision</a:t>
            </a:r>
            <a:endParaRPr b="0" lang="fr-FR" sz="1050" spc="-1" strike="noStrike">
              <a:solidFill>
                <a:srgbClr val="000000"/>
              </a:solidFill>
              <a:latin typeface="Arial"/>
            </a:endParaRPr>
          </a:p>
        </p:txBody>
      </p:sp>
      <p:sp>
        <p:nvSpPr>
          <p:cNvPr id="262" name="Rounded Rectangle 17"/>
          <p:cNvSpPr/>
          <p:nvPr/>
        </p:nvSpPr>
        <p:spPr>
          <a:xfrm>
            <a:off x="5114520" y="2121480"/>
            <a:ext cx="1962360" cy="93240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63" name="Rectangle 18"/>
          <p:cNvSpPr/>
          <p:nvPr/>
        </p:nvSpPr>
        <p:spPr>
          <a:xfrm>
            <a:off x="5114520" y="2110320"/>
            <a:ext cx="196236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64" name="TextBox 19"/>
          <p:cNvSpPr/>
          <p:nvPr/>
        </p:nvSpPr>
        <p:spPr>
          <a:xfrm>
            <a:off x="5114520" y="2368440"/>
            <a:ext cx="1962360" cy="378000"/>
          </a:xfrm>
          <a:prstGeom prst="rect">
            <a:avLst/>
          </a:prstGeom>
          <a:noFill/>
          <a:ln w="0">
            <a:noFill/>
          </a:ln>
        </p:spPr>
        <p:style>
          <a:lnRef idx="0"/>
          <a:fillRef idx="0"/>
          <a:effectRef idx="0"/>
          <a:fontRef idx="minor"/>
        </p:style>
        <p:txBody>
          <a:bodyPr lIns="0" rIns="0" tIns="0" bIns="0" anchor="t">
            <a:spAutoFit/>
          </a:bodyPr>
          <a:p>
            <a:pPr algn="ctr" defTabSz="457200">
              <a:lnSpc>
                <a:spcPct val="118000"/>
              </a:lnSpc>
            </a:pPr>
            <a:r>
              <a:rPr b="1" lang="en-US" sz="2100" spc="-1" strike="noStrike">
                <a:solidFill>
                  <a:srgbClr val="34d399"/>
                </a:solidFill>
                <a:latin typeface="JetBrains Mono"/>
              </a:rPr>
              <a:t>0,8618</a:t>
            </a:r>
            <a:endParaRPr b="0" lang="fr-FR" sz="2100" spc="-1" strike="noStrike">
              <a:solidFill>
                <a:srgbClr val="000000"/>
              </a:solidFill>
              <a:latin typeface="Arial"/>
            </a:endParaRPr>
          </a:p>
        </p:txBody>
      </p:sp>
      <p:sp>
        <p:nvSpPr>
          <p:cNvPr id="265" name="TextBox 20"/>
          <p:cNvSpPr/>
          <p:nvPr/>
        </p:nvSpPr>
        <p:spPr>
          <a:xfrm>
            <a:off x="5114520" y="2752200"/>
            <a:ext cx="1962360" cy="188640"/>
          </a:xfrm>
          <a:prstGeom prst="rect">
            <a:avLst/>
          </a:prstGeom>
          <a:noFill/>
          <a:ln w="0">
            <a:noFill/>
          </a:ln>
        </p:spPr>
        <p:style>
          <a:lnRef idx="0"/>
          <a:fillRef idx="0"/>
          <a:effectRef idx="0"/>
          <a:fontRef idx="minor"/>
        </p:style>
        <p:txBody>
          <a:bodyPr lIns="0" rIns="0" tIns="0" bIns="0" anchor="t">
            <a:spAutoFit/>
          </a:bodyPr>
          <a:p>
            <a:pPr algn="ctr" defTabSz="457200">
              <a:lnSpc>
                <a:spcPct val="118000"/>
              </a:lnSpc>
            </a:pPr>
            <a:r>
              <a:rPr b="0" lang="en-US" sz="1050" spc="-1" strike="noStrike">
                <a:solidFill>
                  <a:srgbClr val="93a79d"/>
                </a:solidFill>
                <a:latin typeface="Inter"/>
              </a:rPr>
              <a:t>rappel</a:t>
            </a:r>
            <a:endParaRPr b="0" lang="fr-FR" sz="1050" spc="-1" strike="noStrike">
              <a:solidFill>
                <a:srgbClr val="000000"/>
              </a:solidFill>
              <a:latin typeface="Arial"/>
            </a:endParaRPr>
          </a:p>
        </p:txBody>
      </p:sp>
      <p:sp>
        <p:nvSpPr>
          <p:cNvPr id="266" name="Rounded Rectangle 21"/>
          <p:cNvSpPr/>
          <p:nvPr/>
        </p:nvSpPr>
        <p:spPr>
          <a:xfrm>
            <a:off x="7314840" y="2121480"/>
            <a:ext cx="1962360" cy="93240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67" name="Rectangle 22"/>
          <p:cNvSpPr/>
          <p:nvPr/>
        </p:nvSpPr>
        <p:spPr>
          <a:xfrm>
            <a:off x="7314840" y="2110320"/>
            <a:ext cx="196236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68" name="TextBox 23"/>
          <p:cNvSpPr/>
          <p:nvPr/>
        </p:nvSpPr>
        <p:spPr>
          <a:xfrm>
            <a:off x="7314840" y="2368440"/>
            <a:ext cx="1962360" cy="378000"/>
          </a:xfrm>
          <a:prstGeom prst="rect">
            <a:avLst/>
          </a:prstGeom>
          <a:noFill/>
          <a:ln w="0">
            <a:noFill/>
          </a:ln>
        </p:spPr>
        <p:style>
          <a:lnRef idx="0"/>
          <a:fillRef idx="0"/>
          <a:effectRef idx="0"/>
          <a:fontRef idx="minor"/>
        </p:style>
        <p:txBody>
          <a:bodyPr lIns="0" rIns="0" tIns="0" bIns="0" anchor="t">
            <a:spAutoFit/>
          </a:bodyPr>
          <a:p>
            <a:pPr algn="ctr" defTabSz="457200">
              <a:lnSpc>
                <a:spcPct val="118000"/>
              </a:lnSpc>
            </a:pPr>
            <a:r>
              <a:rPr b="1" lang="en-US" sz="2100" spc="-1" strike="noStrike">
                <a:solidFill>
                  <a:srgbClr val="34d399"/>
                </a:solidFill>
                <a:latin typeface="JetBrains Mono"/>
              </a:rPr>
              <a:t>0,8815</a:t>
            </a:r>
            <a:endParaRPr b="0" lang="fr-FR" sz="2100" spc="-1" strike="noStrike">
              <a:solidFill>
                <a:srgbClr val="000000"/>
              </a:solidFill>
              <a:latin typeface="Arial"/>
            </a:endParaRPr>
          </a:p>
        </p:txBody>
      </p:sp>
      <p:sp>
        <p:nvSpPr>
          <p:cNvPr id="269" name="TextBox 24"/>
          <p:cNvSpPr/>
          <p:nvPr/>
        </p:nvSpPr>
        <p:spPr>
          <a:xfrm>
            <a:off x="7314840" y="2752200"/>
            <a:ext cx="1962360" cy="188640"/>
          </a:xfrm>
          <a:prstGeom prst="rect">
            <a:avLst/>
          </a:prstGeom>
          <a:noFill/>
          <a:ln w="0">
            <a:noFill/>
          </a:ln>
        </p:spPr>
        <p:style>
          <a:lnRef idx="0"/>
          <a:fillRef idx="0"/>
          <a:effectRef idx="0"/>
          <a:fontRef idx="minor"/>
        </p:style>
        <p:txBody>
          <a:bodyPr lIns="0" rIns="0" tIns="0" bIns="0" anchor="t">
            <a:spAutoFit/>
          </a:bodyPr>
          <a:p>
            <a:pPr algn="ctr" defTabSz="457200">
              <a:lnSpc>
                <a:spcPct val="118000"/>
              </a:lnSpc>
            </a:pPr>
            <a:r>
              <a:rPr b="0" lang="en-US" sz="1050" spc="-1" strike="noStrike">
                <a:solidFill>
                  <a:srgbClr val="93a79d"/>
                </a:solidFill>
                <a:latin typeface="Inter"/>
              </a:rPr>
              <a:t>F1</a:t>
            </a:r>
            <a:endParaRPr b="0" lang="fr-FR" sz="1050" spc="-1" strike="noStrike">
              <a:solidFill>
                <a:srgbClr val="000000"/>
              </a:solidFill>
              <a:latin typeface="Arial"/>
            </a:endParaRPr>
          </a:p>
        </p:txBody>
      </p:sp>
      <p:sp>
        <p:nvSpPr>
          <p:cNvPr id="270" name="Rounded Rectangle 25"/>
          <p:cNvSpPr/>
          <p:nvPr/>
        </p:nvSpPr>
        <p:spPr>
          <a:xfrm>
            <a:off x="9515520" y="2121480"/>
            <a:ext cx="1962360" cy="93240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71" name="Rectangle 26"/>
          <p:cNvSpPr/>
          <p:nvPr/>
        </p:nvSpPr>
        <p:spPr>
          <a:xfrm>
            <a:off x="9515520" y="2110320"/>
            <a:ext cx="196236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72" name="TextBox 27"/>
          <p:cNvSpPr/>
          <p:nvPr/>
        </p:nvSpPr>
        <p:spPr>
          <a:xfrm>
            <a:off x="9515520" y="2368440"/>
            <a:ext cx="1962360" cy="378000"/>
          </a:xfrm>
          <a:prstGeom prst="rect">
            <a:avLst/>
          </a:prstGeom>
          <a:noFill/>
          <a:ln w="0">
            <a:noFill/>
          </a:ln>
        </p:spPr>
        <p:style>
          <a:lnRef idx="0"/>
          <a:fillRef idx="0"/>
          <a:effectRef idx="0"/>
          <a:fontRef idx="minor"/>
        </p:style>
        <p:txBody>
          <a:bodyPr lIns="0" rIns="0" tIns="0" bIns="0" anchor="t">
            <a:spAutoFit/>
          </a:bodyPr>
          <a:p>
            <a:pPr algn="ctr" defTabSz="457200">
              <a:lnSpc>
                <a:spcPct val="118000"/>
              </a:lnSpc>
            </a:pPr>
            <a:r>
              <a:rPr b="1" lang="en-US" sz="2100" spc="-1" strike="noStrike">
                <a:solidFill>
                  <a:srgbClr val="34d399"/>
                </a:solidFill>
                <a:latin typeface="JetBrains Mono"/>
              </a:rPr>
              <a:t>0,9866</a:t>
            </a:r>
            <a:endParaRPr b="0" lang="fr-FR" sz="2100" spc="-1" strike="noStrike">
              <a:solidFill>
                <a:srgbClr val="000000"/>
              </a:solidFill>
              <a:latin typeface="Arial"/>
            </a:endParaRPr>
          </a:p>
        </p:txBody>
      </p:sp>
      <p:sp>
        <p:nvSpPr>
          <p:cNvPr id="273" name="TextBox 28"/>
          <p:cNvSpPr/>
          <p:nvPr/>
        </p:nvSpPr>
        <p:spPr>
          <a:xfrm>
            <a:off x="9515520" y="2752200"/>
            <a:ext cx="1962360" cy="188640"/>
          </a:xfrm>
          <a:prstGeom prst="rect">
            <a:avLst/>
          </a:prstGeom>
          <a:noFill/>
          <a:ln w="0">
            <a:noFill/>
          </a:ln>
        </p:spPr>
        <p:style>
          <a:lnRef idx="0"/>
          <a:fillRef idx="0"/>
          <a:effectRef idx="0"/>
          <a:fontRef idx="minor"/>
        </p:style>
        <p:txBody>
          <a:bodyPr lIns="0" rIns="0" tIns="0" bIns="0" anchor="t">
            <a:spAutoFit/>
          </a:bodyPr>
          <a:p>
            <a:pPr algn="ctr" defTabSz="457200">
              <a:lnSpc>
                <a:spcPct val="118000"/>
              </a:lnSpc>
            </a:pPr>
            <a:r>
              <a:rPr b="0" lang="en-US" sz="1050" spc="-1" strike="noStrike">
                <a:solidFill>
                  <a:srgbClr val="93a79d"/>
                </a:solidFill>
                <a:latin typeface="Inter"/>
              </a:rPr>
              <a:t>ROC-AUC</a:t>
            </a:r>
            <a:endParaRPr b="0" lang="fr-FR" sz="1050" spc="-1" strike="noStrike">
              <a:solidFill>
                <a:srgbClr val="000000"/>
              </a:solidFill>
              <a:latin typeface="Arial"/>
            </a:endParaRPr>
          </a:p>
        </p:txBody>
      </p:sp>
      <p:sp>
        <p:nvSpPr>
          <p:cNvPr id="274" name="Rounded Rectangle 29"/>
          <p:cNvSpPr/>
          <p:nvPr/>
        </p:nvSpPr>
        <p:spPr>
          <a:xfrm>
            <a:off x="713160" y="3218760"/>
            <a:ext cx="3405240" cy="198684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75" name="Rectangle 30"/>
          <p:cNvSpPr/>
          <p:nvPr/>
        </p:nvSpPr>
        <p:spPr>
          <a:xfrm>
            <a:off x="713160" y="3207600"/>
            <a:ext cx="340524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76" name="TextBox 31"/>
          <p:cNvSpPr/>
          <p:nvPr/>
        </p:nvSpPr>
        <p:spPr>
          <a:xfrm>
            <a:off x="951120" y="3511440"/>
            <a:ext cx="2929680" cy="25632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Entraînement</a:t>
            </a:r>
            <a:endParaRPr b="0" lang="fr-FR" sz="1500" spc="-1" strike="noStrike">
              <a:solidFill>
                <a:srgbClr val="000000"/>
              </a:solidFill>
              <a:latin typeface="Arial"/>
            </a:endParaRPr>
          </a:p>
        </p:txBody>
      </p:sp>
      <p:sp>
        <p:nvSpPr>
          <p:cNvPr id="277" name="TextBox 32"/>
          <p:cNvSpPr/>
          <p:nvPr/>
        </p:nvSpPr>
        <p:spPr>
          <a:xfrm>
            <a:off x="951120" y="3945600"/>
            <a:ext cx="2929680" cy="98964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EuroSAT, Sentinel-2 réel</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27 000 vignettes 64x64</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Split 21 600 / 5 400</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Test tenu à l'écart</a:t>
            </a:r>
            <a:endParaRPr b="0" lang="fr-FR" sz="1250" spc="-1" strike="noStrike">
              <a:solidFill>
                <a:srgbClr val="000000"/>
              </a:solidFill>
              <a:latin typeface="Arial"/>
            </a:endParaRPr>
          </a:p>
        </p:txBody>
      </p:sp>
      <p:sp>
        <p:nvSpPr>
          <p:cNvPr id="278" name="Rounded Rectangle 33"/>
          <p:cNvSpPr/>
          <p:nvPr/>
        </p:nvSpPr>
        <p:spPr>
          <a:xfrm>
            <a:off x="4393080" y="3218760"/>
            <a:ext cx="3405240" cy="198684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79" name="Rectangle 34"/>
          <p:cNvSpPr/>
          <p:nvPr/>
        </p:nvSpPr>
        <p:spPr>
          <a:xfrm>
            <a:off x="4393080" y="3207600"/>
            <a:ext cx="3405240" cy="453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80" name="TextBox 35"/>
          <p:cNvSpPr/>
          <p:nvPr/>
        </p:nvSpPr>
        <p:spPr>
          <a:xfrm>
            <a:off x="4630680" y="3511440"/>
            <a:ext cx="2929680" cy="25632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Algorithme</a:t>
            </a:r>
            <a:endParaRPr b="0" lang="fr-FR" sz="1500" spc="-1" strike="noStrike">
              <a:solidFill>
                <a:srgbClr val="000000"/>
              </a:solidFill>
              <a:latin typeface="Arial"/>
            </a:endParaRPr>
          </a:p>
        </p:txBody>
      </p:sp>
      <p:sp>
        <p:nvSpPr>
          <p:cNvPr id="281" name="TextBox 36"/>
          <p:cNvSpPr/>
          <p:nvPr/>
        </p:nvSpPr>
        <p:spPr>
          <a:xfrm>
            <a:off x="4630680" y="3945600"/>
            <a:ext cx="2929680" cy="98964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HistGradientBoosting</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35 caractéristiques</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ExG, GRVI, texture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Version ts-eurosat-1.0.0</a:t>
            </a:r>
            <a:endParaRPr b="0" lang="fr-FR" sz="1250" spc="-1" strike="noStrike">
              <a:solidFill>
                <a:srgbClr val="000000"/>
              </a:solidFill>
              <a:latin typeface="Arial"/>
            </a:endParaRPr>
          </a:p>
        </p:txBody>
      </p:sp>
      <p:sp>
        <p:nvSpPr>
          <p:cNvPr id="282" name="Rounded Rectangle 37"/>
          <p:cNvSpPr/>
          <p:nvPr/>
        </p:nvSpPr>
        <p:spPr>
          <a:xfrm>
            <a:off x="8073000" y="3218760"/>
            <a:ext cx="3405240" cy="198684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83" name="Rectangle 38"/>
          <p:cNvSpPr/>
          <p:nvPr/>
        </p:nvSpPr>
        <p:spPr>
          <a:xfrm>
            <a:off x="8073000" y="3207600"/>
            <a:ext cx="3405240" cy="4536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84" name="TextBox 39"/>
          <p:cNvSpPr/>
          <p:nvPr/>
        </p:nvSpPr>
        <p:spPr>
          <a:xfrm>
            <a:off x="8310600" y="3511440"/>
            <a:ext cx="2929680" cy="25632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Inférence, nord Bénin</a:t>
            </a:r>
            <a:endParaRPr b="0" lang="fr-FR" sz="1500" spc="-1" strike="noStrike">
              <a:solidFill>
                <a:srgbClr val="000000"/>
              </a:solidFill>
              <a:latin typeface="Arial"/>
            </a:endParaRPr>
          </a:p>
        </p:txBody>
      </p:sp>
      <p:sp>
        <p:nvSpPr>
          <p:cNvPr id="285" name="TextBox 40"/>
          <p:cNvSpPr/>
          <p:nvPr/>
        </p:nvSpPr>
        <p:spPr>
          <a:xfrm>
            <a:off x="8310600" y="3945600"/>
            <a:ext cx="2929680" cy="98964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Tuiles Sentinel-2 réelles</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Grille 8x8, mise en cache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Banikoara : 8 cellules</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en culture sur 64</a:t>
            </a:r>
            <a:endParaRPr b="0" lang="fr-FR" sz="1250" spc="-1" strike="noStrike">
              <a:solidFill>
                <a:srgbClr val="000000"/>
              </a:solidFill>
              <a:latin typeface="Arial"/>
            </a:endParaRPr>
          </a:p>
        </p:txBody>
      </p:sp>
      <p:sp>
        <p:nvSpPr>
          <p:cNvPr id="286" name="Rounded Rectangle 41"/>
          <p:cNvSpPr/>
          <p:nvPr/>
        </p:nvSpPr>
        <p:spPr>
          <a:xfrm>
            <a:off x="713160" y="5358240"/>
            <a:ext cx="10764720" cy="639720"/>
          </a:xfrm>
          <a:prstGeom prst="roundRect">
            <a:avLst>
              <a:gd name="adj" fmla="val 10000"/>
            </a:avLst>
          </a:prstGeom>
          <a:solidFill>
            <a:srgbClr val="11201a"/>
          </a:solidFill>
          <a:ln w="12700">
            <a:solidFill>
              <a:srgbClr val="f5b54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87" name="Rectangle 42"/>
          <p:cNvSpPr/>
          <p:nvPr/>
        </p:nvSpPr>
        <p:spPr>
          <a:xfrm>
            <a:off x="713160" y="5347440"/>
            <a:ext cx="10764720" cy="453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88" name="TextBox 43"/>
          <p:cNvSpPr/>
          <p:nvPr/>
        </p:nvSpPr>
        <p:spPr>
          <a:xfrm>
            <a:off x="1042560" y="5550480"/>
            <a:ext cx="10106640" cy="252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400" spc="-1" strike="noStrike">
                <a:solidFill>
                  <a:srgbClr val="e9f2ed"/>
                </a:solidFill>
                <a:latin typeface="Inter"/>
              </a:rPr>
              <a:t>Ces métriques décrivent EuroSAT, imagerie européenne, et non le Bénin.</a:t>
            </a:r>
            <a:endParaRPr b="0" lang="fr-FR"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90"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291"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292"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09 / 15</a:t>
            </a:r>
            <a:endParaRPr b="0" lang="fr-FR" sz="900" spc="-1" strike="noStrike">
              <a:solidFill>
                <a:srgbClr val="000000"/>
              </a:solidFill>
              <a:latin typeface="Arial"/>
            </a:endParaRPr>
          </a:p>
        </p:txBody>
      </p:sp>
      <p:sp>
        <p:nvSpPr>
          <p:cNvPr id="293"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94"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CHOIX TECHNIQUE ASSUMÉ</a:t>
            </a:r>
            <a:endParaRPr b="0" lang="fr-FR" sz="1100" spc="-1" strike="noStrike">
              <a:solidFill>
                <a:srgbClr val="000000"/>
              </a:solidFill>
              <a:latin typeface="Arial"/>
            </a:endParaRPr>
          </a:p>
        </p:txBody>
      </p:sp>
      <p:sp>
        <p:nvSpPr>
          <p:cNvPr id="295" name="TextBox 7"/>
          <p:cNvSpPr/>
          <p:nvPr/>
        </p:nvSpPr>
        <p:spPr>
          <a:xfrm>
            <a:off x="713160" y="932760"/>
            <a:ext cx="10764720" cy="4687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2900" spc="-1" strike="noStrike">
                <a:solidFill>
                  <a:srgbClr val="e9f2ed"/>
                </a:solidFill>
                <a:latin typeface="Space Grotesk"/>
              </a:rPr>
              <a:t>La saison de culture est la saison des pluies.</a:t>
            </a:r>
            <a:endParaRPr b="0" lang="fr-FR" sz="2900" spc="-1" strike="noStrike">
              <a:solidFill>
                <a:srgbClr val="000000"/>
              </a:solidFill>
              <a:latin typeface="Arial"/>
            </a:endParaRPr>
          </a:p>
        </p:txBody>
      </p:sp>
      <p:sp>
        <p:nvSpPr>
          <p:cNvPr id="296" name="TextBox 8"/>
          <p:cNvSpPr/>
          <p:nvPr/>
        </p:nvSpPr>
        <p:spPr>
          <a:xfrm>
            <a:off x="713160" y="1597680"/>
            <a:ext cx="10216080" cy="273600"/>
          </a:xfrm>
          <a:prstGeom prst="rect">
            <a:avLst/>
          </a:prstGeom>
          <a:noFill/>
          <a:ln w="0">
            <a:noFill/>
          </a:ln>
        </p:spPr>
        <p:style>
          <a:lnRef idx="0"/>
          <a:fillRef idx="0"/>
          <a:effectRef idx="0"/>
          <a:fontRef idx="minor"/>
        </p:style>
        <p:txBody>
          <a:bodyPr lIns="0" rIns="0" tIns="0" bIns="0" anchor="t">
            <a:spAutoFit/>
          </a:bodyPr>
          <a:p>
            <a:pPr defTabSz="457200">
              <a:lnSpc>
                <a:spcPct val="128000"/>
              </a:lnSpc>
            </a:pPr>
            <a:r>
              <a:rPr b="0" lang="en-US" sz="1400" spc="-1" strike="noStrike">
                <a:solidFill>
                  <a:srgbClr val="93a79d"/>
                </a:solidFill>
                <a:latin typeface="Inter"/>
              </a:rPr>
              <a:t>Donc la saison des nuages. C'est le premier obstacle réel, et il se traite.</a:t>
            </a:r>
            <a:endParaRPr b="0" lang="fr-FR" sz="1400" spc="-1" strike="noStrike">
              <a:solidFill>
                <a:srgbClr val="000000"/>
              </a:solidFill>
              <a:latin typeface="Arial"/>
            </a:endParaRPr>
          </a:p>
        </p:txBody>
      </p:sp>
      <p:sp>
        <p:nvSpPr>
          <p:cNvPr id="297" name="Rounded Rectangle 9"/>
          <p:cNvSpPr/>
          <p:nvPr/>
        </p:nvSpPr>
        <p:spPr>
          <a:xfrm>
            <a:off x="713160" y="2670120"/>
            <a:ext cx="5130720" cy="2559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298" name="Rectangle 10"/>
          <p:cNvSpPr/>
          <p:nvPr/>
        </p:nvSpPr>
        <p:spPr>
          <a:xfrm>
            <a:off x="713160" y="2658960"/>
            <a:ext cx="5130720" cy="453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299" name="TextBox 11"/>
          <p:cNvSpPr/>
          <p:nvPr/>
        </p:nvSpPr>
        <p:spPr>
          <a:xfrm>
            <a:off x="987480" y="2944440"/>
            <a:ext cx="4582080" cy="198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100" spc="-1" strike="noStrike">
                <a:solidFill>
                  <a:srgbClr val="f5b544"/>
                </a:solidFill>
                <a:latin typeface="Inter"/>
              </a:rPr>
              <a:t>SENTINEL-2 · OPTIQUE 10 m</a:t>
            </a:r>
            <a:endParaRPr b="0" lang="fr-FR" sz="1100" spc="-1" strike="noStrike">
              <a:solidFill>
                <a:srgbClr val="000000"/>
              </a:solidFill>
              <a:latin typeface="Arial"/>
            </a:endParaRPr>
          </a:p>
        </p:txBody>
      </p:sp>
      <p:sp>
        <p:nvSpPr>
          <p:cNvPr id="300" name="Rounded Rectangle 12"/>
          <p:cNvSpPr/>
          <p:nvPr/>
        </p:nvSpPr>
        <p:spPr>
          <a:xfrm>
            <a:off x="1097280" y="3420000"/>
            <a:ext cx="959760" cy="310680"/>
          </a:xfrm>
          <a:prstGeom prst="roundRect">
            <a:avLst>
              <a:gd name="adj" fmla="val 50000"/>
            </a:avLst>
          </a:prstGeom>
          <a:solidFill>
            <a:srgbClr val="3a484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01" name="Rounded Rectangle 13"/>
          <p:cNvSpPr/>
          <p:nvPr/>
        </p:nvSpPr>
        <p:spPr>
          <a:xfrm>
            <a:off x="2267640" y="3420000"/>
            <a:ext cx="959760" cy="310680"/>
          </a:xfrm>
          <a:prstGeom prst="roundRect">
            <a:avLst>
              <a:gd name="adj" fmla="val 50000"/>
            </a:avLst>
          </a:prstGeom>
          <a:solidFill>
            <a:srgbClr val="3a484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02" name="Rounded Rectangle 14"/>
          <p:cNvSpPr/>
          <p:nvPr/>
        </p:nvSpPr>
        <p:spPr>
          <a:xfrm>
            <a:off x="3438000" y="3420000"/>
            <a:ext cx="959760" cy="310680"/>
          </a:xfrm>
          <a:prstGeom prst="roundRect">
            <a:avLst>
              <a:gd name="adj" fmla="val 50000"/>
            </a:avLst>
          </a:prstGeom>
          <a:solidFill>
            <a:srgbClr val="3a484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03" name="Rounded Rectangle 15"/>
          <p:cNvSpPr/>
          <p:nvPr/>
        </p:nvSpPr>
        <p:spPr>
          <a:xfrm>
            <a:off x="4608720" y="3420000"/>
            <a:ext cx="959760" cy="310680"/>
          </a:xfrm>
          <a:prstGeom prst="roundRect">
            <a:avLst>
              <a:gd name="adj" fmla="val 50000"/>
            </a:avLst>
          </a:prstGeom>
          <a:solidFill>
            <a:srgbClr val="3a484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04" name="Rectangle 16"/>
          <p:cNvSpPr/>
          <p:nvPr/>
        </p:nvSpPr>
        <p:spPr>
          <a:xfrm>
            <a:off x="1097280" y="3895200"/>
            <a:ext cx="4362840" cy="1800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6640" bIns="-26640" anchor="ctr">
            <a:noAutofit/>
          </a:bodyPr>
          <a:p>
            <a:pPr algn="ctr" defTabSz="457200">
              <a:lnSpc>
                <a:spcPct val="100000"/>
              </a:lnSpc>
            </a:pPr>
            <a:endParaRPr b="0" lang="en-US" sz="1800" spc="-1" strike="noStrike">
              <a:solidFill>
                <a:schemeClr val="lt1"/>
              </a:solidFill>
              <a:latin typeface="Arial"/>
            </a:endParaRPr>
          </a:p>
        </p:txBody>
      </p:sp>
      <p:sp>
        <p:nvSpPr>
          <p:cNvPr id="305" name="Down Arrow 17"/>
          <p:cNvSpPr/>
          <p:nvPr/>
        </p:nvSpPr>
        <p:spPr>
          <a:xfrm>
            <a:off x="1536120" y="3803760"/>
            <a:ext cx="145800" cy="420120"/>
          </a:xfrm>
          <a:prstGeom prst="downArrow">
            <a:avLst>
              <a:gd name="adj1" fmla="val 50000"/>
              <a:gd name="adj2" fmla="val 50000"/>
            </a:avLst>
          </a:prstGeom>
          <a:solidFill>
            <a:srgbClr val="f06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06" name="Down Arrow 18"/>
          <p:cNvSpPr/>
          <p:nvPr/>
        </p:nvSpPr>
        <p:spPr>
          <a:xfrm>
            <a:off x="2706480" y="3803760"/>
            <a:ext cx="145800" cy="420120"/>
          </a:xfrm>
          <a:prstGeom prst="downArrow">
            <a:avLst>
              <a:gd name="adj1" fmla="val 50000"/>
              <a:gd name="adj2" fmla="val 50000"/>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07" name="Down Arrow 19"/>
          <p:cNvSpPr/>
          <p:nvPr/>
        </p:nvSpPr>
        <p:spPr>
          <a:xfrm>
            <a:off x="3877200" y="3803760"/>
            <a:ext cx="145800" cy="420120"/>
          </a:xfrm>
          <a:prstGeom prst="downArrow">
            <a:avLst>
              <a:gd name="adj1" fmla="val 50000"/>
              <a:gd name="adj2" fmla="val 50000"/>
            </a:avLst>
          </a:prstGeom>
          <a:solidFill>
            <a:srgbClr val="f06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08" name="Down Arrow 20"/>
          <p:cNvSpPr/>
          <p:nvPr/>
        </p:nvSpPr>
        <p:spPr>
          <a:xfrm>
            <a:off x="5047560" y="3803760"/>
            <a:ext cx="145800" cy="420120"/>
          </a:xfrm>
          <a:prstGeom prst="downArrow">
            <a:avLst>
              <a:gd name="adj1" fmla="val 50000"/>
              <a:gd name="adj2" fmla="val 50000"/>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09" name="Rectangle 21"/>
          <p:cNvSpPr/>
          <p:nvPr/>
        </p:nvSpPr>
        <p:spPr>
          <a:xfrm>
            <a:off x="1097280" y="4370760"/>
            <a:ext cx="4362840" cy="12780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10" name="TextBox 22"/>
          <p:cNvSpPr/>
          <p:nvPr/>
        </p:nvSpPr>
        <p:spPr>
          <a:xfrm>
            <a:off x="1097280" y="3218760"/>
            <a:ext cx="219420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nuages</a:t>
            </a:r>
            <a:endParaRPr b="0" lang="fr-FR" sz="900" spc="-1" strike="noStrike">
              <a:solidFill>
                <a:srgbClr val="000000"/>
              </a:solidFill>
              <a:latin typeface="Arial"/>
            </a:endParaRPr>
          </a:p>
        </p:txBody>
      </p:sp>
      <p:sp>
        <p:nvSpPr>
          <p:cNvPr id="311" name="TextBox 23"/>
          <p:cNvSpPr/>
          <p:nvPr/>
        </p:nvSpPr>
        <p:spPr>
          <a:xfrm>
            <a:off x="1097280" y="4535280"/>
            <a:ext cx="219420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sol</a:t>
            </a:r>
            <a:endParaRPr b="0" lang="fr-FR" sz="900" spc="-1" strike="noStrike">
              <a:solidFill>
                <a:srgbClr val="000000"/>
              </a:solidFill>
              <a:latin typeface="Arial"/>
            </a:endParaRPr>
          </a:p>
        </p:txBody>
      </p:sp>
      <p:sp>
        <p:nvSpPr>
          <p:cNvPr id="312" name="TextBox 24"/>
          <p:cNvSpPr/>
          <p:nvPr/>
        </p:nvSpPr>
        <p:spPr>
          <a:xfrm>
            <a:off x="987480" y="4773240"/>
            <a:ext cx="4582080" cy="438120"/>
          </a:xfrm>
          <a:prstGeom prst="rect">
            <a:avLst/>
          </a:prstGeom>
          <a:noFill/>
          <a:ln w="0">
            <a:noFill/>
          </a:ln>
        </p:spPr>
        <p:style>
          <a:lnRef idx="0"/>
          <a:fillRef idx="0"/>
          <a:effectRef idx="0"/>
          <a:fontRef idx="minor"/>
        </p:style>
        <p:txBody>
          <a:bodyPr lIns="0" rIns="0" tIns="0" bIns="0" anchor="t">
            <a:spAutoFit/>
          </a:bodyPr>
          <a:p>
            <a:pPr defTabSz="457200">
              <a:lnSpc>
                <a:spcPct val="125000"/>
              </a:lnSpc>
            </a:pPr>
            <a:r>
              <a:rPr b="0" lang="en-US" sz="1150" spc="-1" strike="noStrike">
                <a:solidFill>
                  <a:srgbClr val="93a79d"/>
                </a:solidFill>
                <a:latin typeface="Inter"/>
              </a:rPr>
              <a:t>Nuage = pixel perdu.</a:t>
            </a:r>
            <a:endParaRPr b="0" lang="fr-FR" sz="1150" spc="-1" strike="noStrike">
              <a:solidFill>
                <a:srgbClr val="000000"/>
              </a:solidFill>
              <a:latin typeface="Arial"/>
            </a:endParaRPr>
          </a:p>
          <a:p>
            <a:pPr defTabSz="457200">
              <a:lnSpc>
                <a:spcPct val="125000"/>
              </a:lnSpc>
            </a:pPr>
            <a:r>
              <a:rPr b="0" lang="en-US" sz="1150" spc="-1" strike="noStrike">
                <a:solidFill>
                  <a:srgbClr val="93a79d"/>
                </a:solidFill>
                <a:latin typeface="Inter"/>
              </a:rPr>
              <a:t>Parade : composite médian multi-dates + masque nuages.</a:t>
            </a:r>
            <a:endParaRPr b="0" lang="fr-FR" sz="1150" spc="-1" strike="noStrike">
              <a:solidFill>
                <a:srgbClr val="000000"/>
              </a:solidFill>
              <a:latin typeface="Arial"/>
            </a:endParaRPr>
          </a:p>
        </p:txBody>
      </p:sp>
      <p:sp>
        <p:nvSpPr>
          <p:cNvPr id="313" name="Rounded Rectangle 25"/>
          <p:cNvSpPr/>
          <p:nvPr/>
        </p:nvSpPr>
        <p:spPr>
          <a:xfrm>
            <a:off x="6347160" y="2670120"/>
            <a:ext cx="5130720" cy="2559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14" name="Rectangle 26"/>
          <p:cNvSpPr/>
          <p:nvPr/>
        </p:nvSpPr>
        <p:spPr>
          <a:xfrm>
            <a:off x="6347160" y="2658960"/>
            <a:ext cx="513072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315" name="TextBox 27"/>
          <p:cNvSpPr/>
          <p:nvPr/>
        </p:nvSpPr>
        <p:spPr>
          <a:xfrm>
            <a:off x="6621480" y="2944440"/>
            <a:ext cx="4582080" cy="198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100" spc="-1" strike="noStrike">
                <a:solidFill>
                  <a:srgbClr val="34d399"/>
                </a:solidFill>
                <a:latin typeface="Inter"/>
              </a:rPr>
              <a:t>SENTINEL-1 · RADAR</a:t>
            </a:r>
            <a:endParaRPr b="0" lang="fr-FR" sz="1100" spc="-1" strike="noStrike">
              <a:solidFill>
                <a:srgbClr val="000000"/>
              </a:solidFill>
              <a:latin typeface="Arial"/>
            </a:endParaRPr>
          </a:p>
        </p:txBody>
      </p:sp>
      <p:sp>
        <p:nvSpPr>
          <p:cNvPr id="316" name="Rounded Rectangle 28"/>
          <p:cNvSpPr/>
          <p:nvPr/>
        </p:nvSpPr>
        <p:spPr>
          <a:xfrm>
            <a:off x="6731280" y="3420000"/>
            <a:ext cx="959760" cy="310680"/>
          </a:xfrm>
          <a:prstGeom prst="roundRect">
            <a:avLst>
              <a:gd name="adj" fmla="val 50000"/>
            </a:avLst>
          </a:prstGeom>
          <a:solidFill>
            <a:srgbClr val="3a484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17" name="Rounded Rectangle 29"/>
          <p:cNvSpPr/>
          <p:nvPr/>
        </p:nvSpPr>
        <p:spPr>
          <a:xfrm>
            <a:off x="7901640" y="3420000"/>
            <a:ext cx="959760" cy="310680"/>
          </a:xfrm>
          <a:prstGeom prst="roundRect">
            <a:avLst>
              <a:gd name="adj" fmla="val 50000"/>
            </a:avLst>
          </a:prstGeom>
          <a:solidFill>
            <a:srgbClr val="3a484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18" name="Rounded Rectangle 30"/>
          <p:cNvSpPr/>
          <p:nvPr/>
        </p:nvSpPr>
        <p:spPr>
          <a:xfrm>
            <a:off x="9072360" y="3420000"/>
            <a:ext cx="959760" cy="310680"/>
          </a:xfrm>
          <a:prstGeom prst="roundRect">
            <a:avLst>
              <a:gd name="adj" fmla="val 50000"/>
            </a:avLst>
          </a:prstGeom>
          <a:solidFill>
            <a:srgbClr val="3a484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19" name="Rounded Rectangle 31"/>
          <p:cNvSpPr/>
          <p:nvPr/>
        </p:nvSpPr>
        <p:spPr>
          <a:xfrm>
            <a:off x="10242720" y="3420000"/>
            <a:ext cx="959760" cy="310680"/>
          </a:xfrm>
          <a:prstGeom prst="roundRect">
            <a:avLst>
              <a:gd name="adj" fmla="val 50000"/>
            </a:avLst>
          </a:prstGeom>
          <a:solidFill>
            <a:srgbClr val="3a484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20" name="Down Arrow 32"/>
          <p:cNvSpPr/>
          <p:nvPr/>
        </p:nvSpPr>
        <p:spPr>
          <a:xfrm>
            <a:off x="7170120" y="3803760"/>
            <a:ext cx="145800" cy="420120"/>
          </a:xfrm>
          <a:prstGeom prst="downArrow">
            <a:avLst>
              <a:gd name="adj1" fmla="val 50000"/>
              <a:gd name="adj2" fmla="val 50000"/>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21" name="Down Arrow 33"/>
          <p:cNvSpPr/>
          <p:nvPr/>
        </p:nvSpPr>
        <p:spPr>
          <a:xfrm>
            <a:off x="8340840" y="3803760"/>
            <a:ext cx="145800" cy="420120"/>
          </a:xfrm>
          <a:prstGeom prst="downArrow">
            <a:avLst>
              <a:gd name="adj1" fmla="val 50000"/>
              <a:gd name="adj2" fmla="val 50000"/>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22" name="Down Arrow 34"/>
          <p:cNvSpPr/>
          <p:nvPr/>
        </p:nvSpPr>
        <p:spPr>
          <a:xfrm>
            <a:off x="9511200" y="3803760"/>
            <a:ext cx="145800" cy="420120"/>
          </a:xfrm>
          <a:prstGeom prst="downArrow">
            <a:avLst>
              <a:gd name="adj1" fmla="val 50000"/>
              <a:gd name="adj2" fmla="val 50000"/>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23" name="Down Arrow 35"/>
          <p:cNvSpPr/>
          <p:nvPr/>
        </p:nvSpPr>
        <p:spPr>
          <a:xfrm>
            <a:off x="10681560" y="3803760"/>
            <a:ext cx="145800" cy="420120"/>
          </a:xfrm>
          <a:prstGeom prst="downArrow">
            <a:avLst>
              <a:gd name="adj1" fmla="val 50000"/>
              <a:gd name="adj2" fmla="val 50000"/>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24" name="Rectangle 36"/>
          <p:cNvSpPr/>
          <p:nvPr/>
        </p:nvSpPr>
        <p:spPr>
          <a:xfrm>
            <a:off x="6731280" y="4370760"/>
            <a:ext cx="4362840" cy="12780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25" name="TextBox 37"/>
          <p:cNvSpPr/>
          <p:nvPr/>
        </p:nvSpPr>
        <p:spPr>
          <a:xfrm>
            <a:off x="6731280" y="3218760"/>
            <a:ext cx="219420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nuages</a:t>
            </a:r>
            <a:endParaRPr b="0" lang="fr-FR" sz="900" spc="-1" strike="noStrike">
              <a:solidFill>
                <a:srgbClr val="000000"/>
              </a:solidFill>
              <a:latin typeface="Arial"/>
            </a:endParaRPr>
          </a:p>
        </p:txBody>
      </p:sp>
      <p:sp>
        <p:nvSpPr>
          <p:cNvPr id="326" name="TextBox 38"/>
          <p:cNvSpPr/>
          <p:nvPr/>
        </p:nvSpPr>
        <p:spPr>
          <a:xfrm>
            <a:off x="6731280" y="4535280"/>
            <a:ext cx="219420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sol</a:t>
            </a:r>
            <a:endParaRPr b="0" lang="fr-FR" sz="900" spc="-1" strike="noStrike">
              <a:solidFill>
                <a:srgbClr val="000000"/>
              </a:solidFill>
              <a:latin typeface="Arial"/>
            </a:endParaRPr>
          </a:p>
        </p:txBody>
      </p:sp>
      <p:sp>
        <p:nvSpPr>
          <p:cNvPr id="327" name="TextBox 39"/>
          <p:cNvSpPr/>
          <p:nvPr/>
        </p:nvSpPr>
        <p:spPr>
          <a:xfrm>
            <a:off x="6621480" y="4773240"/>
            <a:ext cx="4582080" cy="438120"/>
          </a:xfrm>
          <a:prstGeom prst="rect">
            <a:avLst/>
          </a:prstGeom>
          <a:noFill/>
          <a:ln w="0">
            <a:noFill/>
          </a:ln>
        </p:spPr>
        <p:style>
          <a:lnRef idx="0"/>
          <a:fillRef idx="0"/>
          <a:effectRef idx="0"/>
          <a:fontRef idx="minor"/>
        </p:style>
        <p:txBody>
          <a:bodyPr lIns="0" rIns="0" tIns="0" bIns="0" anchor="t">
            <a:spAutoFit/>
          </a:bodyPr>
          <a:p>
            <a:pPr defTabSz="457200">
              <a:lnSpc>
                <a:spcPct val="125000"/>
              </a:lnSpc>
            </a:pPr>
            <a:r>
              <a:rPr b="0" lang="en-US" sz="1150" spc="-1" strike="noStrike">
                <a:solidFill>
                  <a:srgbClr val="93a79d"/>
                </a:solidFill>
                <a:latin typeface="Inter"/>
              </a:rPr>
              <a:t>Le radar traverse les nuages.</a:t>
            </a:r>
            <a:endParaRPr b="0" lang="fr-FR" sz="1150" spc="-1" strike="noStrike">
              <a:solidFill>
                <a:srgbClr val="000000"/>
              </a:solidFill>
              <a:latin typeface="Arial"/>
            </a:endParaRPr>
          </a:p>
          <a:p>
            <a:pPr defTabSz="457200">
              <a:lnSpc>
                <a:spcPct val="125000"/>
              </a:lnSpc>
            </a:pPr>
            <a:r>
              <a:rPr b="0" lang="en-US" sz="1150" spc="-1" strike="noStrike">
                <a:solidFill>
                  <a:srgbClr val="93a79d"/>
                </a:solidFill>
                <a:latin typeface="Inter"/>
              </a:rPr>
              <a:t>Décrit et justifié, pas encore implémenté.</a:t>
            </a:r>
            <a:endParaRPr b="0" lang="fr-FR" sz="1150" spc="-1" strike="noStrike">
              <a:solidFill>
                <a:srgbClr val="000000"/>
              </a:solidFill>
              <a:latin typeface="Arial"/>
            </a:endParaRPr>
          </a:p>
        </p:txBody>
      </p:sp>
      <p:sp>
        <p:nvSpPr>
          <p:cNvPr id="328" name="TextBox 40"/>
          <p:cNvSpPr/>
          <p:nvPr/>
        </p:nvSpPr>
        <p:spPr>
          <a:xfrm>
            <a:off x="713160" y="5358240"/>
            <a:ext cx="10789560" cy="24264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i="1" lang="en-US" sz="1350" spc="-1" strike="noStrike">
                <a:solidFill>
                  <a:srgbClr val="34d399"/>
                </a:solidFill>
                <a:latin typeface="Inter"/>
              </a:rPr>
              <a:t>« La pertinence des choix techniques compte davantage que la complexité inutile. »</a:t>
            </a:r>
            <a:endParaRPr b="0" lang="fr-FR"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30"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331"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332"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10 / 15</a:t>
            </a:r>
            <a:endParaRPr b="0" lang="fr-FR" sz="900" spc="-1" strike="noStrike">
              <a:solidFill>
                <a:srgbClr val="000000"/>
              </a:solidFill>
              <a:latin typeface="Arial"/>
            </a:endParaRPr>
          </a:p>
        </p:txBody>
      </p:sp>
      <p:sp>
        <p:nvSpPr>
          <p:cNvPr id="333"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34"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LA QUESTION QU'ON VA NOUS POSER</a:t>
            </a:r>
            <a:endParaRPr b="0" lang="fr-FR" sz="1100" spc="-1" strike="noStrike">
              <a:solidFill>
                <a:srgbClr val="000000"/>
              </a:solidFill>
              <a:latin typeface="Arial"/>
            </a:endParaRPr>
          </a:p>
        </p:txBody>
      </p:sp>
      <p:sp>
        <p:nvSpPr>
          <p:cNvPr id="335" name="TextBox 7"/>
          <p:cNvSpPr/>
          <p:nvPr/>
        </p:nvSpPr>
        <p:spPr>
          <a:xfrm>
            <a:off x="713160" y="932760"/>
            <a:ext cx="10764720" cy="4849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3000" spc="-1" strike="noStrike">
                <a:solidFill>
                  <a:srgbClr val="e9f2ed"/>
                </a:solidFill>
                <a:latin typeface="Space Grotesk"/>
              </a:rPr>
              <a:t>« Pourquoi pas simplement Dynamic World ? »</a:t>
            </a:r>
            <a:endParaRPr b="0" lang="fr-FR" sz="3000" spc="-1" strike="noStrike">
              <a:solidFill>
                <a:srgbClr val="000000"/>
              </a:solidFill>
              <a:latin typeface="Arial"/>
            </a:endParaRPr>
          </a:p>
        </p:txBody>
      </p:sp>
      <p:sp>
        <p:nvSpPr>
          <p:cNvPr id="336" name="TextBox 8"/>
          <p:cNvSpPr/>
          <p:nvPr/>
        </p:nvSpPr>
        <p:spPr>
          <a:xfrm>
            <a:off x="713160" y="1613880"/>
            <a:ext cx="10216080" cy="273600"/>
          </a:xfrm>
          <a:prstGeom prst="rect">
            <a:avLst/>
          </a:prstGeom>
          <a:noFill/>
          <a:ln w="0">
            <a:noFill/>
          </a:ln>
        </p:spPr>
        <p:style>
          <a:lnRef idx="0"/>
          <a:fillRef idx="0"/>
          <a:effectRef idx="0"/>
          <a:fontRef idx="minor"/>
        </p:style>
        <p:txBody>
          <a:bodyPr lIns="0" rIns="0" tIns="0" bIns="0" anchor="t">
            <a:spAutoFit/>
          </a:bodyPr>
          <a:p>
            <a:pPr defTabSz="457200">
              <a:lnSpc>
                <a:spcPct val="128000"/>
              </a:lnSpc>
            </a:pPr>
            <a:r>
              <a:rPr b="0" lang="en-US" sz="1400" spc="-1" strike="noStrike">
                <a:solidFill>
                  <a:srgbClr val="93a79d"/>
                </a:solidFill>
                <a:latin typeface="Inter"/>
              </a:rPr>
              <a:t>L'argument tient toujours. Il est maintenant démontré, plus seulement affirmé.</a:t>
            </a:r>
            <a:endParaRPr b="0" lang="fr-FR" sz="1400" spc="-1" strike="noStrike">
              <a:solidFill>
                <a:srgbClr val="000000"/>
              </a:solidFill>
              <a:latin typeface="Arial"/>
            </a:endParaRPr>
          </a:p>
        </p:txBody>
      </p:sp>
      <p:sp>
        <p:nvSpPr>
          <p:cNvPr id="337" name="Rounded Rectangle 9"/>
          <p:cNvSpPr/>
          <p:nvPr/>
        </p:nvSpPr>
        <p:spPr>
          <a:xfrm>
            <a:off x="713160" y="2212920"/>
            <a:ext cx="3405240" cy="21693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38" name="Rectangle 10"/>
          <p:cNvSpPr/>
          <p:nvPr/>
        </p:nvSpPr>
        <p:spPr>
          <a:xfrm>
            <a:off x="713160" y="2201760"/>
            <a:ext cx="3405240" cy="453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339" name="TextBox 11"/>
          <p:cNvSpPr/>
          <p:nvPr/>
        </p:nvSpPr>
        <p:spPr>
          <a:xfrm>
            <a:off x="951120" y="2505600"/>
            <a:ext cx="2929680" cy="47844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400" spc="-1" strike="noStrike">
                <a:solidFill>
                  <a:srgbClr val="e9f2ed"/>
                </a:solidFill>
                <a:latin typeface="Space Grotesk"/>
              </a:rPr>
              <a:t>Les cartes globales</a:t>
            </a:r>
            <a:endParaRPr b="0" lang="fr-FR" sz="1400" spc="-1" strike="noStrike">
              <a:solidFill>
                <a:srgbClr val="000000"/>
              </a:solidFill>
              <a:latin typeface="Arial"/>
            </a:endParaRPr>
          </a:p>
          <a:p>
            <a:pPr defTabSz="457200">
              <a:lnSpc>
                <a:spcPct val="112000"/>
              </a:lnSpc>
            </a:pPr>
            <a:r>
              <a:rPr b="1" lang="en-US" sz="1400" spc="-1" strike="noStrike">
                <a:solidFill>
                  <a:srgbClr val="e9f2ed"/>
                </a:solidFill>
                <a:latin typeface="Space Grotesk"/>
              </a:rPr>
              <a:t>décrochent ici</a:t>
            </a:r>
            <a:endParaRPr b="0" lang="fr-FR" sz="1400" spc="-1" strike="noStrike">
              <a:solidFill>
                <a:srgbClr val="000000"/>
              </a:solidFill>
              <a:latin typeface="Arial"/>
            </a:endParaRPr>
          </a:p>
        </p:txBody>
      </p:sp>
      <p:sp>
        <p:nvSpPr>
          <p:cNvPr id="340" name="TextBox 12"/>
          <p:cNvSpPr/>
          <p:nvPr/>
        </p:nvSpPr>
        <p:spPr>
          <a:xfrm>
            <a:off x="951120" y="3161520"/>
            <a:ext cx="2929680" cy="95076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00" spc="-1" strike="noStrike">
                <a:solidFill>
                  <a:srgbClr val="93a79d"/>
                </a:solidFill>
                <a:latin typeface="Inter"/>
              </a:rPr>
              <a:t>Petites parcelles,</a:t>
            </a:r>
            <a:endParaRPr b="0" lang="fr-FR" sz="1200" spc="-1" strike="noStrike">
              <a:solidFill>
                <a:srgbClr val="000000"/>
              </a:solidFill>
              <a:latin typeface="Arial"/>
            </a:endParaRPr>
          </a:p>
          <a:p>
            <a:pPr defTabSz="457200">
              <a:lnSpc>
                <a:spcPct val="130000"/>
              </a:lnSpc>
            </a:pPr>
            <a:r>
              <a:rPr b="0" lang="en-US" sz="1200" spc="-1" strike="noStrike">
                <a:solidFill>
                  <a:srgbClr val="93a79d"/>
                </a:solidFill>
                <a:latin typeface="Inter"/>
              </a:rPr>
              <a:t>cultures associées :</a:t>
            </a:r>
            <a:endParaRPr b="0" lang="fr-FR" sz="1200" spc="-1" strike="noStrike">
              <a:solidFill>
                <a:srgbClr val="000000"/>
              </a:solidFill>
              <a:latin typeface="Arial"/>
            </a:endParaRPr>
          </a:p>
          <a:p>
            <a:pPr defTabSz="457200">
              <a:lnSpc>
                <a:spcPct val="130000"/>
              </a:lnSpc>
            </a:pPr>
            <a:r>
              <a:rPr b="0" lang="en-US" sz="1200" spc="-1" strike="noStrike">
                <a:solidFill>
                  <a:srgbClr val="93a79d"/>
                </a:solidFill>
                <a:latin typeface="Inter"/>
              </a:rPr>
              <a:t>l'agriculture subsaharienne</a:t>
            </a:r>
            <a:endParaRPr b="0" lang="fr-FR" sz="1200" spc="-1" strike="noStrike">
              <a:solidFill>
                <a:srgbClr val="000000"/>
              </a:solidFill>
              <a:latin typeface="Arial"/>
            </a:endParaRPr>
          </a:p>
          <a:p>
            <a:pPr defTabSz="457200">
              <a:lnSpc>
                <a:spcPct val="130000"/>
              </a:lnSpc>
            </a:pPr>
            <a:r>
              <a:rPr b="0" lang="en-US" sz="1200" spc="-1" strike="noStrike">
                <a:solidFill>
                  <a:srgbClr val="93a79d"/>
                </a:solidFill>
                <a:latin typeface="Inter"/>
              </a:rPr>
              <a:t>y est sous-performée.</a:t>
            </a:r>
            <a:endParaRPr b="0" lang="fr-FR" sz="1200" spc="-1" strike="noStrike">
              <a:solidFill>
                <a:srgbClr val="000000"/>
              </a:solidFill>
              <a:latin typeface="Arial"/>
            </a:endParaRPr>
          </a:p>
        </p:txBody>
      </p:sp>
      <p:sp>
        <p:nvSpPr>
          <p:cNvPr id="341" name="Rounded Rectangle 13"/>
          <p:cNvSpPr/>
          <p:nvPr/>
        </p:nvSpPr>
        <p:spPr>
          <a:xfrm>
            <a:off x="4393080" y="2212920"/>
            <a:ext cx="3405240" cy="21693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42" name="Rectangle 14"/>
          <p:cNvSpPr/>
          <p:nvPr/>
        </p:nvSpPr>
        <p:spPr>
          <a:xfrm>
            <a:off x="4393080" y="2201760"/>
            <a:ext cx="340524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343" name="TextBox 15"/>
          <p:cNvSpPr/>
          <p:nvPr/>
        </p:nvSpPr>
        <p:spPr>
          <a:xfrm>
            <a:off x="4630680" y="2505600"/>
            <a:ext cx="2929680" cy="47844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400" spc="-1" strike="noStrike">
                <a:solidFill>
                  <a:srgbClr val="e9f2ed"/>
                </a:solidFill>
                <a:latin typeface="Space Grotesk"/>
              </a:rPr>
              <a:t>Nous avons entraîné</a:t>
            </a:r>
            <a:endParaRPr b="0" lang="fr-FR" sz="1400" spc="-1" strike="noStrike">
              <a:solidFill>
                <a:srgbClr val="000000"/>
              </a:solidFill>
              <a:latin typeface="Arial"/>
            </a:endParaRPr>
          </a:p>
          <a:p>
            <a:pPr defTabSz="457200">
              <a:lnSpc>
                <a:spcPct val="112000"/>
              </a:lnSpc>
            </a:pPr>
            <a:r>
              <a:rPr b="1" lang="en-US" sz="1400" spc="-1" strike="noStrike">
                <a:solidFill>
                  <a:srgbClr val="e9f2ed"/>
                </a:solidFill>
                <a:latin typeface="Space Grotesk"/>
              </a:rPr>
              <a:t>notre propre modèle</a:t>
            </a:r>
            <a:endParaRPr b="0" lang="fr-FR" sz="1400" spc="-1" strike="noStrike">
              <a:solidFill>
                <a:srgbClr val="000000"/>
              </a:solidFill>
              <a:latin typeface="Arial"/>
            </a:endParaRPr>
          </a:p>
        </p:txBody>
      </p:sp>
      <p:sp>
        <p:nvSpPr>
          <p:cNvPr id="344" name="TextBox 16"/>
          <p:cNvSpPr/>
          <p:nvPr/>
        </p:nvSpPr>
        <p:spPr>
          <a:xfrm>
            <a:off x="4630680" y="3161520"/>
            <a:ext cx="2929680" cy="95076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00" spc="-1" strike="noStrike">
                <a:solidFill>
                  <a:srgbClr val="93a79d"/>
                </a:solidFill>
                <a:latin typeface="Inter"/>
              </a:rPr>
              <a:t>Métriques mesurées,</a:t>
            </a:r>
            <a:endParaRPr b="0" lang="fr-FR" sz="1200" spc="-1" strike="noStrike">
              <a:solidFill>
                <a:srgbClr val="000000"/>
              </a:solidFill>
              <a:latin typeface="Arial"/>
            </a:endParaRPr>
          </a:p>
          <a:p>
            <a:pPr defTabSz="457200">
              <a:lnSpc>
                <a:spcPct val="130000"/>
              </a:lnSpc>
            </a:pPr>
            <a:r>
              <a:rPr b="0" lang="en-US" sz="1200" spc="-1" strike="noStrike">
                <a:solidFill>
                  <a:srgbClr val="93a79d"/>
                </a:solidFill>
                <a:latin typeface="Inter"/>
              </a:rPr>
              <a:t>test tenu à l'écart,</a:t>
            </a:r>
            <a:endParaRPr b="0" lang="fr-FR" sz="1200" spc="-1" strike="noStrike">
              <a:solidFill>
                <a:srgbClr val="000000"/>
              </a:solidFill>
              <a:latin typeface="Arial"/>
            </a:endParaRPr>
          </a:p>
          <a:p>
            <a:pPr defTabSz="457200">
              <a:lnSpc>
                <a:spcPct val="130000"/>
              </a:lnSpc>
            </a:pPr>
            <a:r>
              <a:rPr b="0" lang="en-US" sz="1200" spc="-1" strike="noStrike">
                <a:solidFill>
                  <a:srgbClr val="93a79d"/>
                </a:solidFill>
                <a:latin typeface="Inter"/>
              </a:rPr>
              <a:t>écart de domaine chiffré</a:t>
            </a:r>
            <a:endParaRPr b="0" lang="fr-FR" sz="1200" spc="-1" strike="noStrike">
              <a:solidFill>
                <a:srgbClr val="000000"/>
              </a:solidFill>
              <a:latin typeface="Arial"/>
            </a:endParaRPr>
          </a:p>
          <a:p>
            <a:pPr defTabSz="457200">
              <a:lnSpc>
                <a:spcPct val="130000"/>
              </a:lnSpc>
            </a:pPr>
            <a:r>
              <a:rPr b="0" lang="en-US" sz="1200" spc="-1" strike="noStrike">
                <a:solidFill>
                  <a:srgbClr val="93a79d"/>
                </a:solidFill>
                <a:latin typeface="Inter"/>
              </a:rPr>
              <a:t>et déclaré.</a:t>
            </a:r>
            <a:endParaRPr b="0" lang="fr-FR" sz="1200" spc="-1" strike="noStrike">
              <a:solidFill>
                <a:srgbClr val="000000"/>
              </a:solidFill>
              <a:latin typeface="Arial"/>
            </a:endParaRPr>
          </a:p>
        </p:txBody>
      </p:sp>
      <p:sp>
        <p:nvSpPr>
          <p:cNvPr id="345" name="Rounded Rectangle 17"/>
          <p:cNvSpPr/>
          <p:nvPr/>
        </p:nvSpPr>
        <p:spPr>
          <a:xfrm>
            <a:off x="8073000" y="2212920"/>
            <a:ext cx="3405240" cy="193140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46" name="Rectangle 18"/>
          <p:cNvSpPr/>
          <p:nvPr/>
        </p:nvSpPr>
        <p:spPr>
          <a:xfrm>
            <a:off x="8073000" y="2201760"/>
            <a:ext cx="3405240" cy="4536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347" name="TextBox 19"/>
          <p:cNvSpPr/>
          <p:nvPr/>
        </p:nvSpPr>
        <p:spPr>
          <a:xfrm>
            <a:off x="8310600" y="2505600"/>
            <a:ext cx="2929680" cy="47844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400" spc="-1" strike="noStrike">
                <a:solidFill>
                  <a:srgbClr val="e9f2ed"/>
                </a:solidFill>
                <a:latin typeface="Space Grotesk"/>
              </a:rPr>
              <a:t>Notre apport</a:t>
            </a:r>
            <a:endParaRPr b="0" lang="fr-FR" sz="1400" spc="-1" strike="noStrike">
              <a:solidFill>
                <a:srgbClr val="000000"/>
              </a:solidFill>
              <a:latin typeface="Arial"/>
            </a:endParaRPr>
          </a:p>
          <a:p>
            <a:pPr defTabSz="457200">
              <a:lnSpc>
                <a:spcPct val="112000"/>
              </a:lnSpc>
            </a:pPr>
            <a:r>
              <a:rPr b="1" lang="en-US" sz="1400" spc="-1" strike="noStrike">
                <a:solidFill>
                  <a:srgbClr val="e9f2ed"/>
                </a:solidFill>
                <a:latin typeface="Space Grotesk"/>
              </a:rPr>
              <a:t>est ailleurs</a:t>
            </a:r>
            <a:endParaRPr b="0" lang="fr-FR" sz="1400" spc="-1" strike="noStrike">
              <a:solidFill>
                <a:srgbClr val="000000"/>
              </a:solidFill>
              <a:latin typeface="Arial"/>
            </a:endParaRPr>
          </a:p>
        </p:txBody>
      </p:sp>
      <p:sp>
        <p:nvSpPr>
          <p:cNvPr id="348" name="TextBox 20"/>
          <p:cNvSpPr/>
          <p:nvPr/>
        </p:nvSpPr>
        <p:spPr>
          <a:xfrm>
            <a:off x="8310600" y="3161520"/>
            <a:ext cx="2929680" cy="71316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00" spc="-1" strike="noStrike">
                <a:solidFill>
                  <a:srgbClr val="93a79d"/>
                </a:solidFill>
                <a:latin typeface="Inter"/>
              </a:rPr>
              <a:t>Pas le classifieur :</a:t>
            </a:r>
            <a:endParaRPr b="0" lang="fr-FR" sz="1200" spc="-1" strike="noStrike">
              <a:solidFill>
                <a:srgbClr val="000000"/>
              </a:solidFill>
              <a:latin typeface="Arial"/>
            </a:endParaRPr>
          </a:p>
          <a:p>
            <a:pPr defTabSz="457200">
              <a:lnSpc>
                <a:spcPct val="130000"/>
              </a:lnSpc>
            </a:pPr>
            <a:r>
              <a:rPr b="0" lang="en-US" sz="1200" spc="-1" strike="noStrike">
                <a:solidFill>
                  <a:srgbClr val="93a79d"/>
                </a:solidFill>
                <a:latin typeface="Inter"/>
              </a:rPr>
              <a:t>le croisement avec</a:t>
            </a:r>
            <a:endParaRPr b="0" lang="fr-FR" sz="1200" spc="-1" strike="noStrike">
              <a:solidFill>
                <a:srgbClr val="000000"/>
              </a:solidFill>
              <a:latin typeface="Arial"/>
            </a:endParaRPr>
          </a:p>
          <a:p>
            <a:pPr defTabSz="457200">
              <a:lnSpc>
                <a:spcPct val="130000"/>
              </a:lnSpc>
            </a:pPr>
            <a:r>
              <a:rPr b="0" lang="en-US" sz="1200" spc="-1" strike="noStrike">
                <a:solidFill>
                  <a:srgbClr val="93a79d"/>
                </a:solidFill>
                <a:latin typeface="Inter"/>
              </a:rPr>
              <a:t>l'emprise du couloir.</a:t>
            </a:r>
            <a:endParaRPr b="0" lang="fr-FR" sz="1200" spc="-1" strike="noStrike">
              <a:solidFill>
                <a:srgbClr val="000000"/>
              </a:solidFill>
              <a:latin typeface="Arial"/>
            </a:endParaRPr>
          </a:p>
        </p:txBody>
      </p:sp>
      <p:sp>
        <p:nvSpPr>
          <p:cNvPr id="349" name="Rounded Rectangle 21"/>
          <p:cNvSpPr/>
          <p:nvPr/>
        </p:nvSpPr>
        <p:spPr>
          <a:xfrm>
            <a:off x="713160" y="4572000"/>
            <a:ext cx="10764720" cy="1225080"/>
          </a:xfrm>
          <a:prstGeom prst="roundRect">
            <a:avLst>
              <a:gd name="adj" fmla="val 10000"/>
            </a:avLst>
          </a:prstGeom>
          <a:solidFill>
            <a:srgbClr val="11201a"/>
          </a:solidFill>
          <a:ln w="12700">
            <a:solidFill>
              <a:srgbClr val="34d39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50" name="TextBox 22"/>
          <p:cNvSpPr/>
          <p:nvPr/>
        </p:nvSpPr>
        <p:spPr>
          <a:xfrm>
            <a:off x="1042560" y="4809600"/>
            <a:ext cx="10106640" cy="723960"/>
          </a:xfrm>
          <a:prstGeom prst="rect">
            <a:avLst/>
          </a:prstGeom>
          <a:noFill/>
          <a:ln w="0">
            <a:noFill/>
          </a:ln>
        </p:spPr>
        <p:style>
          <a:lnRef idx="0"/>
          <a:fillRef idx="0"/>
          <a:effectRef idx="0"/>
          <a:fontRef idx="minor"/>
        </p:style>
        <p:txBody>
          <a:bodyPr lIns="0" rIns="0" tIns="0" bIns="0" anchor="t">
            <a:spAutoFit/>
          </a:bodyPr>
          <a:p>
            <a:pPr defTabSz="457200">
              <a:lnSpc>
                <a:spcPct val="125000"/>
              </a:lnSpc>
            </a:pPr>
            <a:r>
              <a:rPr b="1" lang="en-US" sz="1900" spc="-1" strike="noStrike">
                <a:solidFill>
                  <a:srgbClr val="e9f2ed"/>
                </a:solidFill>
                <a:latin typeface="Space Grotesk"/>
              </a:rPr>
              <a:t>Notre contribution n'est pas le classifieur.</a:t>
            </a:r>
            <a:endParaRPr b="0" lang="fr-FR" sz="1900" spc="-1" strike="noStrike">
              <a:solidFill>
                <a:srgbClr val="000000"/>
              </a:solidFill>
              <a:latin typeface="Arial"/>
            </a:endParaRPr>
          </a:p>
          <a:p>
            <a:pPr defTabSz="457200">
              <a:lnSpc>
                <a:spcPct val="125000"/>
              </a:lnSpc>
            </a:pPr>
            <a:r>
              <a:rPr b="1" lang="en-US" sz="1900" spc="-1" strike="noStrike">
                <a:solidFill>
                  <a:srgbClr val="e9f2ed"/>
                </a:solidFill>
                <a:latin typeface="Space Grotesk"/>
              </a:rPr>
              <a:t>C'est le produit de décision remis au comité communal.</a:t>
            </a:r>
            <a:endParaRPr b="0" lang="fr-FR" sz="1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52"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353"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354"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11 / 15</a:t>
            </a:r>
            <a:endParaRPr b="0" lang="fr-FR" sz="900" spc="-1" strike="noStrike">
              <a:solidFill>
                <a:srgbClr val="000000"/>
              </a:solidFill>
              <a:latin typeface="Arial"/>
            </a:endParaRPr>
          </a:p>
        </p:txBody>
      </p:sp>
      <p:sp>
        <p:nvSpPr>
          <p:cNvPr id="355"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56"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LES DONNÉES</a:t>
            </a:r>
            <a:endParaRPr b="0" lang="fr-FR" sz="1100" spc="-1" strike="noStrike">
              <a:solidFill>
                <a:srgbClr val="000000"/>
              </a:solidFill>
              <a:latin typeface="Arial"/>
            </a:endParaRPr>
          </a:p>
        </p:txBody>
      </p:sp>
      <p:sp>
        <p:nvSpPr>
          <p:cNvPr id="357" name="TextBox 7"/>
          <p:cNvSpPr/>
          <p:nvPr/>
        </p:nvSpPr>
        <p:spPr>
          <a:xfrm>
            <a:off x="713160" y="932760"/>
            <a:ext cx="10764720" cy="4849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3000" spc="-1" strike="noStrike">
                <a:solidFill>
                  <a:srgbClr val="e9f2ed"/>
                </a:solidFill>
                <a:latin typeface="Space Grotesk"/>
              </a:rPr>
              <a:t>Ce que nous utilisons, et ce qui manque.</a:t>
            </a:r>
            <a:endParaRPr b="0" lang="fr-FR" sz="3000" spc="-1" strike="noStrike">
              <a:solidFill>
                <a:srgbClr val="000000"/>
              </a:solidFill>
              <a:latin typeface="Arial"/>
            </a:endParaRPr>
          </a:p>
        </p:txBody>
      </p:sp>
      <p:sp>
        <p:nvSpPr>
          <p:cNvPr id="358" name="Rounded Rectangle 8"/>
          <p:cNvSpPr/>
          <p:nvPr/>
        </p:nvSpPr>
        <p:spPr>
          <a:xfrm>
            <a:off x="713160" y="2103120"/>
            <a:ext cx="6446160" cy="387684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59" name="Rectangle 9"/>
          <p:cNvSpPr/>
          <p:nvPr/>
        </p:nvSpPr>
        <p:spPr>
          <a:xfrm>
            <a:off x="713160" y="2092320"/>
            <a:ext cx="644616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360" name="TextBox 10"/>
          <p:cNvSpPr/>
          <p:nvPr/>
        </p:nvSpPr>
        <p:spPr>
          <a:xfrm>
            <a:off x="1005840" y="2359080"/>
            <a:ext cx="5860800" cy="198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100" spc="-1" strike="noStrike">
                <a:solidFill>
                  <a:srgbClr val="34d399"/>
                </a:solidFill>
                <a:latin typeface="Inter"/>
              </a:rPr>
              <a:t>LIBRE, OUVERT, UTILISÉ</a:t>
            </a:r>
            <a:endParaRPr b="0" lang="fr-FR" sz="1100" spc="-1" strike="noStrike">
              <a:solidFill>
                <a:srgbClr val="000000"/>
              </a:solidFill>
              <a:latin typeface="Arial"/>
            </a:endParaRPr>
          </a:p>
        </p:txBody>
      </p:sp>
      <p:sp>
        <p:nvSpPr>
          <p:cNvPr id="361" name="Oval 11"/>
          <p:cNvSpPr/>
          <p:nvPr/>
        </p:nvSpPr>
        <p:spPr>
          <a:xfrm>
            <a:off x="1024200" y="2871360"/>
            <a:ext cx="82080" cy="82080"/>
          </a:xfrm>
          <a:prstGeom prst="ellipse">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3320" bIns="13320" anchor="ctr">
            <a:noAutofit/>
          </a:bodyPr>
          <a:p>
            <a:pPr algn="ctr" defTabSz="457200">
              <a:lnSpc>
                <a:spcPct val="100000"/>
              </a:lnSpc>
            </a:pPr>
            <a:endParaRPr b="0" lang="en-US" sz="1800" spc="-1" strike="noStrike">
              <a:solidFill>
                <a:schemeClr val="lt1"/>
              </a:solidFill>
              <a:latin typeface="Arial"/>
            </a:endParaRPr>
          </a:p>
        </p:txBody>
      </p:sp>
      <p:sp>
        <p:nvSpPr>
          <p:cNvPr id="362" name="TextBox 12"/>
          <p:cNvSpPr/>
          <p:nvPr/>
        </p:nvSpPr>
        <p:spPr>
          <a:xfrm>
            <a:off x="1261800" y="2779920"/>
            <a:ext cx="2697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Sentinel-2</a:t>
            </a:r>
            <a:endParaRPr b="0" lang="fr-FR" sz="1250" spc="-1" strike="noStrike">
              <a:solidFill>
                <a:srgbClr val="000000"/>
              </a:solidFill>
              <a:latin typeface="Arial"/>
            </a:endParaRPr>
          </a:p>
        </p:txBody>
      </p:sp>
      <p:sp>
        <p:nvSpPr>
          <p:cNvPr id="363" name="TextBox 13"/>
          <p:cNvSpPr/>
          <p:nvPr/>
        </p:nvSpPr>
        <p:spPr>
          <a:xfrm>
            <a:off x="4023360" y="2779920"/>
            <a:ext cx="2843280" cy="207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150" spc="-1" strike="noStrike">
                <a:solidFill>
                  <a:srgbClr val="93a79d"/>
                </a:solidFill>
                <a:latin typeface="Inter"/>
              </a:rPr>
              <a:t>optique 10 m · Copernicus</a:t>
            </a:r>
            <a:endParaRPr b="0" lang="fr-FR" sz="1150" spc="-1" strike="noStrike">
              <a:solidFill>
                <a:srgbClr val="000000"/>
              </a:solidFill>
              <a:latin typeface="Arial"/>
            </a:endParaRPr>
          </a:p>
        </p:txBody>
      </p:sp>
      <p:sp>
        <p:nvSpPr>
          <p:cNvPr id="364" name="Oval 14"/>
          <p:cNvSpPr/>
          <p:nvPr/>
        </p:nvSpPr>
        <p:spPr>
          <a:xfrm>
            <a:off x="1024200" y="3218760"/>
            <a:ext cx="82080" cy="82080"/>
          </a:xfrm>
          <a:prstGeom prst="ellipse">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3320" bIns="13320" anchor="ctr">
            <a:noAutofit/>
          </a:bodyPr>
          <a:p>
            <a:pPr algn="ctr" defTabSz="457200">
              <a:lnSpc>
                <a:spcPct val="100000"/>
              </a:lnSpc>
            </a:pPr>
            <a:endParaRPr b="0" lang="en-US" sz="1800" spc="-1" strike="noStrike">
              <a:solidFill>
                <a:schemeClr val="lt1"/>
              </a:solidFill>
              <a:latin typeface="Arial"/>
            </a:endParaRPr>
          </a:p>
        </p:txBody>
      </p:sp>
      <p:sp>
        <p:nvSpPr>
          <p:cNvPr id="365" name="TextBox 15"/>
          <p:cNvSpPr/>
          <p:nvPr/>
        </p:nvSpPr>
        <p:spPr>
          <a:xfrm>
            <a:off x="1261800" y="3127320"/>
            <a:ext cx="2697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EOX s2cloudless</a:t>
            </a:r>
            <a:endParaRPr b="0" lang="fr-FR" sz="1250" spc="-1" strike="noStrike">
              <a:solidFill>
                <a:srgbClr val="000000"/>
              </a:solidFill>
              <a:latin typeface="Arial"/>
            </a:endParaRPr>
          </a:p>
        </p:txBody>
      </p:sp>
      <p:sp>
        <p:nvSpPr>
          <p:cNvPr id="366" name="TextBox 16"/>
          <p:cNvSpPr/>
          <p:nvPr/>
        </p:nvSpPr>
        <p:spPr>
          <a:xfrm>
            <a:off x="4023360" y="3127320"/>
            <a:ext cx="2843280" cy="207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150" spc="-1" strike="noStrike">
                <a:solidFill>
                  <a:srgbClr val="93a79d"/>
                </a:solidFill>
                <a:latin typeface="Inter"/>
              </a:rPr>
              <a:t>tuiles réelles, sans clé, en cache</a:t>
            </a:r>
            <a:endParaRPr b="0" lang="fr-FR" sz="1150" spc="-1" strike="noStrike">
              <a:solidFill>
                <a:srgbClr val="000000"/>
              </a:solidFill>
              <a:latin typeface="Arial"/>
            </a:endParaRPr>
          </a:p>
        </p:txBody>
      </p:sp>
      <p:sp>
        <p:nvSpPr>
          <p:cNvPr id="367" name="Oval 17"/>
          <p:cNvSpPr/>
          <p:nvPr/>
        </p:nvSpPr>
        <p:spPr>
          <a:xfrm>
            <a:off x="1024200" y="3566160"/>
            <a:ext cx="82080" cy="82080"/>
          </a:xfrm>
          <a:prstGeom prst="ellipse">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3320" bIns="13320" anchor="ctr">
            <a:noAutofit/>
          </a:bodyPr>
          <a:p>
            <a:pPr algn="ctr" defTabSz="457200">
              <a:lnSpc>
                <a:spcPct val="100000"/>
              </a:lnSpc>
            </a:pPr>
            <a:endParaRPr b="0" lang="en-US" sz="1800" spc="-1" strike="noStrike">
              <a:solidFill>
                <a:schemeClr val="lt1"/>
              </a:solidFill>
              <a:latin typeface="Arial"/>
            </a:endParaRPr>
          </a:p>
        </p:txBody>
      </p:sp>
      <p:sp>
        <p:nvSpPr>
          <p:cNvPr id="368" name="TextBox 18"/>
          <p:cNvSpPr/>
          <p:nvPr/>
        </p:nvSpPr>
        <p:spPr>
          <a:xfrm>
            <a:off x="1261800" y="3474720"/>
            <a:ext cx="2697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EuroSAT (Zenodo)</a:t>
            </a:r>
            <a:endParaRPr b="0" lang="fr-FR" sz="1250" spc="-1" strike="noStrike">
              <a:solidFill>
                <a:srgbClr val="000000"/>
              </a:solidFill>
              <a:latin typeface="Arial"/>
            </a:endParaRPr>
          </a:p>
        </p:txBody>
      </p:sp>
      <p:sp>
        <p:nvSpPr>
          <p:cNvPr id="369" name="TextBox 19"/>
          <p:cNvSpPr/>
          <p:nvPr/>
        </p:nvSpPr>
        <p:spPr>
          <a:xfrm>
            <a:off x="4023360" y="3474720"/>
            <a:ext cx="2843280" cy="207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150" spc="-1" strike="noStrike">
                <a:solidFill>
                  <a:srgbClr val="93a79d"/>
                </a:solidFill>
                <a:latin typeface="Inter"/>
              </a:rPr>
              <a:t>27 000 vignettes étiquetées</a:t>
            </a:r>
            <a:endParaRPr b="0" lang="fr-FR" sz="1150" spc="-1" strike="noStrike">
              <a:solidFill>
                <a:srgbClr val="000000"/>
              </a:solidFill>
              <a:latin typeface="Arial"/>
            </a:endParaRPr>
          </a:p>
        </p:txBody>
      </p:sp>
      <p:sp>
        <p:nvSpPr>
          <p:cNvPr id="370" name="Oval 20"/>
          <p:cNvSpPr/>
          <p:nvPr/>
        </p:nvSpPr>
        <p:spPr>
          <a:xfrm>
            <a:off x="1024200" y="3913560"/>
            <a:ext cx="82080" cy="82080"/>
          </a:xfrm>
          <a:prstGeom prst="ellipse">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3320" bIns="13320" anchor="ctr">
            <a:noAutofit/>
          </a:bodyPr>
          <a:p>
            <a:pPr algn="ctr" defTabSz="457200">
              <a:lnSpc>
                <a:spcPct val="100000"/>
              </a:lnSpc>
            </a:pPr>
            <a:endParaRPr b="0" lang="en-US" sz="1800" spc="-1" strike="noStrike">
              <a:solidFill>
                <a:schemeClr val="lt1"/>
              </a:solidFill>
              <a:latin typeface="Arial"/>
            </a:endParaRPr>
          </a:p>
        </p:txBody>
      </p:sp>
      <p:sp>
        <p:nvSpPr>
          <p:cNvPr id="371" name="TextBox 21"/>
          <p:cNvSpPr/>
          <p:nvPr/>
        </p:nvSpPr>
        <p:spPr>
          <a:xfrm>
            <a:off x="1261800" y="3822120"/>
            <a:ext cx="2697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Sentinel-1</a:t>
            </a:r>
            <a:endParaRPr b="0" lang="fr-FR" sz="1250" spc="-1" strike="noStrike">
              <a:solidFill>
                <a:srgbClr val="000000"/>
              </a:solidFill>
              <a:latin typeface="Arial"/>
            </a:endParaRPr>
          </a:p>
        </p:txBody>
      </p:sp>
      <p:sp>
        <p:nvSpPr>
          <p:cNvPr id="372" name="TextBox 22"/>
          <p:cNvSpPr/>
          <p:nvPr/>
        </p:nvSpPr>
        <p:spPr>
          <a:xfrm>
            <a:off x="4023360" y="3822120"/>
            <a:ext cx="2843280" cy="207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150" spc="-1" strike="noStrike">
                <a:solidFill>
                  <a:srgbClr val="93a79d"/>
                </a:solidFill>
                <a:latin typeface="Inter"/>
              </a:rPr>
              <a:t>radar · non encore implémenté</a:t>
            </a:r>
            <a:endParaRPr b="0" lang="fr-FR" sz="1150" spc="-1" strike="noStrike">
              <a:solidFill>
                <a:srgbClr val="000000"/>
              </a:solidFill>
              <a:latin typeface="Arial"/>
            </a:endParaRPr>
          </a:p>
        </p:txBody>
      </p:sp>
      <p:sp>
        <p:nvSpPr>
          <p:cNvPr id="373" name="Oval 23"/>
          <p:cNvSpPr/>
          <p:nvPr/>
        </p:nvSpPr>
        <p:spPr>
          <a:xfrm>
            <a:off x="1024200" y="4260960"/>
            <a:ext cx="82080" cy="82080"/>
          </a:xfrm>
          <a:prstGeom prst="ellipse">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3320" bIns="13320" anchor="ctr">
            <a:noAutofit/>
          </a:bodyPr>
          <a:p>
            <a:pPr algn="ctr" defTabSz="457200">
              <a:lnSpc>
                <a:spcPct val="100000"/>
              </a:lnSpc>
            </a:pPr>
            <a:endParaRPr b="0" lang="en-US" sz="1800" spc="-1" strike="noStrike">
              <a:solidFill>
                <a:schemeClr val="lt1"/>
              </a:solidFill>
              <a:latin typeface="Arial"/>
            </a:endParaRPr>
          </a:p>
        </p:txBody>
      </p:sp>
      <p:sp>
        <p:nvSpPr>
          <p:cNvPr id="374" name="TextBox 24"/>
          <p:cNvSpPr/>
          <p:nvPr/>
        </p:nvSpPr>
        <p:spPr>
          <a:xfrm>
            <a:off x="1261800" y="4169520"/>
            <a:ext cx="2697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Dynamic World V1</a:t>
            </a:r>
            <a:endParaRPr b="0" lang="fr-FR" sz="1250" spc="-1" strike="noStrike">
              <a:solidFill>
                <a:srgbClr val="000000"/>
              </a:solidFill>
              <a:latin typeface="Arial"/>
            </a:endParaRPr>
          </a:p>
        </p:txBody>
      </p:sp>
      <p:sp>
        <p:nvSpPr>
          <p:cNvPr id="375" name="TextBox 25"/>
          <p:cNvSpPr/>
          <p:nvPr/>
        </p:nvSpPr>
        <p:spPr>
          <a:xfrm>
            <a:off x="4023360" y="4169520"/>
            <a:ext cx="2843280" cy="207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150" spc="-1" strike="noStrike">
                <a:solidFill>
                  <a:srgbClr val="93a79d"/>
                </a:solidFill>
                <a:latin typeface="Inter"/>
              </a:rPr>
              <a:t>occupation du sol quasi temps réel</a:t>
            </a:r>
            <a:endParaRPr b="0" lang="fr-FR" sz="1150" spc="-1" strike="noStrike">
              <a:solidFill>
                <a:srgbClr val="000000"/>
              </a:solidFill>
              <a:latin typeface="Arial"/>
            </a:endParaRPr>
          </a:p>
        </p:txBody>
      </p:sp>
      <p:sp>
        <p:nvSpPr>
          <p:cNvPr id="376" name="Oval 26"/>
          <p:cNvSpPr/>
          <p:nvPr/>
        </p:nvSpPr>
        <p:spPr>
          <a:xfrm>
            <a:off x="1024200" y="4608720"/>
            <a:ext cx="82080" cy="82080"/>
          </a:xfrm>
          <a:prstGeom prst="ellipse">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3320" bIns="13320" anchor="ctr">
            <a:noAutofit/>
          </a:bodyPr>
          <a:p>
            <a:pPr algn="ctr" defTabSz="457200">
              <a:lnSpc>
                <a:spcPct val="100000"/>
              </a:lnSpc>
            </a:pPr>
            <a:endParaRPr b="0" lang="en-US" sz="1800" spc="-1" strike="noStrike">
              <a:solidFill>
                <a:schemeClr val="lt1"/>
              </a:solidFill>
              <a:latin typeface="Arial"/>
            </a:endParaRPr>
          </a:p>
        </p:txBody>
      </p:sp>
      <p:sp>
        <p:nvSpPr>
          <p:cNvPr id="377" name="TextBox 27"/>
          <p:cNvSpPr/>
          <p:nvPr/>
        </p:nvSpPr>
        <p:spPr>
          <a:xfrm>
            <a:off x="1261800" y="4517280"/>
            <a:ext cx="2697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ESA WorldCover v200</a:t>
            </a:r>
            <a:endParaRPr b="0" lang="fr-FR" sz="1250" spc="-1" strike="noStrike">
              <a:solidFill>
                <a:srgbClr val="000000"/>
              </a:solidFill>
              <a:latin typeface="Arial"/>
            </a:endParaRPr>
          </a:p>
        </p:txBody>
      </p:sp>
      <p:sp>
        <p:nvSpPr>
          <p:cNvPr id="378" name="TextBox 28"/>
          <p:cNvSpPr/>
          <p:nvPr/>
        </p:nvSpPr>
        <p:spPr>
          <a:xfrm>
            <a:off x="4023360" y="4517280"/>
            <a:ext cx="2843280" cy="207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150" spc="-1" strike="noStrike">
                <a:solidFill>
                  <a:srgbClr val="93a79d"/>
                </a:solidFill>
                <a:latin typeface="Inter"/>
              </a:rPr>
              <a:t>10 m · 11 classes dont cropland</a:t>
            </a:r>
            <a:endParaRPr b="0" lang="fr-FR" sz="1150" spc="-1" strike="noStrike">
              <a:solidFill>
                <a:srgbClr val="000000"/>
              </a:solidFill>
              <a:latin typeface="Arial"/>
            </a:endParaRPr>
          </a:p>
        </p:txBody>
      </p:sp>
      <p:sp>
        <p:nvSpPr>
          <p:cNvPr id="379" name="Oval 29"/>
          <p:cNvSpPr/>
          <p:nvPr/>
        </p:nvSpPr>
        <p:spPr>
          <a:xfrm>
            <a:off x="1024200" y="4956120"/>
            <a:ext cx="82080" cy="82080"/>
          </a:xfrm>
          <a:prstGeom prst="ellipse">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3320" bIns="13320" anchor="ctr">
            <a:noAutofit/>
          </a:bodyPr>
          <a:p>
            <a:pPr algn="ctr" defTabSz="457200">
              <a:lnSpc>
                <a:spcPct val="100000"/>
              </a:lnSpc>
            </a:pPr>
            <a:endParaRPr b="0" lang="en-US" sz="1800" spc="-1" strike="noStrike">
              <a:solidFill>
                <a:schemeClr val="lt1"/>
              </a:solidFill>
              <a:latin typeface="Arial"/>
            </a:endParaRPr>
          </a:p>
        </p:txBody>
      </p:sp>
      <p:sp>
        <p:nvSpPr>
          <p:cNvPr id="380" name="TextBox 30"/>
          <p:cNvSpPr/>
          <p:nvPr/>
        </p:nvSpPr>
        <p:spPr>
          <a:xfrm>
            <a:off x="1261800" y="4864680"/>
            <a:ext cx="2697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OpenStreetMap Bénin</a:t>
            </a:r>
            <a:endParaRPr b="0" lang="fr-FR" sz="1250" spc="-1" strike="noStrike">
              <a:solidFill>
                <a:srgbClr val="000000"/>
              </a:solidFill>
              <a:latin typeface="Arial"/>
            </a:endParaRPr>
          </a:p>
        </p:txBody>
      </p:sp>
      <p:sp>
        <p:nvSpPr>
          <p:cNvPr id="381" name="TextBox 31"/>
          <p:cNvSpPr/>
          <p:nvPr/>
        </p:nvSpPr>
        <p:spPr>
          <a:xfrm>
            <a:off x="4023360" y="4864680"/>
            <a:ext cx="2843280" cy="207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150" spc="-1" strike="noStrike">
                <a:solidFill>
                  <a:srgbClr val="93a79d"/>
                </a:solidFill>
                <a:latin typeface="Inter"/>
              </a:rPr>
              <a:t>Geofabrik</a:t>
            </a:r>
            <a:endParaRPr b="0" lang="fr-FR" sz="1150" spc="-1" strike="noStrike">
              <a:solidFill>
                <a:srgbClr val="000000"/>
              </a:solidFill>
              <a:latin typeface="Arial"/>
            </a:endParaRPr>
          </a:p>
        </p:txBody>
      </p:sp>
      <p:sp>
        <p:nvSpPr>
          <p:cNvPr id="382" name="Oval 32"/>
          <p:cNvSpPr/>
          <p:nvPr/>
        </p:nvSpPr>
        <p:spPr>
          <a:xfrm>
            <a:off x="1024200" y="5303520"/>
            <a:ext cx="82080" cy="82080"/>
          </a:xfrm>
          <a:prstGeom prst="ellipse">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3320" bIns="13320" anchor="ctr">
            <a:noAutofit/>
          </a:bodyPr>
          <a:p>
            <a:pPr algn="ctr" defTabSz="457200">
              <a:lnSpc>
                <a:spcPct val="100000"/>
              </a:lnSpc>
            </a:pPr>
            <a:endParaRPr b="0" lang="en-US" sz="1800" spc="-1" strike="noStrike">
              <a:solidFill>
                <a:schemeClr val="lt1"/>
              </a:solidFill>
              <a:latin typeface="Arial"/>
            </a:endParaRPr>
          </a:p>
        </p:txBody>
      </p:sp>
      <p:sp>
        <p:nvSpPr>
          <p:cNvPr id="383" name="TextBox 33"/>
          <p:cNvSpPr/>
          <p:nvPr/>
        </p:nvSpPr>
        <p:spPr>
          <a:xfrm>
            <a:off x="1261800" y="5212080"/>
            <a:ext cx="2697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Limites administratives</a:t>
            </a:r>
            <a:endParaRPr b="0" lang="fr-FR" sz="1250" spc="-1" strike="noStrike">
              <a:solidFill>
                <a:srgbClr val="000000"/>
              </a:solidFill>
              <a:latin typeface="Arial"/>
            </a:endParaRPr>
          </a:p>
        </p:txBody>
      </p:sp>
      <p:sp>
        <p:nvSpPr>
          <p:cNvPr id="384" name="TextBox 34"/>
          <p:cNvSpPr/>
          <p:nvPr/>
        </p:nvSpPr>
        <p:spPr>
          <a:xfrm>
            <a:off x="4023360" y="5212080"/>
            <a:ext cx="2843280" cy="207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150" spc="-1" strike="noStrike">
                <a:solidFill>
                  <a:srgbClr val="93a79d"/>
                </a:solidFill>
                <a:latin typeface="Inter"/>
              </a:rPr>
              <a:t>HDX</a:t>
            </a:r>
            <a:endParaRPr b="0" lang="fr-FR" sz="1150" spc="-1" strike="noStrike">
              <a:solidFill>
                <a:srgbClr val="000000"/>
              </a:solidFill>
              <a:latin typeface="Arial"/>
            </a:endParaRPr>
          </a:p>
        </p:txBody>
      </p:sp>
      <p:sp>
        <p:nvSpPr>
          <p:cNvPr id="385" name="Oval 35"/>
          <p:cNvSpPr/>
          <p:nvPr/>
        </p:nvSpPr>
        <p:spPr>
          <a:xfrm>
            <a:off x="1024200" y="5650920"/>
            <a:ext cx="82080" cy="82080"/>
          </a:xfrm>
          <a:prstGeom prst="ellipse">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3320" bIns="13320" anchor="ctr">
            <a:noAutofit/>
          </a:bodyPr>
          <a:p>
            <a:pPr algn="ctr" defTabSz="457200">
              <a:lnSpc>
                <a:spcPct val="100000"/>
              </a:lnSpc>
            </a:pPr>
            <a:endParaRPr b="0" lang="en-US" sz="1800" spc="-1" strike="noStrike">
              <a:solidFill>
                <a:schemeClr val="lt1"/>
              </a:solidFill>
              <a:latin typeface="Arial"/>
            </a:endParaRPr>
          </a:p>
        </p:txBody>
      </p:sp>
      <p:sp>
        <p:nvSpPr>
          <p:cNvPr id="386" name="TextBox 36"/>
          <p:cNvSpPr/>
          <p:nvPr/>
        </p:nvSpPr>
        <p:spPr>
          <a:xfrm>
            <a:off x="1261800" y="5559480"/>
            <a:ext cx="2697120" cy="225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250" spc="-1" strike="noStrike">
                <a:solidFill>
                  <a:srgbClr val="e9f2ed"/>
                </a:solidFill>
                <a:latin typeface="Inter"/>
              </a:rPr>
              <a:t>OIM TTT-DTM</a:t>
            </a:r>
            <a:endParaRPr b="0" lang="fr-FR" sz="1250" spc="-1" strike="noStrike">
              <a:solidFill>
                <a:srgbClr val="000000"/>
              </a:solidFill>
              <a:latin typeface="Arial"/>
            </a:endParaRPr>
          </a:p>
        </p:txBody>
      </p:sp>
      <p:sp>
        <p:nvSpPr>
          <p:cNvPr id="387" name="TextBox 37"/>
          <p:cNvSpPr/>
          <p:nvPr/>
        </p:nvSpPr>
        <p:spPr>
          <a:xfrm>
            <a:off x="4023360" y="5559480"/>
            <a:ext cx="2843280" cy="207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1150" spc="-1" strike="noStrike">
                <a:solidFill>
                  <a:srgbClr val="93a79d"/>
                </a:solidFill>
                <a:latin typeface="Inter"/>
              </a:rPr>
              <a:t>mouvements de transhumance</a:t>
            </a:r>
            <a:endParaRPr b="0" lang="fr-FR" sz="1150" spc="-1" strike="noStrike">
              <a:solidFill>
                <a:srgbClr val="000000"/>
              </a:solidFill>
              <a:latin typeface="Arial"/>
            </a:endParaRPr>
          </a:p>
        </p:txBody>
      </p:sp>
      <p:sp>
        <p:nvSpPr>
          <p:cNvPr id="388" name="Rounded Rectangle 38"/>
          <p:cNvSpPr/>
          <p:nvPr/>
        </p:nvSpPr>
        <p:spPr>
          <a:xfrm>
            <a:off x="7525440" y="2103120"/>
            <a:ext cx="3952440" cy="1846800"/>
          </a:xfrm>
          <a:prstGeom prst="roundRect">
            <a:avLst>
              <a:gd name="adj" fmla="val 10000"/>
            </a:avLst>
          </a:prstGeom>
          <a:solidFill>
            <a:srgbClr val="11201a"/>
          </a:solidFill>
          <a:ln w="12700">
            <a:solidFill>
              <a:srgbClr val="f5b54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89" name="Rectangle 39"/>
          <p:cNvSpPr/>
          <p:nvPr/>
        </p:nvSpPr>
        <p:spPr>
          <a:xfrm>
            <a:off x="7525440" y="2092320"/>
            <a:ext cx="3952440" cy="453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390" name="TextBox 40"/>
          <p:cNvSpPr/>
          <p:nvPr/>
        </p:nvSpPr>
        <p:spPr>
          <a:xfrm>
            <a:off x="7818120" y="2359080"/>
            <a:ext cx="3367440" cy="198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100" spc="-1" strike="noStrike">
                <a:solidFill>
                  <a:srgbClr val="f5b544"/>
                </a:solidFill>
                <a:latin typeface="Inter"/>
              </a:rPr>
              <a:t>CE QUI MANQUE</a:t>
            </a:r>
            <a:endParaRPr b="0" lang="fr-FR" sz="1100" spc="-1" strike="noStrike">
              <a:solidFill>
                <a:srgbClr val="000000"/>
              </a:solidFill>
              <a:latin typeface="Arial"/>
            </a:endParaRPr>
          </a:p>
        </p:txBody>
      </p:sp>
      <p:sp>
        <p:nvSpPr>
          <p:cNvPr id="391" name="TextBox 41"/>
          <p:cNvSpPr/>
          <p:nvPr/>
        </p:nvSpPr>
        <p:spPr>
          <a:xfrm>
            <a:off x="7818120" y="2743200"/>
            <a:ext cx="3367440" cy="1005480"/>
          </a:xfrm>
          <a:prstGeom prst="rect">
            <a:avLst/>
          </a:prstGeom>
          <a:noFill/>
          <a:ln w="0">
            <a:noFill/>
          </a:ln>
        </p:spPr>
        <p:style>
          <a:lnRef idx="0"/>
          <a:fillRef idx="0"/>
          <a:effectRef idx="0"/>
          <a:fontRef idx="minor"/>
        </p:style>
        <p:txBody>
          <a:bodyPr lIns="0" rIns="0" tIns="0" bIns="0" anchor="t">
            <a:spAutoFit/>
          </a:bodyPr>
          <a:p>
            <a:pPr defTabSz="457200">
              <a:lnSpc>
                <a:spcPct val="132000"/>
              </a:lnSpc>
            </a:pPr>
            <a:r>
              <a:rPr b="0" lang="en-US" sz="1250" spc="-1" strike="noStrike">
                <a:solidFill>
                  <a:srgbClr val="93a79d"/>
                </a:solidFill>
                <a:latin typeface="Inter"/>
              </a:rPr>
              <a:t>Aucun jeu ouvert de polygones</a:t>
            </a:r>
            <a:endParaRPr b="0" lang="fr-FR" sz="1250" spc="-1" strike="noStrike">
              <a:solidFill>
                <a:srgbClr val="000000"/>
              </a:solidFill>
              <a:latin typeface="Arial"/>
            </a:endParaRPr>
          </a:p>
          <a:p>
            <a:pPr defTabSz="457200">
              <a:lnSpc>
                <a:spcPct val="132000"/>
              </a:lnSpc>
            </a:pPr>
            <a:r>
              <a:rPr b="0" lang="en-US" sz="1250" spc="-1" strike="noStrike">
                <a:solidFill>
                  <a:srgbClr val="93a79d"/>
                </a:solidFill>
                <a:latin typeface="Inter"/>
              </a:rPr>
              <a:t>de couloirs au Bénin.</a:t>
            </a:r>
            <a:endParaRPr b="0" lang="fr-FR" sz="1250" spc="-1" strike="noStrike">
              <a:solidFill>
                <a:srgbClr val="000000"/>
              </a:solidFill>
              <a:latin typeface="Arial"/>
            </a:endParaRPr>
          </a:p>
          <a:p>
            <a:pPr defTabSz="457200">
              <a:lnSpc>
                <a:spcPct val="132000"/>
              </a:lnSpc>
            </a:pPr>
            <a:r>
              <a:rPr b="0" lang="en-US" sz="1250" spc="-1" strike="noStrike">
                <a:solidFill>
                  <a:srgbClr val="93a79d"/>
                </a:solidFill>
                <a:latin typeface="Inter"/>
              </a:rPr>
              <a:t>Le PFR de l'ANDF existe, mais fermé.</a:t>
            </a:r>
            <a:endParaRPr b="0" lang="fr-FR" sz="1250" spc="-1" strike="noStrike">
              <a:solidFill>
                <a:srgbClr val="000000"/>
              </a:solidFill>
              <a:latin typeface="Arial"/>
            </a:endParaRPr>
          </a:p>
          <a:p>
            <a:pPr defTabSz="457200">
              <a:lnSpc>
                <a:spcPct val="132000"/>
              </a:lnSpc>
            </a:pPr>
            <a:r>
              <a:rPr b="0" lang="en-US" sz="1250" spc="-1" strike="noStrike">
                <a:solidFill>
                  <a:srgbClr val="93a79d"/>
                </a:solidFill>
                <a:latin typeface="Inter"/>
              </a:rPr>
              <a:t>Aucune parcelle annotée sur zone.</a:t>
            </a:r>
            <a:endParaRPr b="0" lang="fr-FR" sz="1250" spc="-1" strike="noStrike">
              <a:solidFill>
                <a:srgbClr val="000000"/>
              </a:solidFill>
              <a:latin typeface="Arial"/>
            </a:endParaRPr>
          </a:p>
        </p:txBody>
      </p:sp>
      <p:sp>
        <p:nvSpPr>
          <p:cNvPr id="392" name="Rounded Rectangle 42"/>
          <p:cNvSpPr/>
          <p:nvPr/>
        </p:nvSpPr>
        <p:spPr>
          <a:xfrm>
            <a:off x="7525440" y="4151520"/>
            <a:ext cx="3952440" cy="1773720"/>
          </a:xfrm>
          <a:prstGeom prst="roundRect">
            <a:avLst>
              <a:gd name="adj" fmla="val 10000"/>
            </a:avLst>
          </a:prstGeom>
          <a:solidFill>
            <a:srgbClr val="11201a"/>
          </a:solidFill>
          <a:ln w="12700">
            <a:solidFill>
              <a:srgbClr val="d9b48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93" name="Rectangle 43"/>
          <p:cNvSpPr/>
          <p:nvPr/>
        </p:nvSpPr>
        <p:spPr>
          <a:xfrm>
            <a:off x="7525440" y="4140360"/>
            <a:ext cx="3952440" cy="4536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394" name="TextBox 44"/>
          <p:cNvSpPr/>
          <p:nvPr/>
        </p:nvSpPr>
        <p:spPr>
          <a:xfrm>
            <a:off x="7818120" y="4407480"/>
            <a:ext cx="3367440" cy="198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100" spc="-1" strike="noStrike">
                <a:solidFill>
                  <a:srgbClr val="d9b48f"/>
                </a:solidFill>
                <a:latin typeface="Inter"/>
              </a:rPr>
              <a:t>CE QUE NOUS FAISONS</a:t>
            </a:r>
            <a:endParaRPr b="0" lang="fr-FR" sz="1100" spc="-1" strike="noStrike">
              <a:solidFill>
                <a:srgbClr val="000000"/>
              </a:solidFill>
              <a:latin typeface="Arial"/>
            </a:endParaRPr>
          </a:p>
        </p:txBody>
      </p:sp>
      <p:sp>
        <p:nvSpPr>
          <p:cNvPr id="395" name="TextBox 45"/>
          <p:cNvSpPr/>
          <p:nvPr/>
        </p:nvSpPr>
        <p:spPr>
          <a:xfrm>
            <a:off x="7818120" y="4791600"/>
            <a:ext cx="3367440" cy="1005480"/>
          </a:xfrm>
          <a:prstGeom prst="rect">
            <a:avLst/>
          </a:prstGeom>
          <a:noFill/>
          <a:ln w="0">
            <a:noFill/>
          </a:ln>
        </p:spPr>
        <p:style>
          <a:lnRef idx="0"/>
          <a:fillRef idx="0"/>
          <a:effectRef idx="0"/>
          <a:fontRef idx="minor"/>
        </p:style>
        <p:txBody>
          <a:bodyPr lIns="0" rIns="0" tIns="0" bIns="0" anchor="t">
            <a:spAutoFit/>
          </a:bodyPr>
          <a:p>
            <a:pPr defTabSz="457200">
              <a:lnSpc>
                <a:spcPct val="132000"/>
              </a:lnSpc>
            </a:pPr>
            <a:r>
              <a:rPr b="0" lang="en-US" sz="1250" spc="-1" strike="noStrike">
                <a:solidFill>
                  <a:srgbClr val="e9f2ed"/>
                </a:solidFill>
                <a:latin typeface="Inter"/>
              </a:rPr>
              <a:t>L'emprise du couloir est reconstituée</a:t>
            </a:r>
            <a:endParaRPr b="0" lang="fr-FR" sz="1250" spc="-1" strike="noStrike">
              <a:solidFill>
                <a:srgbClr val="000000"/>
              </a:solidFill>
              <a:latin typeface="Arial"/>
            </a:endParaRPr>
          </a:p>
          <a:p>
            <a:pPr defTabSz="457200">
              <a:lnSpc>
                <a:spcPct val="132000"/>
              </a:lnSpc>
            </a:pPr>
            <a:r>
              <a:rPr b="0" lang="en-US" sz="1250" spc="-1" strike="noStrike">
                <a:solidFill>
                  <a:srgbClr val="e9f2ed"/>
                </a:solidFill>
                <a:latin typeface="Inter"/>
              </a:rPr>
              <a:t>par l'équipe, sans valeur officielle.</a:t>
            </a:r>
            <a:endParaRPr b="0" lang="fr-FR" sz="1250" spc="-1" strike="noStrike">
              <a:solidFill>
                <a:srgbClr val="000000"/>
              </a:solidFill>
              <a:latin typeface="Arial"/>
            </a:endParaRPr>
          </a:p>
          <a:p>
            <a:pPr defTabSz="457200">
              <a:lnSpc>
                <a:spcPct val="132000"/>
              </a:lnSpc>
            </a:pPr>
            <a:r>
              <a:rPr b="0" lang="en-US" sz="1250" spc="-1" strike="noStrike">
                <a:solidFill>
                  <a:srgbClr val="e9f2ed"/>
                </a:solidFill>
                <a:latin typeface="Inter"/>
              </a:rPr>
              <a:t>Les couches géographiques</a:t>
            </a:r>
            <a:endParaRPr b="0" lang="fr-FR" sz="1250" spc="-1" strike="noStrike">
              <a:solidFill>
                <a:srgbClr val="000000"/>
              </a:solidFill>
              <a:latin typeface="Arial"/>
            </a:endParaRPr>
          </a:p>
          <a:p>
            <a:pPr defTabSz="457200">
              <a:lnSpc>
                <a:spcPct val="132000"/>
              </a:lnSpc>
            </a:pPr>
            <a:r>
              <a:rPr b="0" lang="en-US" sz="1250" spc="-1" strike="noStrike">
                <a:solidFill>
                  <a:srgbClr val="e9f2ed"/>
                </a:solidFill>
                <a:latin typeface="Inter"/>
              </a:rPr>
              <a:t>sont générées.</a:t>
            </a:r>
            <a:endParaRPr b="0" lang="fr-FR" sz="12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397"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398"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399"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12 / 15</a:t>
            </a:r>
            <a:endParaRPr b="0" lang="fr-FR" sz="900" spc="-1" strike="noStrike">
              <a:solidFill>
                <a:srgbClr val="000000"/>
              </a:solidFill>
              <a:latin typeface="Arial"/>
            </a:endParaRPr>
          </a:p>
        </p:txBody>
      </p:sp>
      <p:sp>
        <p:nvSpPr>
          <p:cNvPr id="400"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01"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IA ET LANGUES LOCALES</a:t>
            </a:r>
            <a:endParaRPr b="0" lang="fr-FR" sz="1100" spc="-1" strike="noStrike">
              <a:solidFill>
                <a:srgbClr val="000000"/>
              </a:solidFill>
              <a:latin typeface="Arial"/>
            </a:endParaRPr>
          </a:p>
        </p:txBody>
      </p:sp>
      <p:sp>
        <p:nvSpPr>
          <p:cNvPr id="402" name="TextBox 7"/>
          <p:cNvSpPr/>
          <p:nvPr/>
        </p:nvSpPr>
        <p:spPr>
          <a:xfrm>
            <a:off x="713160" y="932760"/>
            <a:ext cx="10764720" cy="4849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3000" spc="-1" strike="noStrike">
                <a:solidFill>
                  <a:srgbClr val="e9f2ed"/>
                </a:solidFill>
                <a:latin typeface="Space Grotesk"/>
              </a:rPr>
              <a:t>L'éleveur dans la boucle.</a:t>
            </a:r>
            <a:endParaRPr b="0" lang="fr-FR" sz="3000" spc="-1" strike="noStrike">
              <a:solidFill>
                <a:srgbClr val="000000"/>
              </a:solidFill>
              <a:latin typeface="Arial"/>
            </a:endParaRPr>
          </a:p>
        </p:txBody>
      </p:sp>
      <p:sp>
        <p:nvSpPr>
          <p:cNvPr id="403" name="TextBox 8"/>
          <p:cNvSpPr/>
          <p:nvPr/>
        </p:nvSpPr>
        <p:spPr>
          <a:xfrm>
            <a:off x="713160" y="1613880"/>
            <a:ext cx="10216080" cy="273600"/>
          </a:xfrm>
          <a:prstGeom prst="rect">
            <a:avLst/>
          </a:prstGeom>
          <a:noFill/>
          <a:ln w="0">
            <a:noFill/>
          </a:ln>
        </p:spPr>
        <p:style>
          <a:lnRef idx="0"/>
          <a:fillRef idx="0"/>
          <a:effectRef idx="0"/>
          <a:fontRef idx="minor"/>
        </p:style>
        <p:txBody>
          <a:bodyPr lIns="0" rIns="0" tIns="0" bIns="0" anchor="t">
            <a:spAutoFit/>
          </a:bodyPr>
          <a:p>
            <a:pPr defTabSz="457200">
              <a:lnSpc>
                <a:spcPct val="128000"/>
              </a:lnSpc>
            </a:pPr>
            <a:r>
              <a:rPr b="0" lang="en-US" sz="1400" spc="-1" strike="noStrike">
                <a:solidFill>
                  <a:srgbClr val="93a79d"/>
                </a:solidFill>
                <a:latin typeface="Inter"/>
              </a:rPr>
              <a:t>Une décision que son destinataire ne peut pas lire n'est pas une décision diffusée.</a:t>
            </a:r>
            <a:endParaRPr b="0" lang="fr-FR" sz="1400" spc="-1" strike="noStrike">
              <a:solidFill>
                <a:srgbClr val="000000"/>
              </a:solidFill>
              <a:latin typeface="Arial"/>
            </a:endParaRPr>
          </a:p>
        </p:txBody>
      </p:sp>
      <p:sp>
        <p:nvSpPr>
          <p:cNvPr id="404" name="Rounded Rectangle 9"/>
          <p:cNvSpPr/>
          <p:nvPr/>
        </p:nvSpPr>
        <p:spPr>
          <a:xfrm>
            <a:off x="713160" y="2788920"/>
            <a:ext cx="2486880" cy="1416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05" name="Rectangle 10"/>
          <p:cNvSpPr/>
          <p:nvPr/>
        </p:nvSpPr>
        <p:spPr>
          <a:xfrm>
            <a:off x="713160" y="2778120"/>
            <a:ext cx="248688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06" name="TextBox 11"/>
          <p:cNvSpPr/>
          <p:nvPr/>
        </p:nvSpPr>
        <p:spPr>
          <a:xfrm>
            <a:off x="932760" y="3063240"/>
            <a:ext cx="2048040" cy="23508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400" spc="-1" strike="noStrike">
                <a:solidFill>
                  <a:srgbClr val="e9f2ed"/>
                </a:solidFill>
                <a:latin typeface="Space Grotesk"/>
              </a:rPr>
              <a:t>Comité</a:t>
            </a:r>
            <a:endParaRPr b="0" lang="fr-FR" sz="1400" spc="-1" strike="noStrike">
              <a:solidFill>
                <a:srgbClr val="000000"/>
              </a:solidFill>
              <a:latin typeface="Arial"/>
            </a:endParaRPr>
          </a:p>
        </p:txBody>
      </p:sp>
      <p:sp>
        <p:nvSpPr>
          <p:cNvPr id="407" name="TextBox 12"/>
          <p:cNvSpPr/>
          <p:nvPr/>
        </p:nvSpPr>
        <p:spPr>
          <a:xfrm>
            <a:off x="932760" y="3666600"/>
            <a:ext cx="2048040" cy="419400"/>
          </a:xfrm>
          <a:prstGeom prst="rect">
            <a:avLst/>
          </a:prstGeom>
          <a:noFill/>
          <a:ln w="0">
            <a:noFill/>
          </a:ln>
        </p:spPr>
        <p:style>
          <a:lnRef idx="0"/>
          <a:fillRef idx="0"/>
          <a:effectRef idx="0"/>
          <a:fontRef idx="minor"/>
        </p:style>
        <p:txBody>
          <a:bodyPr lIns="0" rIns="0" tIns="0" bIns="0" anchor="t">
            <a:spAutoFit/>
          </a:bodyPr>
          <a:p>
            <a:pPr defTabSz="457200">
              <a:lnSpc>
                <a:spcPct val="125000"/>
              </a:lnSpc>
            </a:pPr>
            <a:r>
              <a:rPr b="0" lang="en-US" sz="1100" spc="-1" strike="noStrike">
                <a:solidFill>
                  <a:srgbClr val="93a79d"/>
                </a:solidFill>
                <a:latin typeface="Inter"/>
              </a:rPr>
              <a:t>maintien · ajustement</a:t>
            </a:r>
            <a:endParaRPr b="0" lang="fr-FR" sz="1100" spc="-1" strike="noStrike">
              <a:solidFill>
                <a:srgbClr val="000000"/>
              </a:solidFill>
              <a:latin typeface="Arial"/>
            </a:endParaRPr>
          </a:p>
          <a:p>
            <a:pPr defTabSz="457200">
              <a:lnSpc>
                <a:spcPct val="125000"/>
              </a:lnSpc>
            </a:pPr>
            <a:r>
              <a:rPr b="0" lang="en-US" sz="1100" spc="-1" strike="noStrike">
                <a:solidFill>
                  <a:srgbClr val="93a79d"/>
                </a:solidFill>
                <a:latin typeface="Inter"/>
              </a:rPr>
              <a:t>contournement</a:t>
            </a:r>
            <a:endParaRPr b="0" lang="fr-FR" sz="1100" spc="-1" strike="noStrike">
              <a:solidFill>
                <a:srgbClr val="000000"/>
              </a:solidFill>
              <a:latin typeface="Arial"/>
            </a:endParaRPr>
          </a:p>
        </p:txBody>
      </p:sp>
      <p:sp>
        <p:nvSpPr>
          <p:cNvPr id="408" name="Right Arrow 13"/>
          <p:cNvSpPr/>
          <p:nvPr/>
        </p:nvSpPr>
        <p:spPr>
          <a:xfrm>
            <a:off x="3300840" y="3447360"/>
            <a:ext cx="273960" cy="100080"/>
          </a:xfrm>
          <a:prstGeom prst="rightArrow">
            <a:avLst>
              <a:gd name="adj1" fmla="val 50000"/>
              <a:gd name="adj2" fmla="val 50000"/>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400" bIns="5400" anchor="ctr">
            <a:noAutofit/>
          </a:bodyPr>
          <a:p>
            <a:pPr algn="ctr" defTabSz="457200">
              <a:lnSpc>
                <a:spcPct val="100000"/>
              </a:lnSpc>
            </a:pPr>
            <a:endParaRPr b="0" lang="en-US" sz="1800" spc="-1" strike="noStrike">
              <a:solidFill>
                <a:schemeClr val="lt1"/>
              </a:solidFill>
              <a:latin typeface="Arial"/>
            </a:endParaRPr>
          </a:p>
        </p:txBody>
      </p:sp>
      <p:sp>
        <p:nvSpPr>
          <p:cNvPr id="409" name="Rounded Rectangle 14"/>
          <p:cNvSpPr/>
          <p:nvPr/>
        </p:nvSpPr>
        <p:spPr>
          <a:xfrm>
            <a:off x="3675960" y="2788920"/>
            <a:ext cx="2486880" cy="1416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10" name="Rectangle 15"/>
          <p:cNvSpPr/>
          <p:nvPr/>
        </p:nvSpPr>
        <p:spPr>
          <a:xfrm>
            <a:off x="3675960" y="2778120"/>
            <a:ext cx="2486880" cy="453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11" name="TextBox 16"/>
          <p:cNvSpPr/>
          <p:nvPr/>
        </p:nvSpPr>
        <p:spPr>
          <a:xfrm>
            <a:off x="3895200" y="3063240"/>
            <a:ext cx="2048040" cy="23508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400" spc="-1" strike="noStrike">
                <a:solidFill>
                  <a:srgbClr val="e9f2ed"/>
                </a:solidFill>
                <a:latin typeface="Space Grotesk"/>
              </a:rPr>
              <a:t>Message vocal</a:t>
            </a:r>
            <a:endParaRPr b="0" lang="fr-FR" sz="1400" spc="-1" strike="noStrike">
              <a:solidFill>
                <a:srgbClr val="000000"/>
              </a:solidFill>
              <a:latin typeface="Arial"/>
            </a:endParaRPr>
          </a:p>
        </p:txBody>
      </p:sp>
      <p:sp>
        <p:nvSpPr>
          <p:cNvPr id="412" name="TextBox 17"/>
          <p:cNvSpPr/>
          <p:nvPr/>
        </p:nvSpPr>
        <p:spPr>
          <a:xfrm>
            <a:off x="3895200" y="3666600"/>
            <a:ext cx="2048040" cy="209880"/>
          </a:xfrm>
          <a:prstGeom prst="rect">
            <a:avLst/>
          </a:prstGeom>
          <a:noFill/>
          <a:ln w="0">
            <a:noFill/>
          </a:ln>
        </p:spPr>
        <p:style>
          <a:lnRef idx="0"/>
          <a:fillRef idx="0"/>
          <a:effectRef idx="0"/>
          <a:fontRef idx="minor"/>
        </p:style>
        <p:txBody>
          <a:bodyPr lIns="0" rIns="0" tIns="0" bIns="0" anchor="t">
            <a:spAutoFit/>
          </a:bodyPr>
          <a:p>
            <a:pPr defTabSz="457200">
              <a:lnSpc>
                <a:spcPct val="125000"/>
              </a:lnSpc>
            </a:pPr>
            <a:r>
              <a:rPr b="0" lang="en-US" sz="1100" spc="-1" strike="noStrike">
                <a:solidFill>
                  <a:srgbClr val="93a79d"/>
                </a:solidFill>
                <a:latin typeface="Inter"/>
              </a:rPr>
              <a:t>synthèse en fulfulde</a:t>
            </a:r>
            <a:endParaRPr b="0" lang="fr-FR" sz="1100" spc="-1" strike="noStrike">
              <a:solidFill>
                <a:srgbClr val="000000"/>
              </a:solidFill>
              <a:latin typeface="Arial"/>
            </a:endParaRPr>
          </a:p>
        </p:txBody>
      </p:sp>
      <p:sp>
        <p:nvSpPr>
          <p:cNvPr id="413" name="Right Arrow 18"/>
          <p:cNvSpPr/>
          <p:nvPr/>
        </p:nvSpPr>
        <p:spPr>
          <a:xfrm>
            <a:off x="6263640" y="3447360"/>
            <a:ext cx="273960" cy="100080"/>
          </a:xfrm>
          <a:prstGeom prst="rightArrow">
            <a:avLst>
              <a:gd name="adj1" fmla="val 50000"/>
              <a:gd name="adj2" fmla="val 50000"/>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400" bIns="5400" anchor="ctr">
            <a:noAutofit/>
          </a:bodyPr>
          <a:p>
            <a:pPr algn="ctr" defTabSz="457200">
              <a:lnSpc>
                <a:spcPct val="100000"/>
              </a:lnSpc>
            </a:pPr>
            <a:endParaRPr b="0" lang="en-US" sz="1800" spc="-1" strike="noStrike">
              <a:solidFill>
                <a:schemeClr val="lt1"/>
              </a:solidFill>
              <a:latin typeface="Arial"/>
            </a:endParaRPr>
          </a:p>
        </p:txBody>
      </p:sp>
      <p:sp>
        <p:nvSpPr>
          <p:cNvPr id="414" name="Rounded Rectangle 19"/>
          <p:cNvSpPr/>
          <p:nvPr/>
        </p:nvSpPr>
        <p:spPr>
          <a:xfrm>
            <a:off x="6638400" y="2788920"/>
            <a:ext cx="2486880" cy="1416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15" name="Rectangle 20"/>
          <p:cNvSpPr/>
          <p:nvPr/>
        </p:nvSpPr>
        <p:spPr>
          <a:xfrm>
            <a:off x="6638400" y="2778120"/>
            <a:ext cx="2486880" cy="4536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16" name="TextBox 21"/>
          <p:cNvSpPr/>
          <p:nvPr/>
        </p:nvSpPr>
        <p:spPr>
          <a:xfrm>
            <a:off x="6858000" y="3063240"/>
            <a:ext cx="2048040" cy="23508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400" spc="-1" strike="noStrike">
                <a:solidFill>
                  <a:srgbClr val="e9f2ed"/>
                </a:solidFill>
                <a:latin typeface="Space Grotesk"/>
              </a:rPr>
              <a:t>WhatsApp / radio</a:t>
            </a:r>
            <a:endParaRPr b="0" lang="fr-FR" sz="1400" spc="-1" strike="noStrike">
              <a:solidFill>
                <a:srgbClr val="000000"/>
              </a:solidFill>
              <a:latin typeface="Arial"/>
            </a:endParaRPr>
          </a:p>
        </p:txBody>
      </p:sp>
      <p:sp>
        <p:nvSpPr>
          <p:cNvPr id="417" name="TextBox 22"/>
          <p:cNvSpPr/>
          <p:nvPr/>
        </p:nvSpPr>
        <p:spPr>
          <a:xfrm>
            <a:off x="6858000" y="3666600"/>
            <a:ext cx="2048040" cy="209880"/>
          </a:xfrm>
          <a:prstGeom prst="rect">
            <a:avLst/>
          </a:prstGeom>
          <a:noFill/>
          <a:ln w="0">
            <a:noFill/>
          </a:ln>
        </p:spPr>
        <p:style>
          <a:lnRef idx="0"/>
          <a:fillRef idx="0"/>
          <a:effectRef idx="0"/>
          <a:fontRef idx="minor"/>
        </p:style>
        <p:txBody>
          <a:bodyPr lIns="0" rIns="0" tIns="0" bIns="0" anchor="t">
            <a:spAutoFit/>
          </a:bodyPr>
          <a:p>
            <a:pPr defTabSz="457200">
              <a:lnSpc>
                <a:spcPct val="125000"/>
              </a:lnSpc>
            </a:pPr>
            <a:r>
              <a:rPr b="0" lang="en-US" sz="1100" spc="-1" strike="noStrike">
                <a:solidFill>
                  <a:srgbClr val="93a79d"/>
                </a:solidFill>
                <a:latin typeface="Inter"/>
              </a:rPr>
              <a:t>canaux déjà utilisés</a:t>
            </a:r>
            <a:endParaRPr b="0" lang="fr-FR" sz="1100" spc="-1" strike="noStrike">
              <a:solidFill>
                <a:srgbClr val="000000"/>
              </a:solidFill>
              <a:latin typeface="Arial"/>
            </a:endParaRPr>
          </a:p>
        </p:txBody>
      </p:sp>
      <p:sp>
        <p:nvSpPr>
          <p:cNvPr id="418" name="Right Arrow 23"/>
          <p:cNvSpPr/>
          <p:nvPr/>
        </p:nvSpPr>
        <p:spPr>
          <a:xfrm>
            <a:off x="9226440" y="3447360"/>
            <a:ext cx="273960" cy="100080"/>
          </a:xfrm>
          <a:prstGeom prst="rightArrow">
            <a:avLst>
              <a:gd name="adj1" fmla="val 50000"/>
              <a:gd name="adj2" fmla="val 50000"/>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400" bIns="5400" anchor="ctr">
            <a:noAutofit/>
          </a:bodyPr>
          <a:p>
            <a:pPr algn="ctr" defTabSz="457200">
              <a:lnSpc>
                <a:spcPct val="100000"/>
              </a:lnSpc>
            </a:pPr>
            <a:endParaRPr b="0" lang="en-US" sz="1800" spc="-1" strike="noStrike">
              <a:solidFill>
                <a:schemeClr val="lt1"/>
              </a:solidFill>
              <a:latin typeface="Arial"/>
            </a:endParaRPr>
          </a:p>
        </p:txBody>
      </p:sp>
      <p:sp>
        <p:nvSpPr>
          <p:cNvPr id="419" name="Rounded Rectangle 24"/>
          <p:cNvSpPr/>
          <p:nvPr/>
        </p:nvSpPr>
        <p:spPr>
          <a:xfrm>
            <a:off x="9601200" y="2788920"/>
            <a:ext cx="2486880" cy="141696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20" name="Rectangle 25"/>
          <p:cNvSpPr/>
          <p:nvPr/>
        </p:nvSpPr>
        <p:spPr>
          <a:xfrm>
            <a:off x="9601200" y="2778120"/>
            <a:ext cx="248688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21" name="TextBox 26"/>
          <p:cNvSpPr/>
          <p:nvPr/>
        </p:nvSpPr>
        <p:spPr>
          <a:xfrm>
            <a:off x="9820800" y="3063240"/>
            <a:ext cx="2048040" cy="46980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400" spc="-1" strike="noStrike">
                <a:solidFill>
                  <a:srgbClr val="e9f2ed"/>
                </a:solidFill>
                <a:latin typeface="Space Grotesk"/>
              </a:rPr>
              <a:t>Représentants</a:t>
            </a:r>
            <a:endParaRPr b="0" lang="fr-FR" sz="1400" spc="-1" strike="noStrike">
              <a:solidFill>
                <a:srgbClr val="000000"/>
              </a:solidFill>
              <a:latin typeface="Arial"/>
            </a:endParaRPr>
          </a:p>
          <a:p>
            <a:pPr defTabSz="457200">
              <a:lnSpc>
                <a:spcPct val="110000"/>
              </a:lnSpc>
            </a:pPr>
            <a:r>
              <a:rPr b="1" lang="en-US" sz="1400" spc="-1" strike="noStrike">
                <a:solidFill>
                  <a:srgbClr val="e9f2ed"/>
                </a:solidFill>
                <a:latin typeface="Space Grotesk"/>
              </a:rPr>
              <a:t>d'éleveurs</a:t>
            </a:r>
            <a:endParaRPr b="0" lang="fr-FR" sz="1400" spc="-1" strike="noStrike">
              <a:solidFill>
                <a:srgbClr val="000000"/>
              </a:solidFill>
              <a:latin typeface="Arial"/>
            </a:endParaRPr>
          </a:p>
        </p:txBody>
      </p:sp>
      <p:sp>
        <p:nvSpPr>
          <p:cNvPr id="422" name="TextBox 27"/>
          <p:cNvSpPr/>
          <p:nvPr/>
        </p:nvSpPr>
        <p:spPr>
          <a:xfrm>
            <a:off x="9820800" y="3666600"/>
            <a:ext cx="2048040" cy="209880"/>
          </a:xfrm>
          <a:prstGeom prst="rect">
            <a:avLst/>
          </a:prstGeom>
          <a:noFill/>
          <a:ln w="0">
            <a:noFill/>
          </a:ln>
        </p:spPr>
        <p:style>
          <a:lnRef idx="0"/>
          <a:fillRef idx="0"/>
          <a:effectRef idx="0"/>
          <a:fontRef idx="minor"/>
        </p:style>
        <p:txBody>
          <a:bodyPr lIns="0" rIns="0" tIns="0" bIns="0" anchor="t">
            <a:spAutoFit/>
          </a:bodyPr>
          <a:p>
            <a:pPr defTabSz="457200">
              <a:lnSpc>
                <a:spcPct val="125000"/>
              </a:lnSpc>
            </a:pPr>
            <a:r>
              <a:rPr b="0" lang="en-US" sz="1100" spc="-1" strike="noStrike">
                <a:solidFill>
                  <a:srgbClr val="93a79d"/>
                </a:solidFill>
                <a:latin typeface="Inter"/>
              </a:rPr>
              <a:t>avant le départ</a:t>
            </a:r>
            <a:endParaRPr b="0" lang="fr-FR" sz="1100" spc="-1" strike="noStrike">
              <a:solidFill>
                <a:srgbClr val="000000"/>
              </a:solidFill>
              <a:latin typeface="Arial"/>
            </a:endParaRPr>
          </a:p>
        </p:txBody>
      </p:sp>
      <p:sp>
        <p:nvSpPr>
          <p:cNvPr id="423" name="TextBox 28"/>
          <p:cNvSpPr/>
          <p:nvPr/>
        </p:nvSpPr>
        <p:spPr>
          <a:xfrm>
            <a:off x="713160" y="4626720"/>
            <a:ext cx="10789560" cy="617400"/>
          </a:xfrm>
          <a:prstGeom prst="rect">
            <a:avLst/>
          </a:prstGeom>
          <a:noFill/>
          <a:ln w="0">
            <a:noFill/>
          </a:ln>
        </p:spPr>
        <p:style>
          <a:lnRef idx="0"/>
          <a:fillRef idx="0"/>
          <a:effectRef idx="0"/>
          <a:fontRef idx="minor"/>
        </p:style>
        <p:txBody>
          <a:bodyPr lIns="0" rIns="0" tIns="0" bIns="0" anchor="t">
            <a:spAutoFit/>
          </a:bodyPr>
          <a:p>
            <a:pPr defTabSz="457200">
              <a:lnSpc>
                <a:spcPct val="135000"/>
              </a:lnSpc>
            </a:pPr>
            <a:r>
              <a:rPr b="0" lang="en-US" sz="1500" spc="-1" strike="noStrike">
                <a:solidFill>
                  <a:srgbClr val="e9f2ed"/>
                </a:solidFill>
                <a:latin typeface="Inter"/>
              </a:rPr>
              <a:t>Le fulfulde est la langue des éleveurs transhumants du nord Bénin.</a:t>
            </a:r>
            <a:endParaRPr b="0" lang="fr-FR" sz="1500" spc="-1" strike="noStrike">
              <a:solidFill>
                <a:srgbClr val="000000"/>
              </a:solidFill>
              <a:latin typeface="Arial"/>
            </a:endParaRPr>
          </a:p>
          <a:p>
            <a:pPr defTabSz="457200">
              <a:lnSpc>
                <a:spcPct val="135000"/>
              </a:lnSpc>
            </a:pPr>
            <a:r>
              <a:rPr b="0" lang="en-US" sz="1500" spc="-1" strike="noStrike">
                <a:solidFill>
                  <a:srgbClr val="e9f2ed"/>
                </a:solidFill>
                <a:latin typeface="Inter"/>
              </a:rPr>
              <a:t>La décision circule dans la langue où elle sera appliquée.</a:t>
            </a:r>
            <a:endParaRPr b="0" lang="fr-FR"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4"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25"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426"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427"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13 / 15</a:t>
            </a:r>
            <a:endParaRPr b="0" lang="fr-FR" sz="900" spc="-1" strike="noStrike">
              <a:solidFill>
                <a:srgbClr val="000000"/>
              </a:solidFill>
              <a:latin typeface="Arial"/>
            </a:endParaRPr>
          </a:p>
        </p:txBody>
      </p:sp>
      <p:sp>
        <p:nvSpPr>
          <p:cNvPr id="428"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29"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GOUVERNANCE ET RISQUE</a:t>
            </a:r>
            <a:endParaRPr b="0" lang="fr-FR" sz="1100" spc="-1" strike="noStrike">
              <a:solidFill>
                <a:srgbClr val="000000"/>
              </a:solidFill>
              <a:latin typeface="Arial"/>
            </a:endParaRPr>
          </a:p>
        </p:txBody>
      </p:sp>
      <p:sp>
        <p:nvSpPr>
          <p:cNvPr id="430" name="TextBox 7"/>
          <p:cNvSpPr/>
          <p:nvPr/>
        </p:nvSpPr>
        <p:spPr>
          <a:xfrm>
            <a:off x="713160" y="932760"/>
            <a:ext cx="10764720" cy="45288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2800" spc="-1" strike="noStrike">
                <a:solidFill>
                  <a:srgbClr val="e9f2ed"/>
                </a:solidFill>
                <a:latin typeface="Space Grotesk"/>
              </a:rPr>
              <a:t>Une carte de conflit foncier est une donnée sensible.</a:t>
            </a:r>
            <a:endParaRPr b="0" lang="fr-FR" sz="2800" spc="-1" strike="noStrike">
              <a:solidFill>
                <a:srgbClr val="000000"/>
              </a:solidFill>
              <a:latin typeface="Arial"/>
            </a:endParaRPr>
          </a:p>
        </p:txBody>
      </p:sp>
      <p:sp>
        <p:nvSpPr>
          <p:cNvPr id="431" name="TextBox 8"/>
          <p:cNvSpPr/>
          <p:nvPr/>
        </p:nvSpPr>
        <p:spPr>
          <a:xfrm>
            <a:off x="713160" y="1581480"/>
            <a:ext cx="10216080" cy="273600"/>
          </a:xfrm>
          <a:prstGeom prst="rect">
            <a:avLst/>
          </a:prstGeom>
          <a:noFill/>
          <a:ln w="0">
            <a:noFill/>
          </a:ln>
        </p:spPr>
        <p:style>
          <a:lnRef idx="0"/>
          <a:fillRef idx="0"/>
          <a:effectRef idx="0"/>
          <a:fontRef idx="minor"/>
        </p:style>
        <p:txBody>
          <a:bodyPr lIns="0" rIns="0" tIns="0" bIns="0" anchor="t">
            <a:spAutoFit/>
          </a:bodyPr>
          <a:p>
            <a:pPr defTabSz="457200">
              <a:lnSpc>
                <a:spcPct val="128000"/>
              </a:lnSpc>
            </a:pPr>
            <a:r>
              <a:rPr b="0" lang="en-US" sz="1400" spc="-1" strike="noStrike">
                <a:solidFill>
                  <a:srgbClr val="93a79d"/>
                </a:solidFill>
                <a:latin typeface="Inter"/>
              </a:rPr>
              <a:t>Nous le disons avant qu'on nous le demande.</a:t>
            </a:r>
            <a:endParaRPr b="0" lang="fr-FR" sz="1400" spc="-1" strike="noStrike">
              <a:solidFill>
                <a:srgbClr val="000000"/>
              </a:solidFill>
              <a:latin typeface="Arial"/>
            </a:endParaRPr>
          </a:p>
        </p:txBody>
      </p:sp>
      <p:sp>
        <p:nvSpPr>
          <p:cNvPr id="432" name="Rounded Rectangle 9"/>
          <p:cNvSpPr/>
          <p:nvPr/>
        </p:nvSpPr>
        <p:spPr>
          <a:xfrm>
            <a:off x="713160" y="2761560"/>
            <a:ext cx="3405240" cy="21484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33" name="Rectangle 10"/>
          <p:cNvSpPr/>
          <p:nvPr/>
        </p:nvSpPr>
        <p:spPr>
          <a:xfrm>
            <a:off x="713160" y="2750400"/>
            <a:ext cx="340524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34" name="TextBox 11"/>
          <p:cNvSpPr/>
          <p:nvPr/>
        </p:nvSpPr>
        <p:spPr>
          <a:xfrm>
            <a:off x="951120" y="3054240"/>
            <a:ext cx="2929680" cy="25632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Accès par rôle</a:t>
            </a:r>
            <a:endParaRPr b="0" lang="fr-FR" sz="1500" spc="-1" strike="noStrike">
              <a:solidFill>
                <a:srgbClr val="000000"/>
              </a:solidFill>
              <a:latin typeface="Arial"/>
            </a:endParaRPr>
          </a:p>
        </p:txBody>
      </p:sp>
      <p:sp>
        <p:nvSpPr>
          <p:cNvPr id="435" name="TextBox 12"/>
          <p:cNvSpPr/>
          <p:nvPr/>
        </p:nvSpPr>
        <p:spPr>
          <a:xfrm>
            <a:off x="951120" y="3488400"/>
            <a:ext cx="2929680" cy="74232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Agent, comité, autorité :</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chacun ne voit que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ce qui le concerne.</a:t>
            </a:r>
            <a:endParaRPr b="0" lang="fr-FR" sz="1250" spc="-1" strike="noStrike">
              <a:solidFill>
                <a:srgbClr val="000000"/>
              </a:solidFill>
              <a:latin typeface="Arial"/>
            </a:endParaRPr>
          </a:p>
        </p:txBody>
      </p:sp>
      <p:sp>
        <p:nvSpPr>
          <p:cNvPr id="436" name="Rounded Rectangle 13"/>
          <p:cNvSpPr/>
          <p:nvPr/>
        </p:nvSpPr>
        <p:spPr>
          <a:xfrm>
            <a:off x="4393080" y="2761560"/>
            <a:ext cx="3405240" cy="21484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37" name="Rectangle 14"/>
          <p:cNvSpPr/>
          <p:nvPr/>
        </p:nvSpPr>
        <p:spPr>
          <a:xfrm>
            <a:off x="4393080" y="2750400"/>
            <a:ext cx="3405240" cy="453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38" name="TextBox 15"/>
          <p:cNvSpPr/>
          <p:nvPr/>
        </p:nvSpPr>
        <p:spPr>
          <a:xfrm>
            <a:off x="4630680" y="3054240"/>
            <a:ext cx="2929680" cy="51228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Zones sensibles</a:t>
            </a:r>
            <a:endParaRPr b="0" lang="fr-FR" sz="1500" spc="-1" strike="noStrike">
              <a:solidFill>
                <a:srgbClr val="000000"/>
              </a:solidFill>
              <a:latin typeface="Arial"/>
            </a:endParaRPr>
          </a:p>
          <a:p>
            <a:pPr defTabSz="457200">
              <a:lnSpc>
                <a:spcPct val="112000"/>
              </a:lnSpc>
            </a:pPr>
            <a:r>
              <a:rPr b="1" lang="en-US" sz="1500" spc="-1" strike="noStrike">
                <a:solidFill>
                  <a:srgbClr val="e9f2ed"/>
                </a:solidFill>
                <a:latin typeface="Space Grotesk"/>
              </a:rPr>
              <a:t>masquées</a:t>
            </a:r>
            <a:endParaRPr b="0" lang="fr-FR" sz="1500" spc="-1" strike="noStrike">
              <a:solidFill>
                <a:srgbClr val="000000"/>
              </a:solidFill>
              <a:latin typeface="Arial"/>
            </a:endParaRPr>
          </a:p>
        </p:txBody>
      </p:sp>
      <p:sp>
        <p:nvSpPr>
          <p:cNvPr id="439" name="TextBox 16"/>
          <p:cNvSpPr/>
          <p:nvPr/>
        </p:nvSpPr>
        <p:spPr>
          <a:xfrm>
            <a:off x="4630680" y="3744360"/>
            <a:ext cx="2929680" cy="74232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Invisibles hors du comité.</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Une friction n'est pas</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une information publique.</a:t>
            </a:r>
            <a:endParaRPr b="0" lang="fr-FR" sz="1250" spc="-1" strike="noStrike">
              <a:solidFill>
                <a:srgbClr val="000000"/>
              </a:solidFill>
              <a:latin typeface="Arial"/>
            </a:endParaRPr>
          </a:p>
        </p:txBody>
      </p:sp>
      <p:sp>
        <p:nvSpPr>
          <p:cNvPr id="440" name="Rounded Rectangle 17"/>
          <p:cNvSpPr/>
          <p:nvPr/>
        </p:nvSpPr>
        <p:spPr>
          <a:xfrm>
            <a:off x="8073000" y="2761560"/>
            <a:ext cx="3405240" cy="21484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41" name="Rectangle 18"/>
          <p:cNvSpPr/>
          <p:nvPr/>
        </p:nvSpPr>
        <p:spPr>
          <a:xfrm>
            <a:off x="8073000" y="2750400"/>
            <a:ext cx="3405240" cy="4536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42" name="TextBox 19"/>
          <p:cNvSpPr/>
          <p:nvPr/>
        </p:nvSpPr>
        <p:spPr>
          <a:xfrm>
            <a:off x="8310600" y="3054240"/>
            <a:ext cx="2929680" cy="25632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Hébergement local</a:t>
            </a:r>
            <a:endParaRPr b="0" lang="fr-FR" sz="1500" spc="-1" strike="noStrike">
              <a:solidFill>
                <a:srgbClr val="000000"/>
              </a:solidFill>
              <a:latin typeface="Arial"/>
            </a:endParaRPr>
          </a:p>
        </p:txBody>
      </p:sp>
      <p:sp>
        <p:nvSpPr>
          <p:cNvPr id="443" name="TextBox 20"/>
          <p:cNvSpPr/>
          <p:nvPr/>
        </p:nvSpPr>
        <p:spPr>
          <a:xfrm>
            <a:off x="8310600" y="3488400"/>
            <a:ext cx="2929680" cy="74232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Chez l'autorité communale.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La commune reste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propriétaire de ses données.</a:t>
            </a:r>
            <a:endParaRPr b="0" lang="fr-FR" sz="1250" spc="-1" strike="noStrike">
              <a:solidFill>
                <a:srgbClr val="000000"/>
              </a:solidFill>
              <a:latin typeface="Arial"/>
            </a:endParaRPr>
          </a:p>
        </p:txBody>
      </p:sp>
      <p:sp>
        <p:nvSpPr>
          <p:cNvPr id="444" name="TextBox 21"/>
          <p:cNvSpPr/>
          <p:nvPr/>
        </p:nvSpPr>
        <p:spPr>
          <a:xfrm>
            <a:off x="713160" y="5230440"/>
            <a:ext cx="10789560" cy="59436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500" spc="-1" strike="noStrike">
                <a:solidFill>
                  <a:srgbClr val="e9f2ed"/>
                </a:solidFill>
                <a:latin typeface="Inter"/>
              </a:rPr>
              <a:t>Mal diffusée, elle désigne des coupables.</a:t>
            </a:r>
            <a:endParaRPr b="0" lang="fr-FR" sz="1500" spc="-1" strike="noStrike">
              <a:solidFill>
                <a:srgbClr val="000000"/>
              </a:solidFill>
              <a:latin typeface="Arial"/>
            </a:endParaRPr>
          </a:p>
          <a:p>
            <a:pPr defTabSz="457200">
              <a:lnSpc>
                <a:spcPct val="130000"/>
              </a:lnSpc>
            </a:pPr>
            <a:r>
              <a:rPr b="0" lang="en-US" sz="1500" spc="-1" strike="noStrike">
                <a:solidFill>
                  <a:srgbClr val="e9f2ed"/>
                </a:solidFill>
                <a:latin typeface="Inter"/>
              </a:rPr>
              <a:t>Bien gouvernée, elle prépare un arbitrage.</a:t>
            </a:r>
            <a:endParaRPr b="0" lang="fr-FR"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46" name="Rectangle 2"/>
          <p:cNvSpPr/>
          <p:nvPr/>
        </p:nvSpPr>
        <p:spPr>
          <a:xfrm>
            <a:off x="0" y="0"/>
            <a:ext cx="12191400" cy="50040"/>
          </a:xfrm>
          <a:prstGeom prst="rect">
            <a:avLst/>
          </a:prstGeom>
          <a:solidFill>
            <a:srgbClr val="f06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400" bIns="5400" anchor="ctr">
            <a:noAutofit/>
          </a:bodyPr>
          <a:p>
            <a:pPr algn="ctr" defTabSz="457200">
              <a:lnSpc>
                <a:spcPct val="100000"/>
              </a:lnSpc>
            </a:pPr>
            <a:endParaRPr b="0" lang="en-US" sz="1800" spc="-1" strike="noStrike">
              <a:solidFill>
                <a:schemeClr val="lt1"/>
              </a:solidFill>
              <a:latin typeface="Arial"/>
            </a:endParaRPr>
          </a:p>
        </p:txBody>
      </p:sp>
      <p:sp>
        <p:nvSpPr>
          <p:cNvPr id="447" name="TextBox 3"/>
          <p:cNvSpPr/>
          <p:nvPr/>
        </p:nvSpPr>
        <p:spPr>
          <a:xfrm>
            <a:off x="713160" y="914400"/>
            <a:ext cx="10789560" cy="234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1" lang="en-US" sz="1300" spc="-1" strike="noStrike">
                <a:solidFill>
                  <a:srgbClr val="f0665f"/>
                </a:solidFill>
                <a:latin typeface="Inter"/>
              </a:rPr>
              <a:t>CE QUE TERRA SENTINELLE NE FAIT PAS</a:t>
            </a:r>
            <a:endParaRPr b="0" lang="fr-FR" sz="1300" spc="-1" strike="noStrike">
              <a:solidFill>
                <a:srgbClr val="000000"/>
              </a:solidFill>
              <a:latin typeface="Arial"/>
            </a:endParaRPr>
          </a:p>
        </p:txBody>
      </p:sp>
      <p:sp>
        <p:nvSpPr>
          <p:cNvPr id="448" name="Rectangle 4"/>
          <p:cNvSpPr/>
          <p:nvPr/>
        </p:nvSpPr>
        <p:spPr>
          <a:xfrm>
            <a:off x="713160" y="1654920"/>
            <a:ext cx="63720" cy="1225080"/>
          </a:xfrm>
          <a:prstGeom prst="rect">
            <a:avLst/>
          </a:prstGeom>
          <a:solidFill>
            <a:srgbClr val="f06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49" name="TextBox 5"/>
          <p:cNvSpPr/>
          <p:nvPr/>
        </p:nvSpPr>
        <p:spPr>
          <a:xfrm>
            <a:off x="1243440" y="1600200"/>
            <a:ext cx="10149480" cy="122868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1" lang="en-US" sz="3100" spc="-1" strike="noStrike">
                <a:solidFill>
                  <a:srgbClr val="e9f2ed"/>
                </a:solidFill>
                <a:latin typeface="Space Grotesk"/>
              </a:rPr>
              <a:t>Un outil de veille, pas une autorité.</a:t>
            </a:r>
            <a:endParaRPr b="0" lang="fr-FR" sz="3100" spc="-1" strike="noStrike">
              <a:solidFill>
                <a:srgbClr val="000000"/>
              </a:solidFill>
              <a:latin typeface="Arial"/>
            </a:endParaRPr>
          </a:p>
          <a:p>
            <a:pPr defTabSz="457200">
              <a:lnSpc>
                <a:spcPct val="130000"/>
              </a:lnSpc>
            </a:pPr>
            <a:r>
              <a:rPr b="1" lang="en-US" sz="3100" spc="-1" strike="noStrike">
                <a:solidFill>
                  <a:srgbClr val="e9f2ed"/>
                </a:solidFill>
                <a:latin typeface="Space Grotesk"/>
              </a:rPr>
              <a:t>Nous énonçons ses limites nous-mêmes.</a:t>
            </a:r>
            <a:endParaRPr b="0" lang="fr-FR" sz="3100" spc="-1" strike="noStrike">
              <a:solidFill>
                <a:srgbClr val="000000"/>
              </a:solidFill>
              <a:latin typeface="Arial"/>
            </a:endParaRPr>
          </a:p>
        </p:txBody>
      </p:sp>
      <p:sp>
        <p:nvSpPr>
          <p:cNvPr id="450" name="Rectangle 6"/>
          <p:cNvSpPr/>
          <p:nvPr/>
        </p:nvSpPr>
        <p:spPr>
          <a:xfrm>
            <a:off x="713160" y="320040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451" name="Rectangle 7"/>
          <p:cNvSpPr/>
          <p:nvPr/>
        </p:nvSpPr>
        <p:spPr>
          <a:xfrm>
            <a:off x="713160" y="3538800"/>
            <a:ext cx="145800" cy="31680"/>
          </a:xfrm>
          <a:prstGeom prst="rect">
            <a:avLst/>
          </a:prstGeom>
          <a:solidFill>
            <a:srgbClr val="f0665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2960" bIns="-12960" anchor="ctr">
            <a:noAutofit/>
          </a:bodyPr>
          <a:p>
            <a:pPr algn="ctr" defTabSz="457200">
              <a:lnSpc>
                <a:spcPct val="100000"/>
              </a:lnSpc>
            </a:pPr>
            <a:endParaRPr b="0" lang="en-US" sz="1800" spc="-1" strike="noStrike">
              <a:solidFill>
                <a:schemeClr val="lt1"/>
              </a:solidFill>
              <a:latin typeface="Arial"/>
            </a:endParaRPr>
          </a:p>
        </p:txBody>
      </p:sp>
      <p:sp>
        <p:nvSpPr>
          <p:cNvPr id="452" name="TextBox 8"/>
          <p:cNvSpPr/>
          <p:nvPr/>
        </p:nvSpPr>
        <p:spPr>
          <a:xfrm>
            <a:off x="1078920" y="3456360"/>
            <a:ext cx="10240920" cy="280440"/>
          </a:xfrm>
          <a:prstGeom prst="rect">
            <a:avLst/>
          </a:prstGeom>
          <a:noFill/>
          <a:ln w="0">
            <a:noFill/>
          </a:ln>
        </p:spPr>
        <p:style>
          <a:lnRef idx="0"/>
          <a:fillRef idx="0"/>
          <a:effectRef idx="0"/>
          <a:fontRef idx="minor"/>
        </p:style>
        <p:txBody>
          <a:bodyPr lIns="0" rIns="0" tIns="0" bIns="0" anchor="t">
            <a:spAutoFit/>
          </a:bodyPr>
          <a:p>
            <a:pPr defTabSz="457200">
              <a:lnSpc>
                <a:spcPct val="115000"/>
              </a:lnSpc>
            </a:pPr>
            <a:r>
              <a:rPr b="0" lang="en-US" sz="1600" spc="-1" strike="noStrike">
                <a:solidFill>
                  <a:srgbClr val="93a79d"/>
                </a:solidFill>
                <a:latin typeface="Inter"/>
              </a:rPr>
              <a:t>Il ne dit pas qui avait le droit d'être là.</a:t>
            </a:r>
            <a:endParaRPr b="0" lang="fr-FR" sz="1600" spc="-1" strike="noStrike">
              <a:solidFill>
                <a:srgbClr val="000000"/>
              </a:solidFill>
              <a:latin typeface="Arial"/>
            </a:endParaRPr>
          </a:p>
        </p:txBody>
      </p:sp>
      <p:sp>
        <p:nvSpPr>
          <p:cNvPr id="453" name="Rectangle 9"/>
          <p:cNvSpPr/>
          <p:nvPr/>
        </p:nvSpPr>
        <p:spPr>
          <a:xfrm>
            <a:off x="713160" y="3996000"/>
            <a:ext cx="145800" cy="3168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2960" bIns="-12960" anchor="ctr">
            <a:noAutofit/>
          </a:bodyPr>
          <a:p>
            <a:pPr algn="ctr" defTabSz="457200">
              <a:lnSpc>
                <a:spcPct val="100000"/>
              </a:lnSpc>
            </a:pPr>
            <a:endParaRPr b="0" lang="en-US" sz="1800" spc="-1" strike="noStrike">
              <a:solidFill>
                <a:schemeClr val="lt1"/>
              </a:solidFill>
              <a:latin typeface="Arial"/>
            </a:endParaRPr>
          </a:p>
        </p:txBody>
      </p:sp>
      <p:sp>
        <p:nvSpPr>
          <p:cNvPr id="454" name="TextBox 10"/>
          <p:cNvSpPr/>
          <p:nvPr/>
        </p:nvSpPr>
        <p:spPr>
          <a:xfrm>
            <a:off x="1078920" y="3913560"/>
            <a:ext cx="10240920" cy="280440"/>
          </a:xfrm>
          <a:prstGeom prst="rect">
            <a:avLst/>
          </a:prstGeom>
          <a:noFill/>
          <a:ln w="0">
            <a:noFill/>
          </a:ln>
        </p:spPr>
        <p:style>
          <a:lnRef idx="0"/>
          <a:fillRef idx="0"/>
          <a:effectRef idx="0"/>
          <a:fontRef idx="minor"/>
        </p:style>
        <p:txBody>
          <a:bodyPr lIns="0" rIns="0" tIns="0" bIns="0" anchor="t">
            <a:spAutoFit/>
          </a:bodyPr>
          <a:p>
            <a:pPr defTabSz="457200">
              <a:lnSpc>
                <a:spcPct val="115000"/>
              </a:lnSpc>
            </a:pPr>
            <a:r>
              <a:rPr b="0" lang="en-US" sz="1600" spc="-1" strike="noStrike">
                <a:solidFill>
                  <a:srgbClr val="93a79d"/>
                </a:solidFill>
                <a:latin typeface="Inter"/>
              </a:rPr>
              <a:t>Il ne tranche pas la légitimité foncière.</a:t>
            </a:r>
            <a:endParaRPr b="0" lang="fr-FR" sz="1600" spc="-1" strike="noStrike">
              <a:solidFill>
                <a:srgbClr val="000000"/>
              </a:solidFill>
              <a:latin typeface="Arial"/>
            </a:endParaRPr>
          </a:p>
        </p:txBody>
      </p:sp>
      <p:sp>
        <p:nvSpPr>
          <p:cNvPr id="455" name="Rectangle 11"/>
          <p:cNvSpPr/>
          <p:nvPr/>
        </p:nvSpPr>
        <p:spPr>
          <a:xfrm>
            <a:off x="713160" y="4453200"/>
            <a:ext cx="145800" cy="3168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2960" bIns="-12960" anchor="ctr">
            <a:noAutofit/>
          </a:bodyPr>
          <a:p>
            <a:pPr algn="ctr" defTabSz="457200">
              <a:lnSpc>
                <a:spcPct val="100000"/>
              </a:lnSpc>
            </a:pPr>
            <a:endParaRPr b="0" lang="en-US" sz="1800" spc="-1" strike="noStrike">
              <a:solidFill>
                <a:schemeClr val="lt1"/>
              </a:solidFill>
              <a:latin typeface="Arial"/>
            </a:endParaRPr>
          </a:p>
        </p:txBody>
      </p:sp>
      <p:sp>
        <p:nvSpPr>
          <p:cNvPr id="456" name="TextBox 12"/>
          <p:cNvSpPr/>
          <p:nvPr/>
        </p:nvSpPr>
        <p:spPr>
          <a:xfrm>
            <a:off x="1078920" y="4370760"/>
            <a:ext cx="10240920" cy="280440"/>
          </a:xfrm>
          <a:prstGeom prst="rect">
            <a:avLst/>
          </a:prstGeom>
          <a:noFill/>
          <a:ln w="0">
            <a:noFill/>
          </a:ln>
        </p:spPr>
        <p:style>
          <a:lnRef idx="0"/>
          <a:fillRef idx="0"/>
          <a:effectRef idx="0"/>
          <a:fontRef idx="minor"/>
        </p:style>
        <p:txBody>
          <a:bodyPr lIns="0" rIns="0" tIns="0" bIns="0" anchor="t">
            <a:spAutoFit/>
          </a:bodyPr>
          <a:p>
            <a:pPr defTabSz="457200">
              <a:lnSpc>
                <a:spcPct val="115000"/>
              </a:lnSpc>
            </a:pPr>
            <a:r>
              <a:rPr b="0" lang="en-US" sz="1600" spc="-1" strike="noStrike">
                <a:solidFill>
                  <a:srgbClr val="93a79d"/>
                </a:solidFill>
                <a:latin typeface="Inter"/>
              </a:rPr>
              <a:t>Il ne valide pas lui-même ses détections au Bénin.</a:t>
            </a:r>
            <a:endParaRPr b="0" lang="fr-FR" sz="1600" spc="-1" strike="noStrike">
              <a:solidFill>
                <a:srgbClr val="000000"/>
              </a:solidFill>
              <a:latin typeface="Arial"/>
            </a:endParaRPr>
          </a:p>
        </p:txBody>
      </p:sp>
      <p:sp>
        <p:nvSpPr>
          <p:cNvPr id="457" name="Rectangle 13"/>
          <p:cNvSpPr/>
          <p:nvPr/>
        </p:nvSpPr>
        <p:spPr>
          <a:xfrm>
            <a:off x="713160" y="4910400"/>
            <a:ext cx="145800" cy="3168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12960" bIns="-12960" anchor="ctr">
            <a:noAutofit/>
          </a:bodyPr>
          <a:p>
            <a:pPr algn="ctr" defTabSz="457200">
              <a:lnSpc>
                <a:spcPct val="100000"/>
              </a:lnSpc>
            </a:pPr>
            <a:endParaRPr b="0" lang="en-US" sz="1800" spc="-1" strike="noStrike">
              <a:solidFill>
                <a:schemeClr val="lt1"/>
              </a:solidFill>
              <a:latin typeface="Arial"/>
            </a:endParaRPr>
          </a:p>
        </p:txBody>
      </p:sp>
      <p:sp>
        <p:nvSpPr>
          <p:cNvPr id="458" name="TextBox 14"/>
          <p:cNvSpPr/>
          <p:nvPr/>
        </p:nvSpPr>
        <p:spPr>
          <a:xfrm>
            <a:off x="1078920" y="4827960"/>
            <a:ext cx="10240920" cy="280440"/>
          </a:xfrm>
          <a:prstGeom prst="rect">
            <a:avLst/>
          </a:prstGeom>
          <a:noFill/>
          <a:ln w="0">
            <a:noFill/>
          </a:ln>
        </p:spPr>
        <p:style>
          <a:lnRef idx="0"/>
          <a:fillRef idx="0"/>
          <a:effectRef idx="0"/>
          <a:fontRef idx="minor"/>
        </p:style>
        <p:txBody>
          <a:bodyPr lIns="0" rIns="0" tIns="0" bIns="0" anchor="t">
            <a:spAutoFit/>
          </a:bodyPr>
          <a:p>
            <a:pPr defTabSz="457200">
              <a:lnSpc>
                <a:spcPct val="115000"/>
              </a:lnSpc>
            </a:pPr>
            <a:r>
              <a:rPr b="0" lang="en-US" sz="1600" spc="-1" strike="noStrike">
                <a:solidFill>
                  <a:srgbClr val="e9f2ed"/>
                </a:solidFill>
                <a:latin typeface="Inter"/>
              </a:rPr>
              <a:t>Il informe un arbitrage humain. Rien de plus.</a:t>
            </a:r>
            <a:endParaRPr b="0" lang="fr-FR" sz="1600" spc="-1" strike="noStrike">
              <a:solidFill>
                <a:srgbClr val="000000"/>
              </a:solidFill>
              <a:latin typeface="Arial"/>
            </a:endParaRPr>
          </a:p>
        </p:txBody>
      </p:sp>
      <p:sp>
        <p:nvSpPr>
          <p:cNvPr id="459" name="Rounded Rectangle 15"/>
          <p:cNvSpPr/>
          <p:nvPr/>
        </p:nvSpPr>
        <p:spPr>
          <a:xfrm>
            <a:off x="713160" y="5358240"/>
            <a:ext cx="10764720" cy="712800"/>
          </a:xfrm>
          <a:prstGeom prst="roundRect">
            <a:avLst>
              <a:gd name="adj" fmla="val 10000"/>
            </a:avLst>
          </a:prstGeom>
          <a:solidFill>
            <a:srgbClr val="11201a"/>
          </a:solidFill>
          <a:ln w="12700">
            <a:solidFill>
              <a:srgbClr val="f5b54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60" name="Rectangle 16"/>
          <p:cNvSpPr/>
          <p:nvPr/>
        </p:nvSpPr>
        <p:spPr>
          <a:xfrm>
            <a:off x="713160" y="5347440"/>
            <a:ext cx="10764720" cy="453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61" name="TextBox 17"/>
          <p:cNvSpPr/>
          <p:nvPr/>
        </p:nvSpPr>
        <p:spPr>
          <a:xfrm>
            <a:off x="1042560" y="5532120"/>
            <a:ext cx="10106640" cy="484200"/>
          </a:xfrm>
          <a:prstGeom prst="rect">
            <a:avLst/>
          </a:prstGeom>
          <a:noFill/>
          <a:ln w="0">
            <a:noFill/>
          </a:ln>
        </p:spPr>
        <p:style>
          <a:lnRef idx="0"/>
          <a:fillRef idx="0"/>
          <a:effectRef idx="0"/>
          <a:fontRef idx="minor"/>
        </p:style>
        <p:txBody>
          <a:bodyPr lIns="0" rIns="0" tIns="0" bIns="0" anchor="t">
            <a:spAutoFit/>
          </a:bodyPr>
          <a:p>
            <a:pPr defTabSz="457200">
              <a:lnSpc>
                <a:spcPct val="122000"/>
              </a:lnSpc>
            </a:pPr>
            <a:r>
              <a:rPr b="0" lang="en-US" sz="1300" spc="-1" strike="noStrike">
                <a:solidFill>
                  <a:srgbClr val="e9f2ed"/>
                </a:solidFill>
                <a:latin typeface="Inter"/>
              </a:rPr>
              <a:t>Le modèle est entraîné sur de l'imagerie européenne.</a:t>
            </a:r>
            <a:endParaRPr b="0" lang="fr-FR" sz="1300" spc="-1" strike="noStrike">
              <a:solidFill>
                <a:srgbClr val="000000"/>
              </a:solidFill>
              <a:latin typeface="Arial"/>
            </a:endParaRPr>
          </a:p>
          <a:p>
            <a:pPr defTabSz="457200">
              <a:lnSpc>
                <a:spcPct val="122000"/>
              </a:lnSpc>
            </a:pPr>
            <a:r>
              <a:rPr b="0" lang="en-US" sz="1300" spc="-1" strike="noStrike">
                <a:solidFill>
                  <a:srgbClr val="e9f2ed"/>
                </a:solidFill>
                <a:latin typeface="Inter"/>
              </a:rPr>
              <a:t>C'est précisément pour cela que l'agent communal va vérifier sur le terrain.</a:t>
            </a:r>
            <a:endParaRPr b="0" lang="fr-FR" sz="1300" spc="-1" strike="noStrike">
              <a:solidFill>
                <a:srgbClr val="000000"/>
              </a:solidFill>
              <a:latin typeface="Arial"/>
            </a:endParaRPr>
          </a:p>
        </p:txBody>
      </p:sp>
      <p:sp>
        <p:nvSpPr>
          <p:cNvPr id="462" name="Rectangle 18"/>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463" name="TextBox 19"/>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464" name="TextBox 20"/>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14 / 15</a:t>
            </a:r>
            <a:endParaRPr b="0" lang="fr-FR"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Rectangle 1"/>
          <p:cNvSpPr/>
          <p:nvPr/>
        </p:nvSpPr>
        <p:spPr>
          <a:xfrm>
            <a:off x="0" y="0"/>
            <a:ext cx="12191400" cy="6857640"/>
          </a:xfrm>
          <a:prstGeom prst="rect">
            <a:avLst/>
          </a:prstGeom>
          <a:solidFill>
            <a:srgbClr val="0c171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66" name="Rectangle 2"/>
          <p:cNvSpPr/>
          <p:nvPr/>
        </p:nvSpPr>
        <p:spPr>
          <a:xfrm>
            <a:off x="713160" y="6272640"/>
            <a:ext cx="10764720" cy="10440"/>
          </a:xfrm>
          <a:prstGeom prst="rect">
            <a:avLst/>
          </a:prstGeom>
          <a:solidFill>
            <a:srgbClr val="1e2e2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457200">
              <a:lnSpc>
                <a:spcPct val="100000"/>
              </a:lnSpc>
            </a:pPr>
            <a:endParaRPr b="0" lang="en-US" sz="1800" spc="-1" strike="noStrike">
              <a:solidFill>
                <a:schemeClr val="lt1"/>
              </a:solidFill>
              <a:latin typeface="Arial"/>
            </a:endParaRPr>
          </a:p>
        </p:txBody>
      </p:sp>
      <p:sp>
        <p:nvSpPr>
          <p:cNvPr id="467" name="TextBox 3"/>
          <p:cNvSpPr/>
          <p:nvPr/>
        </p:nvSpPr>
        <p:spPr>
          <a:xfrm>
            <a:off x="713160" y="6400800"/>
            <a:ext cx="5486040" cy="16236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lang="en-US" sz="900" spc="-1" strike="noStrike">
                <a:solidFill>
                  <a:srgbClr val="93a79d"/>
                </a:solidFill>
                <a:latin typeface="Inter"/>
              </a:rPr>
              <a:t>Terra Sentinelle · IndabaX Bénin 2026</a:t>
            </a:r>
            <a:endParaRPr b="0" lang="fr-FR" sz="900" spc="-1" strike="noStrike">
              <a:solidFill>
                <a:srgbClr val="000000"/>
              </a:solidFill>
              <a:latin typeface="Arial"/>
            </a:endParaRPr>
          </a:p>
        </p:txBody>
      </p:sp>
      <p:sp>
        <p:nvSpPr>
          <p:cNvPr id="468" name="TextBox 4"/>
          <p:cNvSpPr/>
          <p:nvPr/>
        </p:nvSpPr>
        <p:spPr>
          <a:xfrm>
            <a:off x="10381320" y="6400800"/>
            <a:ext cx="1096920" cy="162360"/>
          </a:xfrm>
          <a:prstGeom prst="rect">
            <a:avLst/>
          </a:prstGeom>
          <a:noFill/>
          <a:ln w="0">
            <a:noFill/>
          </a:ln>
        </p:spPr>
        <p:style>
          <a:lnRef idx="0"/>
          <a:fillRef idx="0"/>
          <a:effectRef idx="0"/>
          <a:fontRef idx="minor"/>
        </p:style>
        <p:txBody>
          <a:bodyPr lIns="0" rIns="0" tIns="0" bIns="0" anchor="t">
            <a:spAutoFit/>
          </a:bodyPr>
          <a:p>
            <a:pPr algn="r" defTabSz="457200">
              <a:lnSpc>
                <a:spcPct val="118000"/>
              </a:lnSpc>
            </a:pPr>
            <a:r>
              <a:rPr b="0" lang="en-US" sz="900" spc="-1" strike="noStrike">
                <a:solidFill>
                  <a:srgbClr val="93a79d"/>
                </a:solidFill>
                <a:latin typeface="JetBrains Mono"/>
              </a:rPr>
              <a:t>15 / 15</a:t>
            </a:r>
            <a:endParaRPr b="0" lang="fr-FR" sz="900" spc="-1" strike="noStrike">
              <a:solidFill>
                <a:srgbClr val="000000"/>
              </a:solidFill>
              <a:latin typeface="Arial"/>
            </a:endParaRPr>
          </a:p>
        </p:txBody>
      </p:sp>
      <p:sp>
        <p:nvSpPr>
          <p:cNvPr id="469" name="Rectangle 5"/>
          <p:cNvSpPr/>
          <p:nvPr/>
        </p:nvSpPr>
        <p:spPr>
          <a:xfrm>
            <a:off x="713160" y="608040"/>
            <a:ext cx="50040" cy="1551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70" name="TextBox 6"/>
          <p:cNvSpPr/>
          <p:nvPr/>
        </p:nvSpPr>
        <p:spPr>
          <a:xfrm>
            <a:off x="896040" y="567000"/>
            <a:ext cx="86864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34d399"/>
                </a:solidFill>
                <a:latin typeface="Inter"/>
              </a:rPr>
              <a:t>PROTOTYPE ET SUITE</a:t>
            </a:r>
            <a:endParaRPr b="0" lang="fr-FR" sz="1100" spc="-1" strike="noStrike">
              <a:solidFill>
                <a:srgbClr val="000000"/>
              </a:solidFill>
              <a:latin typeface="Arial"/>
            </a:endParaRPr>
          </a:p>
        </p:txBody>
      </p:sp>
      <p:sp>
        <p:nvSpPr>
          <p:cNvPr id="471" name="TextBox 7"/>
          <p:cNvSpPr/>
          <p:nvPr/>
        </p:nvSpPr>
        <p:spPr>
          <a:xfrm>
            <a:off x="713160" y="932760"/>
            <a:ext cx="10764720" cy="45288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1" lang="en-US" sz="2800" spc="-1" strike="noStrike">
                <a:solidFill>
                  <a:srgbClr val="e9f2ed"/>
                </a:solidFill>
                <a:latin typeface="Space Grotesk"/>
              </a:rPr>
              <a:t>Livré, public, et honnête sur ses limites.</a:t>
            </a:r>
            <a:endParaRPr b="0" lang="fr-FR" sz="2800" spc="-1" strike="noStrike">
              <a:solidFill>
                <a:srgbClr val="000000"/>
              </a:solidFill>
              <a:latin typeface="Arial"/>
            </a:endParaRPr>
          </a:p>
        </p:txBody>
      </p:sp>
      <p:sp>
        <p:nvSpPr>
          <p:cNvPr id="472" name="Rounded Rectangle 8"/>
          <p:cNvSpPr/>
          <p:nvPr/>
        </p:nvSpPr>
        <p:spPr>
          <a:xfrm>
            <a:off x="713160" y="2212920"/>
            <a:ext cx="3405240" cy="24904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73" name="Rectangle 9"/>
          <p:cNvSpPr/>
          <p:nvPr/>
        </p:nvSpPr>
        <p:spPr>
          <a:xfrm>
            <a:off x="713160" y="2201760"/>
            <a:ext cx="340524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74" name="TextBox 10"/>
          <p:cNvSpPr/>
          <p:nvPr/>
        </p:nvSpPr>
        <p:spPr>
          <a:xfrm>
            <a:off x="951120" y="2505600"/>
            <a:ext cx="2929680" cy="51228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Ce qui tourne</a:t>
            </a:r>
            <a:endParaRPr b="0" lang="fr-FR" sz="1500" spc="-1" strike="noStrike">
              <a:solidFill>
                <a:srgbClr val="000000"/>
              </a:solidFill>
              <a:latin typeface="Arial"/>
            </a:endParaRPr>
          </a:p>
          <a:p>
            <a:pPr defTabSz="457200">
              <a:lnSpc>
                <a:spcPct val="112000"/>
              </a:lnSpc>
            </a:pPr>
            <a:r>
              <a:rPr b="1" lang="en-US" sz="1500" spc="-1" strike="noStrike">
                <a:solidFill>
                  <a:srgbClr val="e9f2ed"/>
                </a:solidFill>
                <a:latin typeface="Space Grotesk"/>
              </a:rPr>
              <a:t>aujourd'hui</a:t>
            </a:r>
            <a:endParaRPr b="0" lang="fr-FR" sz="1500" spc="-1" strike="noStrike">
              <a:solidFill>
                <a:srgbClr val="000000"/>
              </a:solidFill>
              <a:latin typeface="Arial"/>
            </a:endParaRPr>
          </a:p>
        </p:txBody>
      </p:sp>
      <p:sp>
        <p:nvSpPr>
          <p:cNvPr id="475" name="TextBox 11"/>
          <p:cNvSpPr/>
          <p:nvPr/>
        </p:nvSpPr>
        <p:spPr>
          <a:xfrm>
            <a:off x="951120" y="3195720"/>
            <a:ext cx="2929680" cy="123696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Modèle entraîné, mesuré</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Inférence sur tuiles réelles</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33 communes, 1 585 km</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Terrain hors connexion</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Itinéraires en 0,94 s</a:t>
            </a:r>
            <a:endParaRPr b="0" lang="fr-FR" sz="1250" spc="-1" strike="noStrike">
              <a:solidFill>
                <a:srgbClr val="000000"/>
              </a:solidFill>
              <a:latin typeface="Arial"/>
            </a:endParaRPr>
          </a:p>
        </p:txBody>
      </p:sp>
      <p:sp>
        <p:nvSpPr>
          <p:cNvPr id="476" name="Rounded Rectangle 12"/>
          <p:cNvSpPr/>
          <p:nvPr/>
        </p:nvSpPr>
        <p:spPr>
          <a:xfrm>
            <a:off x="4393080" y="2212920"/>
            <a:ext cx="3405240" cy="24868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77" name="Rectangle 13"/>
          <p:cNvSpPr/>
          <p:nvPr/>
        </p:nvSpPr>
        <p:spPr>
          <a:xfrm>
            <a:off x="4393080" y="2201760"/>
            <a:ext cx="3405240" cy="45360"/>
          </a:xfrm>
          <a:prstGeom prst="rect">
            <a:avLst/>
          </a:prstGeom>
          <a:solidFill>
            <a:srgbClr val="f5b5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78" name="TextBox 14"/>
          <p:cNvSpPr/>
          <p:nvPr/>
        </p:nvSpPr>
        <p:spPr>
          <a:xfrm>
            <a:off x="4630680" y="2505600"/>
            <a:ext cx="2929680" cy="51228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Ce qui reste</a:t>
            </a:r>
            <a:endParaRPr b="0" lang="fr-FR" sz="1500" spc="-1" strike="noStrike">
              <a:solidFill>
                <a:srgbClr val="000000"/>
              </a:solidFill>
              <a:latin typeface="Arial"/>
            </a:endParaRPr>
          </a:p>
          <a:p>
            <a:pPr defTabSz="457200">
              <a:lnSpc>
                <a:spcPct val="112000"/>
              </a:lnSpc>
            </a:pPr>
            <a:r>
              <a:rPr b="1" lang="en-US" sz="1500" spc="-1" strike="noStrike">
                <a:solidFill>
                  <a:srgbClr val="e9f2ed"/>
                </a:solidFill>
                <a:latin typeface="Space Grotesk"/>
              </a:rPr>
              <a:t>simulé</a:t>
            </a:r>
            <a:endParaRPr b="0" lang="fr-FR" sz="1500" spc="-1" strike="noStrike">
              <a:solidFill>
                <a:srgbClr val="000000"/>
              </a:solidFill>
              <a:latin typeface="Arial"/>
            </a:endParaRPr>
          </a:p>
        </p:txBody>
      </p:sp>
      <p:sp>
        <p:nvSpPr>
          <p:cNvPr id="479" name="TextBox 15"/>
          <p:cNvSpPr/>
          <p:nvPr/>
        </p:nvSpPr>
        <p:spPr>
          <a:xfrm>
            <a:off x="4630680" y="3195720"/>
            <a:ext cx="2929680" cy="98964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Couloirs reconstitués</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Villages, parcelles, pâturages</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Diffusion vocale fulfulde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Fusion Sentinel-1 non faite</a:t>
            </a:r>
            <a:endParaRPr b="0" lang="fr-FR" sz="1250" spc="-1" strike="noStrike">
              <a:solidFill>
                <a:srgbClr val="000000"/>
              </a:solidFill>
              <a:latin typeface="Arial"/>
            </a:endParaRPr>
          </a:p>
        </p:txBody>
      </p:sp>
      <p:sp>
        <p:nvSpPr>
          <p:cNvPr id="480" name="Rounded Rectangle 16"/>
          <p:cNvSpPr/>
          <p:nvPr/>
        </p:nvSpPr>
        <p:spPr>
          <a:xfrm>
            <a:off x="8073000" y="2212920"/>
            <a:ext cx="3405240" cy="2486880"/>
          </a:xfrm>
          <a:prstGeom prst="roundRect">
            <a:avLst>
              <a:gd name="adj" fmla="val 10000"/>
            </a:avLst>
          </a:prstGeom>
          <a:solidFill>
            <a:srgbClr val="11201a"/>
          </a:solidFill>
          <a:ln w="12700">
            <a:solidFill>
              <a:srgbClr val="1e2e2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81" name="Rectangle 17"/>
          <p:cNvSpPr/>
          <p:nvPr/>
        </p:nvSpPr>
        <p:spPr>
          <a:xfrm>
            <a:off x="8073000" y="2201760"/>
            <a:ext cx="3405240" cy="45360"/>
          </a:xfrm>
          <a:prstGeom prst="rect">
            <a:avLst/>
          </a:prstGeom>
          <a:solidFill>
            <a:srgbClr val="d9b48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82" name="TextBox 18"/>
          <p:cNvSpPr/>
          <p:nvPr/>
        </p:nvSpPr>
        <p:spPr>
          <a:xfrm>
            <a:off x="8310600" y="2505600"/>
            <a:ext cx="2929680" cy="512280"/>
          </a:xfrm>
          <a:prstGeom prst="rect">
            <a:avLst/>
          </a:prstGeom>
          <a:noFill/>
          <a:ln w="0">
            <a:noFill/>
          </a:ln>
        </p:spPr>
        <p:style>
          <a:lnRef idx="0"/>
          <a:fillRef idx="0"/>
          <a:effectRef idx="0"/>
          <a:fontRef idx="minor"/>
        </p:style>
        <p:txBody>
          <a:bodyPr lIns="0" rIns="0" tIns="0" bIns="0" anchor="t">
            <a:spAutoFit/>
          </a:bodyPr>
          <a:p>
            <a:pPr defTabSz="457200">
              <a:lnSpc>
                <a:spcPct val="112000"/>
              </a:lnSpc>
            </a:pPr>
            <a:r>
              <a:rPr b="1" lang="en-US" sz="1500" spc="-1" strike="noStrike">
                <a:solidFill>
                  <a:srgbClr val="e9f2ed"/>
                </a:solidFill>
                <a:latin typeface="Space Grotesk"/>
              </a:rPr>
              <a:t>Les prochaines</a:t>
            </a:r>
            <a:endParaRPr b="0" lang="fr-FR" sz="1500" spc="-1" strike="noStrike">
              <a:solidFill>
                <a:srgbClr val="000000"/>
              </a:solidFill>
              <a:latin typeface="Arial"/>
            </a:endParaRPr>
          </a:p>
          <a:p>
            <a:pPr defTabSz="457200">
              <a:lnSpc>
                <a:spcPct val="112000"/>
              </a:lnSpc>
            </a:pPr>
            <a:r>
              <a:rPr b="1" lang="en-US" sz="1500" spc="-1" strike="noStrike">
                <a:solidFill>
                  <a:srgbClr val="e9f2ed"/>
                </a:solidFill>
                <a:latin typeface="Space Grotesk"/>
              </a:rPr>
              <a:t>étapes</a:t>
            </a:r>
            <a:endParaRPr b="0" lang="fr-FR" sz="1500" spc="-1" strike="noStrike">
              <a:solidFill>
                <a:srgbClr val="000000"/>
              </a:solidFill>
              <a:latin typeface="Arial"/>
            </a:endParaRPr>
          </a:p>
        </p:txBody>
      </p:sp>
      <p:sp>
        <p:nvSpPr>
          <p:cNvPr id="483" name="TextBox 19"/>
          <p:cNvSpPr/>
          <p:nvPr/>
        </p:nvSpPr>
        <p:spPr>
          <a:xfrm>
            <a:off x="8310600" y="3195720"/>
            <a:ext cx="2929680" cy="98964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250" spc="-1" strike="noStrike">
                <a:solidFill>
                  <a:srgbClr val="93a79d"/>
                </a:solidFill>
                <a:latin typeface="Inter"/>
              </a:rPr>
              <a:t>Annoter des parcelles au Bénin</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Mesurer l'écart de domaine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Emprise officielle de mairie</a:t>
            </a:r>
            <a:endParaRPr b="0" lang="fr-FR" sz="1250" spc="-1" strike="noStrike">
              <a:solidFill>
                <a:srgbClr val="000000"/>
              </a:solidFill>
              <a:latin typeface="Arial"/>
            </a:endParaRPr>
          </a:p>
          <a:p>
            <a:pPr defTabSz="457200">
              <a:lnSpc>
                <a:spcPct val="130000"/>
              </a:lnSpc>
            </a:pPr>
            <a:r>
              <a:rPr b="0" lang="en-US" sz="1250" spc="-1" strike="noStrike">
                <a:solidFill>
                  <a:srgbClr val="93a79d"/>
                </a:solidFill>
                <a:latin typeface="Inter"/>
              </a:rPr>
              <a:t>Tester sur une saison réelle</a:t>
            </a:r>
            <a:endParaRPr b="0" lang="fr-FR" sz="1250" spc="-1" strike="noStrike">
              <a:solidFill>
                <a:srgbClr val="000000"/>
              </a:solidFill>
              <a:latin typeface="Arial"/>
            </a:endParaRPr>
          </a:p>
        </p:txBody>
      </p:sp>
      <p:sp>
        <p:nvSpPr>
          <p:cNvPr id="484" name="Rounded Rectangle 20"/>
          <p:cNvSpPr/>
          <p:nvPr/>
        </p:nvSpPr>
        <p:spPr>
          <a:xfrm>
            <a:off x="713160" y="4846320"/>
            <a:ext cx="10764720" cy="932400"/>
          </a:xfrm>
          <a:prstGeom prst="roundRect">
            <a:avLst>
              <a:gd name="adj" fmla="val 10000"/>
            </a:avLst>
          </a:prstGeom>
          <a:solidFill>
            <a:srgbClr val="11201a"/>
          </a:solidFill>
          <a:ln w="12700">
            <a:solidFill>
              <a:srgbClr val="34d39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Arial"/>
            </a:endParaRPr>
          </a:p>
        </p:txBody>
      </p:sp>
      <p:sp>
        <p:nvSpPr>
          <p:cNvPr id="485" name="Rectangle 21"/>
          <p:cNvSpPr/>
          <p:nvPr/>
        </p:nvSpPr>
        <p:spPr>
          <a:xfrm>
            <a:off x="713160" y="4835520"/>
            <a:ext cx="10764720" cy="45360"/>
          </a:xfrm>
          <a:prstGeom prst="rect">
            <a:avLst/>
          </a:prstGeom>
          <a:solidFill>
            <a:srgbClr val="34d39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Arial"/>
            </a:endParaRPr>
          </a:p>
        </p:txBody>
      </p:sp>
      <p:sp>
        <p:nvSpPr>
          <p:cNvPr id="486" name="TextBox 22"/>
          <p:cNvSpPr/>
          <p:nvPr/>
        </p:nvSpPr>
        <p:spPr>
          <a:xfrm>
            <a:off x="1042560" y="5047560"/>
            <a:ext cx="10106640" cy="456120"/>
          </a:xfrm>
          <a:prstGeom prst="rect">
            <a:avLst/>
          </a:prstGeom>
          <a:noFill/>
          <a:ln w="0">
            <a:noFill/>
          </a:ln>
        </p:spPr>
        <p:style>
          <a:lnRef idx="0"/>
          <a:fillRef idx="0"/>
          <a:effectRef idx="0"/>
          <a:fontRef idx="minor"/>
        </p:style>
        <p:txBody>
          <a:bodyPr lIns="0" rIns="0" tIns="0" bIns="0" anchor="t">
            <a:spAutoFit/>
          </a:bodyPr>
          <a:p>
            <a:pPr defTabSz="457200">
              <a:lnSpc>
                <a:spcPct val="130000"/>
              </a:lnSpc>
            </a:pPr>
            <a:r>
              <a:rPr b="0" lang="en-US" sz="1150" spc="-1" strike="noStrike">
                <a:solidFill>
                  <a:srgbClr val="e9f2ed"/>
                </a:solidFill>
                <a:latin typeface="JetBrains Mono"/>
              </a:rPr>
              <a:t>Code source : https://github.com/KOBA2008/terra-sentinelle</a:t>
            </a:r>
            <a:endParaRPr b="0" lang="fr-FR" sz="1150" spc="-1" strike="noStrike">
              <a:solidFill>
                <a:srgbClr val="000000"/>
              </a:solidFill>
              <a:latin typeface="Arial"/>
            </a:endParaRPr>
          </a:p>
          <a:p>
            <a:pPr defTabSz="457200">
              <a:lnSpc>
                <a:spcPct val="130000"/>
              </a:lnSpc>
            </a:pPr>
            <a:r>
              <a:rPr b="0" lang="en-US" sz="1150" spc="-1" strike="noStrike">
                <a:solidFill>
                  <a:srgbClr val="e9f2ed"/>
                </a:solidFill>
                <a:latin typeface="JetBrains Mono"/>
              </a:rPr>
              <a:t>Démo : https://terra-sentinelle.vercel.app/</a:t>
            </a:r>
            <a:endParaRPr b="0" lang="fr-FR" sz="1150" spc="-1" strike="noStrike">
              <a:solidFill>
                <a:srgbClr val="000000"/>
              </a:solidFill>
              <a:latin typeface="Arial"/>
            </a:endParaRPr>
          </a:p>
        </p:txBody>
      </p:sp>
      <p:sp>
        <p:nvSpPr>
          <p:cNvPr id="487" name="TextBox 23"/>
          <p:cNvSpPr/>
          <p:nvPr/>
        </p:nvSpPr>
        <p:spPr>
          <a:xfrm>
            <a:off x="713160" y="5906880"/>
            <a:ext cx="10789560" cy="207000"/>
          </a:xfrm>
          <a:prstGeom prst="rect">
            <a:avLst/>
          </a:prstGeom>
          <a:noFill/>
          <a:ln w="0">
            <a:noFill/>
          </a:ln>
        </p:spPr>
        <p:style>
          <a:lnRef idx="0"/>
          <a:fillRef idx="0"/>
          <a:effectRef idx="0"/>
          <a:fontRef idx="minor"/>
        </p:style>
        <p:txBody>
          <a:bodyPr lIns="0" rIns="0" tIns="0" bIns="0" anchor="t">
            <a:spAutoFit/>
          </a:bodyPr>
          <a:p>
            <a:pPr defTabSz="457200">
              <a:lnSpc>
                <a:spcPct val="118000"/>
              </a:lnSpc>
            </a:pPr>
            <a:r>
              <a:rPr b="0" i="1" lang="en-US" sz="1150" spc="-1" strike="noStrike">
                <a:solidFill>
                  <a:srgbClr val="93a79d"/>
                </a:solidFill>
                <a:latin typeface="Inter"/>
              </a:rPr>
              <a:t>Thèmes clair et sombre · responsive dès 360 px · double mode dégradé · inférence hors connexion.</a:t>
            </a:r>
            <a:endParaRPr b="0" lang="fr-FR"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fr-FR</dc:language>
  <cp:lastModifiedBy/>
  <dcterms:modified xsi:type="dcterms:W3CDTF">2026-09-12T01:03:28Z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