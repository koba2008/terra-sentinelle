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David KOBA et je présente Terra Sentinelle au nom de l'équipe TechMakers : Philippe-Cadet GANTIN, Adéyinka Laurinda ADANLAO, Issa DJIBO, Daniel ABIALA et moi-même.</a:t>
            </a:r>
          </a:p>
          <a:p>
            <a:r>
              <a:t>Terra Sentinelle concourt sur le défi Résilience climatique.</a:t>
            </a:r>
          </a:p>
          <a:p>
            <a:r>
              <a:t>En une phrase : dans le nord du Bénin, les couloirs de transhumance ont une carte, mais cette carte a des années. Nous lui redonnons l'âge de la saison en cours, à partir d'imagerie satellitaire.</a:t>
            </a:r>
          </a:p>
          <a:p>
            <a:r>
              <a:t>Deux choses à retenir dès maintenant : le système couvre cinq départements et trente-trois communes, et le modèle de classification est réellement entraîné, avec des métriques mesurées que je vous montrerai.</a:t>
            </a:r>
          </a:p>
          <a:p>
            <a:r>
              <a:t>Je vais vous montrer pour qui, pourquoi, comment, et ce que le système refuse de faire.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Retenez cette phrase, c'est tout le projet.</a:t>
            </a:r>
          </a:p>
          <a:p>
            <a:r>
              <a:t>Les couloirs ont été délimités une fois : bornes, procès-verbaux, concertation. Un vrai travail.</a:t>
            </a:r>
          </a:p>
          <a:p>
            <a:r>
              <a:t>Mais les champs changent chaque saison : une parcelle se défriche en quelques semaines.</a:t>
            </a:r>
          </a:p>
          <a:p>
            <a:r>
              <a:t>Donc le conflit ne naît pas d'une carte absente. Il naît d'une carte périmée : le troupeau arrive là où le couloir existe sur le papier, et où il y a désormais du coton.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Précisons, parce que le problème est souvent mal posé.</a:t>
            </a:r>
          </a:p>
          <a:p>
            <a:r>
              <a:t>Un : la carte existe. Ce n'est pas un vide cartographique.</a:t>
            </a:r>
          </a:p>
          <a:p>
            <a:r>
              <a:t>Deux : le sol bouge, extension cotonnière, mise en culture du couloir, à chaque saison.</a:t>
            </a:r>
          </a:p>
          <a:p>
            <a:r>
              <a:t>Trois : le comité communal doit arbitrer, mais sans image récente, sur des témoignages contradictoires.</a:t>
            </a:r>
          </a:p>
          <a:p>
            <a:r>
              <a:t>Le manque n'est donc pas spatial, il est temporel. Pas « où est le couloir », mais « à quoi ressemble-t-il cette année ».</a:t>
            </a:r>
          </a:p>
          <a:p>
            <a:r>
              <a:t>Et ce n'est pas le problème d'une commune isolée : nous couvrons aujourd'hui trente-trois communes sur cinq départements.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n'avons pas conçu pour « les communes », mais pour une personne.</a:t>
            </a:r>
          </a:p>
          <a:p>
            <a:r>
              <a:t>Moussa Gounou, agent d'élevage à Banikoara. Avant la saison, il reçoit la liste des portions du couloir devenues cultivées. Il part vérifier, et là-bas, pas de réseau. Il confirme ou invalide chaque détection hors ligne ; au retour du réseau tout se synchronise. Le comité arbitre le lendemain.</a:t>
            </a:r>
          </a:p>
          <a:p>
            <a:r>
              <a:t>Derrière lui : le comité, sur le web, et les représentants d'éleveurs, qui reçoivent la décision en vocal.</a:t>
            </a:r>
          </a:p>
          <a:p>
            <a:r>
              <a:t>Un mot sur l'échelle : le système ne couvre plus une seule commune. Cinq départements, trente-trois communes, mille cinq cent quatre-vingt-cinq kilomètres de couloirs. Banikoara reste la commune que je détaille, parce que c'est celle qui porte le jeu de données le plus riche.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 transformer une carte statique en système de veille actualisé avant chaque saison.</a:t>
            </a:r>
          </a:p>
          <a:p>
            <a:r>
              <a:t>La chaîne. Images Sentinel-2 à 10 mètres. Un modèle identifie les zones mises en culture. On les croise avec l'emprise du couloir : c'est là qu'est notre valeur. On en tire une carte de friction, avec gravité et confiance.</a:t>
            </a:r>
          </a:p>
          <a:p>
            <a:r>
              <a:t>Puis l'humain reprend la main : vérification terrain, arbitrage du comité, diffusion vocale en fulfulde.</a:t>
            </a:r>
          </a:p>
          <a:p>
            <a:r>
              <a:t>La machine est en amont. La décision est au centre, et elle est humaine.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livrable, celui que le comité a sous les yeux.</a:t>
            </a:r>
          </a:p>
          <a:p>
            <a:r>
              <a:t>Pour chaque portion : la surface, un niveau de gravité, un niveau de confiance, un statut.</a:t>
            </a:r>
          </a:p>
          <a:p>
            <a:r>
              <a:t>Regardez la troisième ligne : confiance 0,54, statut incertain. Nous ne la cachons pas : c'est justement celle que Moussa ira voir en premier.</a:t>
            </a:r>
          </a:p>
          <a:p>
            <a:r>
              <a:t>À l'échelle des trente-trois communes, cela fait 157 zones de friction, dont 84 encore en attente de vérification.</a:t>
            </a:r>
          </a:p>
          <a:p>
            <a:r>
              <a:t>Chaque ligne garde sa source, la date du passage satellite et son statut de validation. Précision honnête : les zones de friction affichées sont générées, comme les couches géographiques ; le modèle, lui, est réel et ses métriques sont mesurées, je vous les montre dans deux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de l'IA, et pas une simple enquête de terrain ? Trois raisons.</a:t>
            </a:r>
          </a:p>
          <a:p>
            <a:r>
              <a:t>L'échelle : mille cinq cent quatre-vingt-cinq kilomètres de couloirs sur trente-trois communes. Aucune brigade ne les arpente chaque année.</a:t>
            </a:r>
          </a:p>
          <a:p>
            <a:r>
              <a:t>La cadence : Sentinel-2 repasse tous les cinq jours, gratuitement. Seule source capable de suivre le rythme des champs.</a:t>
            </a:r>
          </a:p>
          <a:p>
            <a:r>
              <a:t>Le signal : distinguer sol nu, jachère et culture demande un modèle appris, pas un seuil.</a:t>
            </a:r>
          </a:p>
          <a:p>
            <a:r>
              <a:t>Retirez l'IA, il ne reste plus de produit.</a:t>
            </a:r>
          </a:p>
          <a:p>
            <a:r>
              <a:t>Et ce modèle, justement, existe. C'est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ce qui a changé depuis la conception du projet, et c'est le point le plus important de cette présentation sur le plan technique.</a:t>
            </a:r>
          </a:p>
          <a:p>
            <a:r>
              <a:t>Le modèle n'est plus une intention : il est entraîné. Jeu d'entraînement EuroSAT, c'est-à-dire de la vraie imagerie Sentinel-2 étiquetée, vingt-sept mille vignettes de soixante-quatre pixels, dix classes. Split stratifié vingt et un mille six cents en entraînement, cinq mille quatre cents en test, graine fixée, jeu de test tenu à l'écart.</a:t>
            </a:r>
          </a:p>
          <a:p>
            <a:r>
              <a:t>Algorithme : un HistGradientBoostingClassifier de scikit-learn, trente-cinq caractéristiques, statistiques par canal, indices de végétation ExG et GRVI, mesures de texture. Pas de deep learning : pas de GPU ici, et la pertinence prime sur la complexité inutile.</a:t>
            </a:r>
          </a:p>
          <a:p>
            <a:r>
              <a:t>Les chiffres au-dessus sont mesurés sur le test : exactitude 0,95, précision 0,90, rappel 0,86, F1 0,88, ROC-AUC 0,99. En multi-classes sur les dix classes : exactitude 0,89, F1 macro 0,88.</a:t>
            </a:r>
          </a:p>
          <a:p>
            <a:r>
              <a:t>Et l'inférence tourne sur de la vraie imagerie du nord Bénin : des tuiles Sentinel-2 s2cloudless, mises en cache sur disque, donc la démonstration ne dépend pas du réseau. Sur Banikoara, grille de soixante-quatre cellules : huit sont classées en culture, sept en culture permanente, une en culture annuelle.</a:t>
            </a:r>
          </a:p>
          <a:p>
            <a:r>
              <a:t>Maintenant la ligne orange, et je la lis moi-même : ces métriques décrivent EuroSAT, c'est-à-dire l'Europe. Elles ne décrivent pas le Bénin. J'y reviens.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piège du projet, et notre choix technique.</a:t>
            </a:r>
          </a:p>
          <a:p>
            <a:r>
              <a:t>La saison de culture, ici, c'est la saison des pluies. Donc des nuages. Une image optique sous un nuage, c'est un pixel perdu : au pire moment de l'année.</a:t>
            </a:r>
          </a:p>
          <a:p>
            <a:r>
              <a:t>Deux parades. Un composite médian Sentinel-2 sur plusieurs dates avec masquage des nuages : on garde la médiane des passages dégagés. Puis Sentinel-1, le radar, qui traverse les nuages et prendra le relais en saison humide.</a:t>
            </a:r>
          </a:p>
          <a:p>
            <a:r>
              <a:t>Je suis précis sur ce point : aujourd'hui, seule la voie optique tourne. La fusion Sentinel-1 est décrite et justifiée, elle n'est pas implémentée. Je préfère le dire que le laisser croire.</a:t>
            </a:r>
          </a:p>
          <a:p>
            <a:r>
              <a:t>Rien d'exotique : deux briques choisies pour une contrainte réelle.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Posons nous-mêmes la question qui viendra : Dynamic World existe déjà. Pourquoi ne pas s'arrêter là ?</a:t>
            </a:r>
          </a:p>
          <a:p>
            <a:r>
              <a:t>D'abord parce que les cartes globales décrochent sur l'agriculture subsaharienne : petites parcelles, cultures associées. C'est documenté.</a:t>
            </a:r>
          </a:p>
          <a:p>
            <a:r>
              <a:t>La différence avec la version précédente de ce projet, c'est que nous ne nous contentons plus de l'affirmer. Nous avons entraîné un classifieur, mesuré ses performances sur un jeu de test tenu à l'écart, et nous publions à la fois les chiffres et l'écart de domaine. L'argument est démontré, plus seulement énoncé.</a:t>
            </a:r>
          </a:p>
          <a:p>
            <a:r>
              <a:t>Surtout : notre contribution n'est pas le classifieur, c'est le croisement avec l'emprise du couloir. Une carte de cultures ne dit rien à un comité. Une carte de friction, si.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ce qui est à gauche est libre et vérifié : Sentinel-1 et 2 via Copernicus, les tuiles s2cloudless d'EOX qui nous donnent de la vraie imagerie sans authentification, EuroSAT pour l'entraînement, Dynamic World, ESA WorldCover, OpenStreetMap Bénin, les limites de HDX, les données de transhumance de l'OIM.</a:t>
            </a:r>
          </a:p>
          <a:p>
            <a:r>
              <a:t>Maintenant ce qui manque, et je préfère le dire moi-même : il n'existe aucun jeu ouvert de polygones de couloirs au Bénin. Le registre de l'ANDF existe, mais fermé. Et il n'existe pas non plus de parcelles annotées sur notre zone, ce qui nous interdit de mesurer la performance locale du modèle.</a:t>
            </a:r>
          </a:p>
          <a:p>
            <a:r>
              <a:t>Donc l'emprise que nous affichons est reconstituée par l'équipe et sans valeur officielle, comme les villages, les points d'eau, les pâturages et les parcelles. L'imagerie et le modèle, eux, sont réels. Le jour où une mairie fournit la vraie, elle se substitue sans rien changer au reste.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système de décision qui ne parle pas la langue de ceux qu'il concerne ne sert à rien.</a:t>
            </a:r>
          </a:p>
          <a:p>
            <a:r>
              <a:t>Le comité arbitre : maintien, ajustement ou contournement. La décision devient un message vocal en fulfulde, la langue des éleveurs transhumants du nord Bénin, diffusé par les canaux qu'ils utilisent déjà, WhatsApp, radios communautaires, avant le départ des troupeaux.</a:t>
            </a:r>
          </a:p>
          <a:p>
            <a:r>
              <a:t>À ce stade la diffusion vocale est maquettée : l'enchaînement existe dans l'interface, la chaîne audio réelle, non.</a:t>
            </a:r>
          </a:p>
          <a:p>
            <a:r>
              <a:t>Le vocal n'est pas un gadget : il contourne la barrière de la langue et celle de l'écrit. C'est aussi pourquoi le projet touche le défi IA et langues locales.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Soyons lucides sur ce que nous fabriquons. Une carte qui montre qui a cultivé dans un couloir, c'est une donnée sensible. Mal diffusée, elle désigne des coupables et alimente le conflit qu'elle prétend éviter.</a:t>
            </a:r>
          </a:p>
          <a:p>
            <a:r>
              <a:t>Trois garde-fous. L'accès est par rôle : agent, comité et autorité ne voient pas la même chose. Les zones sensibles restent invisibles hors du comité. L'hébergement se fait chez l'autorité communale : nous ne centralisons pas le foncier du nord Bénin sur un serveur privé. C'est d'autant plus vrai maintenant que nous couvrons trente-trois communes.</a:t>
            </a:r>
          </a:p>
          <a:p>
            <a:r>
              <a:t>Nous énonçons ce risque nous-mêmes plutôt que d'attendre la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RALENTIR ICI. LAISSER UN SILENCE APRÈS LE TITRE.</a:t>
            </a:r>
          </a:p>
          <a:p/>
          <a:p>
            <a:r>
              <a:t>C'est la slide la plus importante de la présentation.</a:t>
            </a:r>
          </a:p>
          <a:p>
            <a:r>
              <a:t>Terra Sentinelle est un outil de veille, pas une autorité. Et nous préférons énoncer ses limites nous-mêmes plutôt que les laisser découvrir.</a:t>
            </a:r>
          </a:p>
          <a:p>
            <a:r>
              <a:t>(silence, deux à trois secondes, regarder le jury)</a:t>
            </a:r>
          </a:p>
          <a:p>
            <a:r>
              <a:t>Le système ne dit pas qui avait le droit d'être là. Il ne tranche pas la légitimité foncière : ni notre rôle, ni notre compétence, ni celle d'un modèle.</a:t>
            </a:r>
          </a:p>
          <a:p>
            <a:r>
              <a:t>Troisième ligne, et c'est la plus récente : il ne valide pas lui-même ses détections au Bénin. Notre modèle est entraîné sur de l'imagerie européenne et appliqué au nord Bénin. C'est un écart de domaine réel, documenté, et je ne le cache pas : aucune prédiction béninoise n'est validée localement, faute de parcelles annotées sur zone.</a:t>
            </a:r>
          </a:p>
          <a:p>
            <a:r>
              <a:t>Et voici le retournement. Cette limite n'est pas un accident du prototype, c'est la raison d'être du produit. Si le modèle était infaillible, Moussa n'aurait rien à faire. C'est parce que la sortie du modèle est une hypothèse, et non une vérité, que l'agent communal va sur le terrain la confirmer ou l'invalider. Le doute de la machine est exactement ce qui crée le travail de l'humain.</a:t>
            </a:r>
          </a:p>
          <a:p>
            <a:r>
              <a:t>Il informe un arbitrage humain. Rien de plus, et c'est déjà beaucoup, puisque aujourd'hui cet arbitrage se fait sans information récente.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Où en sommes-nous vraiment.</a:t>
            </a:r>
          </a:p>
          <a:p>
            <a:r>
              <a:t>Ce qui tourne : un modèle entraîné dont les métriques sont mesurées, l'inférence sur de vraies tuiles Sentinel-2 du nord Bénin, la couverture des trente-trois communes et de leurs mille cinq cent quatre-vingt-cinq kilomètres de couloirs, la validation terrain hors connexion avec synchronisation, et le calcul d'itinéraire : trois alternatives sur Banikoara en zéro virgule quatre-vingt-quatorze seconde.</a:t>
            </a:r>
          </a:p>
          <a:p>
            <a:r>
              <a:t>L'application a les deux thèmes, clair et sombre, le clair étant le thème de référence parce que c'est un outil consulté en réunion, en plein jour. Le responsive est vérifié par capture à 360, 390, 768 et 1280 pixels. Et il y a un double mode dégradé : sans API, l'application bascule sur des données embarquées ; sans tuiles, sur un fond CSS. Autrement dit la démonstration ne peut pas tomber en panne devant vous.</a:t>
            </a:r>
          </a:p>
          <a:p>
            <a:r>
              <a:t>Ce qui reste simulé, je le dis clairement : les couloirs reconstitués, les villages, parcelles et pâturages générés, la diffusion vocale maquettée, la fusion Sentinel-1 non implémentée. Je le dis parce que c'est l'état réel du travail.</a:t>
            </a:r>
          </a:p>
          <a:p>
            <a:r>
              <a:t>Ensuite : annoter des parcelles au Bénin pour mesurer enfin l'écart de domaine, obtenir l'emprise officielle auprès d'une mairie, et tester sur une saison réelle avec un comité.</a:t>
            </a:r>
          </a:p>
          <a:p>
            <a:r>
              <a:t>Le code est public sur GitHub et la démonstration est en ligne. Les deux adresses sont à l'écran. Merci.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572768"/>
            <a:ext cx="10515600" cy="946403"/>
          </a:xfrm>
          <a:prstGeom prst="rect">
            <a:avLst/>
          </a:prstGeom>
          <a:noFill/>
        </p:spPr>
        <p:txBody>
          <a:bodyPr wrap="square" lIns="0" rIns="0" tIns="0" bIns="0" anchor="t">
            <a:spAutoFit/>
          </a:bodyPr>
          <a:lstStyle/>
          <a:p>
            <a:pPr algn="l">
              <a:lnSpc>
                <a:spcPct val="100000"/>
              </a:lnSpc>
            </a:pPr>
            <a:r>
              <a:rPr sz="6000" b="1" i="0">
                <a:solidFill>
                  <a:srgbClr val="E9F2ED"/>
                </a:solidFill>
                <a:latin typeface="Space Grotesk" pitchFamily="34" charset="0"/>
                <a:cs typeface="Space Grotesk" pitchFamily="34" charset="0"/>
              </a:rPr>
              <a:t>Terra Sentinelle</a:t>
            </a:r>
          </a:p>
        </p:txBody>
      </p:sp>
      <p:sp>
        <p:nvSpPr>
          <p:cNvPr id="5" name="Rectangle 4"/>
          <p:cNvSpPr/>
          <p:nvPr/>
        </p:nvSpPr>
        <p:spPr>
          <a:xfrm>
            <a:off x="713232" y="2871216"/>
            <a:ext cx="1371600" cy="411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163824"/>
            <a:ext cx="9692640" cy="402640"/>
          </a:xfrm>
          <a:prstGeom prst="rect">
            <a:avLst/>
          </a:prstGeom>
          <a:noFill/>
        </p:spPr>
        <p:txBody>
          <a:bodyPr wrap="square" lIns="0" rIns="0" tIns="0" bIns="0" anchor="t">
            <a:spAutoFit/>
          </a:bodyPr>
          <a:lstStyle/>
          <a:p>
            <a:pPr algn="l">
              <a:lnSpc>
                <a:spcPct val="128000"/>
              </a:lnSpc>
            </a:pPr>
            <a:r>
              <a:rPr sz="1900" b="0" i="0">
                <a:solidFill>
                  <a:srgbClr val="93A79D"/>
                </a:solidFill>
                <a:latin typeface="Inter" pitchFamily="34" charset="0"/>
                <a:cs typeface="Inter" pitchFamily="34" charset="0"/>
              </a:rPr>
              <a:t>Rendre aux couloirs de transhumance une carte qui a l'âge de la saison en cours.</a:t>
            </a:r>
          </a:p>
        </p:txBody>
      </p:sp>
      <p:sp>
        <p:nvSpPr>
          <p:cNvPr id="7" name="Rounded Rectangle 6"/>
          <p:cNvSpPr/>
          <p:nvPr/>
        </p:nvSpPr>
        <p:spPr>
          <a:xfrm>
            <a:off x="713232" y="4023360"/>
            <a:ext cx="2788920" cy="420624"/>
          </a:xfrm>
          <a:prstGeom prst="roundRect">
            <a:avLst>
              <a:gd name="adj" fmla="val 45000"/>
            </a:avLst>
          </a:prstGeom>
          <a:no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4128515"/>
            <a:ext cx="237744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Inter" pitchFamily="34" charset="0"/>
                <a:cs typeface="Inter" pitchFamily="34" charset="0"/>
              </a:rPr>
              <a:t>Défi : Résilience climatique</a:t>
            </a:r>
          </a:p>
        </p:txBody>
      </p:sp>
      <p:sp>
        <p:nvSpPr>
          <p:cNvPr id="9" name="TextBox 8"/>
          <p:cNvSpPr txBox="1"/>
          <p:nvPr/>
        </p:nvSpPr>
        <p:spPr>
          <a:xfrm>
            <a:off x="713232" y="4773168"/>
            <a:ext cx="7315200" cy="319735"/>
          </a:xfrm>
          <a:prstGeom prst="rect">
            <a:avLst/>
          </a:prstGeom>
          <a:noFill/>
        </p:spPr>
        <p:txBody>
          <a:bodyPr wrap="square" lIns="0" rIns="0" tIns="0" bIns="0" anchor="t">
            <a:spAutoFit/>
          </a:bodyPr>
          <a:lstStyle/>
          <a:p>
            <a:pPr algn="l">
              <a:lnSpc>
                <a:spcPct val="118000"/>
              </a:lnSpc>
            </a:pPr>
            <a:r>
              <a:rPr sz="1600" b="1" i="0">
                <a:solidFill>
                  <a:srgbClr val="E9F2ED"/>
                </a:solidFill>
                <a:latin typeface="Space Grotesk" pitchFamily="34" charset="0"/>
                <a:cs typeface="Space Grotesk" pitchFamily="34" charset="0"/>
              </a:rPr>
              <a:t>Équipe TechMakers</a:t>
            </a:r>
          </a:p>
        </p:txBody>
      </p:sp>
      <p:sp>
        <p:nvSpPr>
          <p:cNvPr id="10" name="TextBox 9"/>
          <p:cNvSpPr txBox="1"/>
          <p:nvPr/>
        </p:nvSpPr>
        <p:spPr>
          <a:xfrm>
            <a:off x="713232" y="5138928"/>
            <a:ext cx="10789920" cy="566928"/>
          </a:xfrm>
          <a:prstGeom prst="rect">
            <a:avLst/>
          </a:prstGeom>
          <a:noFill/>
        </p:spPr>
        <p:txBody>
          <a:bodyPr wrap="square" lIns="0" rIns="0" tIns="0" bIns="0" anchor="t">
            <a:spAutoFit/>
          </a:bodyPr>
          <a:lstStyle/>
          <a:p>
            <a:pPr algn="l">
              <a:lnSpc>
                <a:spcPct val="135000"/>
              </a:lnSpc>
            </a:pPr>
            <a:r>
              <a:rPr sz="1300" b="0" i="0">
                <a:solidFill>
                  <a:srgbClr val="93A79D"/>
                </a:solidFill>
                <a:latin typeface="Inter" pitchFamily="34" charset="0"/>
                <a:cs typeface="Inter" pitchFamily="34" charset="0"/>
              </a:rPr>
              <a:t>KOBA David · GANTIN Philippe-Cadet · ADANLAO Adéyinka Laurinda</a:t>
            </a:r>
          </a:p>
          <a:p>
            <a:pPr algn="l">
              <a:lnSpc>
                <a:spcPct val="135000"/>
              </a:lnSpc>
            </a:pPr>
            <a:r>
              <a:rPr sz="1300" b="0" i="0">
                <a:solidFill>
                  <a:srgbClr val="93A79D"/>
                </a:solidFill>
                <a:latin typeface="Inter" pitchFamily="34" charset="0"/>
                <a:cs typeface="Inter" pitchFamily="34" charset="0"/>
              </a:rPr>
              <a:t>DJIBO Issa · ABIALA Daniel</a:t>
            </a:r>
          </a:p>
        </p:txBody>
      </p:sp>
      <p:sp>
        <p:nvSpPr>
          <p:cNvPr id="11" name="TextBox 10"/>
          <p:cNvSpPr txBox="1"/>
          <p:nvPr/>
        </p:nvSpPr>
        <p:spPr>
          <a:xfrm>
            <a:off x="713232" y="5797296"/>
            <a:ext cx="10789920" cy="265785"/>
          </a:xfrm>
          <a:prstGeom prst="rect">
            <a:avLst/>
          </a:prstGeom>
          <a:noFill/>
        </p:spPr>
        <p:txBody>
          <a:bodyPr wrap="square" lIns="0" rIns="0" tIns="0" bIns="0" anchor="t">
            <a:spAutoFit/>
          </a:bodyPr>
          <a:lstStyle/>
          <a:p>
            <a:pPr algn="l">
              <a:lnSpc>
                <a:spcPct val="118000"/>
              </a:lnSpc>
            </a:pPr>
            <a:r>
              <a:rPr sz="1300" b="0" i="0">
                <a:solidFill>
                  <a:srgbClr val="93A79D"/>
                </a:solidFill>
                <a:latin typeface="Inter" pitchFamily="34" charset="0"/>
                <a:cs typeface="Inter" pitchFamily="34" charset="0"/>
              </a:rPr>
              <a:t>Hackathon Deep Learning · IndabaX Bénin 2026 · Cotonou</a:t>
            </a:r>
          </a:p>
        </p:txBody>
      </p:sp>
      <p:sp>
        <p:nvSpPr>
          <p:cNvPr id="12" name="Rectangle 11"/>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14" name="TextBox 13"/>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LE CONSTAT</a:t>
            </a:r>
          </a:p>
        </p:txBody>
      </p:sp>
      <p:sp>
        <p:nvSpPr>
          <p:cNvPr id="5" name="Rectangle 4"/>
          <p:cNvSpPr/>
          <p:nvPr/>
        </p:nvSpPr>
        <p:spPr>
          <a:xfrm>
            <a:off x="713232" y="1143000"/>
            <a:ext cx="54864" cy="32461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6152" y="1188720"/>
            <a:ext cx="10332720" cy="1036015"/>
          </a:xfrm>
          <a:prstGeom prst="rect">
            <a:avLst/>
          </a:prstGeom>
          <a:noFill/>
        </p:spPr>
        <p:txBody>
          <a:bodyPr wrap="square" lIns="0" rIns="0" tIns="0" bIns="0" anchor="t">
            <a:spAutoFit/>
          </a:bodyPr>
          <a:lstStyle/>
          <a:p>
            <a:pPr algn="l">
              <a:lnSpc>
                <a:spcPct val="122000"/>
              </a:lnSpc>
            </a:pPr>
            <a:r>
              <a:rPr sz="2700" b="1" i="0">
                <a:solidFill>
                  <a:srgbClr val="E9F2ED"/>
                </a:solidFill>
                <a:latin typeface="Space Grotesk" pitchFamily="34" charset="0"/>
                <a:cs typeface="Space Grotesk" pitchFamily="34" charset="0"/>
              </a:rPr>
              <a:t>« Les couloirs de transhumance ont été délimités une fois.</a:t>
            </a:r>
          </a:p>
          <a:p>
            <a:pPr algn="l">
              <a:lnSpc>
                <a:spcPct val="122000"/>
              </a:lnSpc>
            </a:pPr>
            <a:r>
              <a:rPr sz="2700" b="1" i="0">
                <a:solidFill>
                  <a:srgbClr val="E9F2ED"/>
                </a:solidFill>
                <a:latin typeface="Space Grotesk" pitchFamily="34" charset="0"/>
                <a:cs typeface="Space Grotesk" pitchFamily="34" charset="0"/>
              </a:rPr>
              <a:t>Les champs, eux, changent chaque saison.</a:t>
            </a:r>
          </a:p>
        </p:txBody>
      </p:sp>
      <p:sp>
        <p:nvSpPr>
          <p:cNvPr id="7" name="TextBox 6"/>
          <p:cNvSpPr txBox="1"/>
          <p:nvPr/>
        </p:nvSpPr>
        <p:spPr>
          <a:xfrm>
            <a:off x="1216152" y="3127248"/>
            <a:ext cx="10332720" cy="1036015"/>
          </a:xfrm>
          <a:prstGeom prst="rect">
            <a:avLst/>
          </a:prstGeom>
          <a:noFill/>
        </p:spPr>
        <p:txBody>
          <a:bodyPr wrap="square" lIns="0" rIns="0" tIns="0" bIns="0" anchor="t">
            <a:spAutoFit/>
          </a:bodyPr>
          <a:lstStyle/>
          <a:p>
            <a:pPr algn="l">
              <a:lnSpc>
                <a:spcPct val="122000"/>
              </a:lnSpc>
            </a:pPr>
            <a:r>
              <a:rPr sz="2700" b="1" i="0">
                <a:solidFill>
                  <a:srgbClr val="34D399"/>
                </a:solidFill>
                <a:latin typeface="Space Grotesk" pitchFamily="34" charset="0"/>
                <a:cs typeface="Space Grotesk" pitchFamily="34" charset="0"/>
              </a:rPr>
              <a:t>Le conflit ne naît pas d'une carte absente,</a:t>
            </a:r>
          </a:p>
          <a:p>
            <a:pPr algn="l">
              <a:lnSpc>
                <a:spcPct val="122000"/>
              </a:lnSpc>
            </a:pPr>
            <a:r>
              <a:rPr sz="2700" b="1" i="0">
                <a:solidFill>
                  <a:srgbClr val="34D399"/>
                </a:solidFill>
                <a:latin typeface="Space Grotesk" pitchFamily="34" charset="0"/>
                <a:cs typeface="Space Grotesk" pitchFamily="34" charset="0"/>
              </a:rPr>
              <a:t>il naît d'une carte périmée. »</a:t>
            </a:r>
          </a:p>
        </p:txBody>
      </p:sp>
      <p:sp>
        <p:nvSpPr>
          <p:cNvPr id="8" name="Rectangle 7"/>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10" name="TextBox 9"/>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03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LE PROBLÈME</a:t>
            </a:r>
          </a:p>
        </p:txBody>
      </p:sp>
      <p:sp>
        <p:nvSpPr>
          <p:cNvPr id="8" name="TextBox 7"/>
          <p:cNvSpPr txBox="1"/>
          <p:nvPr/>
        </p:nvSpPr>
        <p:spPr>
          <a:xfrm>
            <a:off x="713232" y="932688"/>
            <a:ext cx="10765231" cy="1001268"/>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Ce n'est pas un problème spatial.</a:t>
            </a:r>
          </a:p>
          <a:p>
            <a:pPr algn="l">
              <a:lnSpc>
                <a:spcPct val="106000"/>
              </a:lnSpc>
            </a:pPr>
            <a:r>
              <a:rPr sz="3000" b="1" i="0">
                <a:solidFill>
                  <a:srgbClr val="E9F2ED"/>
                </a:solidFill>
                <a:latin typeface="Space Grotesk" pitchFamily="34" charset="0"/>
                <a:cs typeface="Space Grotesk" pitchFamily="34" charset="0"/>
              </a:rPr>
              <a:t>C'est un problème temporel.</a:t>
            </a:r>
          </a:p>
        </p:txBody>
      </p:sp>
      <p:sp>
        <p:nvSpPr>
          <p:cNvPr id="9" name="TextBox 8"/>
          <p:cNvSpPr txBox="1"/>
          <p:nvPr/>
        </p:nvSpPr>
        <p:spPr>
          <a:xfrm>
            <a:off x="713232" y="2304288"/>
            <a:ext cx="10789920" cy="265785"/>
          </a:xfrm>
          <a:prstGeom prst="rect">
            <a:avLst/>
          </a:prstGeom>
          <a:noFill/>
        </p:spPr>
        <p:txBody>
          <a:bodyPr wrap="square" lIns="0" rIns="0" tIns="0" bIns="0" anchor="t">
            <a:spAutoFit/>
          </a:bodyPr>
          <a:lstStyle/>
          <a:p>
            <a:pPr algn="l">
              <a:lnSpc>
                <a:spcPct val="118000"/>
              </a:lnSpc>
            </a:pPr>
            <a:r>
              <a:rPr sz="1300" b="0" i="0">
                <a:solidFill>
                  <a:srgbClr val="D9B48F"/>
                </a:solidFill>
                <a:latin typeface="Inter" pitchFamily="34" charset="0"/>
                <a:cs typeface="Inter" pitchFamily="34" charset="0"/>
              </a:rPr>
              <a:t>Nord et centre du Bénin · 5 départements · 33 communes · conflits agriculteurs et éleveurs</a:t>
            </a:r>
          </a:p>
        </p:txBody>
      </p:sp>
      <p:sp>
        <p:nvSpPr>
          <p:cNvPr id="10" name="Rounded Rectangle 9"/>
          <p:cNvSpPr/>
          <p:nvPr/>
        </p:nvSpPr>
        <p:spPr>
          <a:xfrm>
            <a:off x="713232" y="2880360"/>
            <a:ext cx="3405530" cy="205740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869387"/>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172968"/>
            <a:ext cx="2930042" cy="305104"/>
          </a:xfrm>
          <a:prstGeom prst="rect">
            <a:avLst/>
          </a:prstGeom>
          <a:noFill/>
        </p:spPr>
        <p:txBody>
          <a:bodyPr wrap="square" lIns="0" rIns="0" tIns="0" bIns="0" anchor="t">
            <a:spAutoFit/>
          </a:bodyPr>
          <a:lstStyle/>
          <a:p>
            <a:pPr algn="l">
              <a:lnSpc>
                <a:spcPct val="112000"/>
              </a:lnSpc>
            </a:pPr>
            <a:r>
              <a:rPr sz="1600" b="1" i="0">
                <a:solidFill>
                  <a:srgbClr val="E9F2ED"/>
                </a:solidFill>
                <a:latin typeface="Space Grotesk" pitchFamily="34" charset="0"/>
                <a:cs typeface="Space Grotesk" pitchFamily="34" charset="0"/>
              </a:rPr>
              <a:t>La carte existe</a:t>
            </a:r>
          </a:p>
        </p:txBody>
      </p:sp>
      <p:sp>
        <p:nvSpPr>
          <p:cNvPr id="13" name="TextBox 12"/>
          <p:cNvSpPr txBox="1"/>
          <p:nvPr/>
        </p:nvSpPr>
        <p:spPr>
          <a:xfrm>
            <a:off x="950976" y="3624376"/>
            <a:ext cx="2930042" cy="804672"/>
          </a:xfrm>
          <a:prstGeom prst="rect">
            <a:avLst/>
          </a:prstGeom>
          <a:noFill/>
        </p:spPr>
        <p:txBody>
          <a:bodyPr wrap="square" lIns="0" rIns="0" tIns="0" bIns="0" anchor="t">
            <a:spAutoFit/>
          </a:bodyPr>
          <a:lstStyle/>
          <a:p>
            <a:pPr algn="l">
              <a:lnSpc>
                <a:spcPct val="130000"/>
              </a:lnSpc>
            </a:pPr>
            <a:r>
              <a:rPr sz="1300" b="0" i="0">
                <a:solidFill>
                  <a:srgbClr val="93A79D"/>
                </a:solidFill>
                <a:latin typeface="Inter" pitchFamily="34" charset="0"/>
                <a:cs typeface="Inter" pitchFamily="34" charset="0"/>
              </a:rPr>
              <a:t>Couloirs délimités,</a:t>
            </a:r>
          </a:p>
          <a:p>
            <a:pPr algn="l">
              <a:lnSpc>
                <a:spcPct val="130000"/>
              </a:lnSpc>
            </a:pPr>
            <a:r>
              <a:rPr sz="1300" b="0" i="0">
                <a:solidFill>
                  <a:srgbClr val="93A79D"/>
                </a:solidFill>
                <a:latin typeface="Inter" pitchFamily="34" charset="0"/>
                <a:cs typeface="Inter" pitchFamily="34" charset="0"/>
              </a:rPr>
              <a:t>balisés, actés.</a:t>
            </a:r>
          </a:p>
          <a:p>
            <a:pPr algn="l">
              <a:lnSpc>
                <a:spcPct val="130000"/>
              </a:lnSpc>
            </a:pPr>
            <a:r>
              <a:rPr sz="1300" b="0" i="0">
                <a:solidFill>
                  <a:srgbClr val="93A79D"/>
                </a:solidFill>
                <a:latin typeface="Inter" pitchFamily="34" charset="0"/>
                <a:cs typeface="Inter" pitchFamily="34" charset="0"/>
              </a:rPr>
              <a:t>Une fois.</a:t>
            </a:r>
          </a:p>
        </p:txBody>
      </p:sp>
      <p:sp>
        <p:nvSpPr>
          <p:cNvPr id="14" name="Rounded Rectangle 13"/>
          <p:cNvSpPr/>
          <p:nvPr/>
        </p:nvSpPr>
        <p:spPr>
          <a:xfrm>
            <a:off x="4393082" y="2880360"/>
            <a:ext cx="3405530" cy="205740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3082" y="2869387"/>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0826" y="3172968"/>
            <a:ext cx="2930042" cy="305104"/>
          </a:xfrm>
          <a:prstGeom prst="rect">
            <a:avLst/>
          </a:prstGeom>
          <a:noFill/>
        </p:spPr>
        <p:txBody>
          <a:bodyPr wrap="square" lIns="0" rIns="0" tIns="0" bIns="0" anchor="t">
            <a:spAutoFit/>
          </a:bodyPr>
          <a:lstStyle/>
          <a:p>
            <a:pPr algn="l">
              <a:lnSpc>
                <a:spcPct val="112000"/>
              </a:lnSpc>
            </a:pPr>
            <a:r>
              <a:rPr sz="1600" b="1" i="0">
                <a:solidFill>
                  <a:srgbClr val="E9F2ED"/>
                </a:solidFill>
                <a:latin typeface="Space Grotesk" pitchFamily="34" charset="0"/>
                <a:cs typeface="Space Grotesk" pitchFamily="34" charset="0"/>
              </a:rPr>
              <a:t>Le sol a bougé</a:t>
            </a:r>
          </a:p>
        </p:txBody>
      </p:sp>
      <p:sp>
        <p:nvSpPr>
          <p:cNvPr id="17" name="TextBox 16"/>
          <p:cNvSpPr txBox="1"/>
          <p:nvPr/>
        </p:nvSpPr>
        <p:spPr>
          <a:xfrm>
            <a:off x="4630826" y="3624376"/>
            <a:ext cx="2930042" cy="804672"/>
          </a:xfrm>
          <a:prstGeom prst="rect">
            <a:avLst/>
          </a:prstGeom>
          <a:noFill/>
        </p:spPr>
        <p:txBody>
          <a:bodyPr wrap="square" lIns="0" rIns="0" tIns="0" bIns="0" anchor="t">
            <a:spAutoFit/>
          </a:bodyPr>
          <a:lstStyle/>
          <a:p>
            <a:pPr algn="l">
              <a:lnSpc>
                <a:spcPct val="130000"/>
              </a:lnSpc>
            </a:pPr>
            <a:r>
              <a:rPr sz="1300" b="0" i="0">
                <a:solidFill>
                  <a:srgbClr val="93A79D"/>
                </a:solidFill>
                <a:latin typeface="Inter" pitchFamily="34" charset="0"/>
                <a:cs typeface="Inter" pitchFamily="34" charset="0"/>
              </a:rPr>
              <a:t>Mise en culture,</a:t>
            </a:r>
          </a:p>
          <a:p>
            <a:pPr algn="l">
              <a:lnSpc>
                <a:spcPct val="130000"/>
              </a:lnSpc>
            </a:pPr>
            <a:r>
              <a:rPr sz="1300" b="0" i="0">
                <a:solidFill>
                  <a:srgbClr val="93A79D"/>
                </a:solidFill>
                <a:latin typeface="Inter" pitchFamily="34" charset="0"/>
                <a:cs typeface="Inter" pitchFamily="34" charset="0"/>
              </a:rPr>
              <a:t>extension cotonnière,</a:t>
            </a:r>
          </a:p>
          <a:p>
            <a:pPr algn="l">
              <a:lnSpc>
                <a:spcPct val="130000"/>
              </a:lnSpc>
            </a:pPr>
            <a:r>
              <a:rPr sz="1300" b="0" i="0">
                <a:solidFill>
                  <a:srgbClr val="93A79D"/>
                </a:solidFill>
                <a:latin typeface="Inter" pitchFamily="34" charset="0"/>
                <a:cs typeface="Inter" pitchFamily="34" charset="0"/>
              </a:rPr>
              <a:t>chaque saison.</a:t>
            </a:r>
          </a:p>
        </p:txBody>
      </p:sp>
      <p:sp>
        <p:nvSpPr>
          <p:cNvPr id="18" name="Rounded Rectangle 17"/>
          <p:cNvSpPr/>
          <p:nvPr/>
        </p:nvSpPr>
        <p:spPr>
          <a:xfrm>
            <a:off x="8072932" y="2880360"/>
            <a:ext cx="3405530" cy="205740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2932" y="2869387"/>
            <a:ext cx="3405530" cy="45720"/>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676" y="3172968"/>
            <a:ext cx="2930042" cy="578205"/>
          </a:xfrm>
          <a:prstGeom prst="rect">
            <a:avLst/>
          </a:prstGeom>
          <a:noFill/>
        </p:spPr>
        <p:txBody>
          <a:bodyPr wrap="square" lIns="0" rIns="0" tIns="0" bIns="0" anchor="t">
            <a:spAutoFit/>
          </a:bodyPr>
          <a:lstStyle/>
          <a:p>
            <a:pPr algn="l">
              <a:lnSpc>
                <a:spcPct val="112000"/>
              </a:lnSpc>
            </a:pPr>
            <a:r>
              <a:rPr sz="1600" b="1" i="0">
                <a:solidFill>
                  <a:srgbClr val="E9F2ED"/>
                </a:solidFill>
                <a:latin typeface="Space Grotesk" pitchFamily="34" charset="0"/>
                <a:cs typeface="Space Grotesk" pitchFamily="34" charset="0"/>
              </a:rPr>
              <a:t>Le comité décide</a:t>
            </a:r>
          </a:p>
          <a:p>
            <a:pPr algn="l">
              <a:lnSpc>
                <a:spcPct val="112000"/>
              </a:lnSpc>
            </a:pPr>
            <a:r>
              <a:rPr sz="1600" b="1" i="0">
                <a:solidFill>
                  <a:srgbClr val="E9F2ED"/>
                </a:solidFill>
                <a:latin typeface="Space Grotesk" pitchFamily="34" charset="0"/>
                <a:cs typeface="Space Grotesk" pitchFamily="34" charset="0"/>
              </a:rPr>
              <a:t>à l'aveugle</a:t>
            </a:r>
          </a:p>
        </p:txBody>
      </p:sp>
      <p:sp>
        <p:nvSpPr>
          <p:cNvPr id="21" name="TextBox 20"/>
          <p:cNvSpPr txBox="1"/>
          <p:nvPr/>
        </p:nvSpPr>
        <p:spPr>
          <a:xfrm>
            <a:off x="8310676" y="3897477"/>
            <a:ext cx="2930042" cy="547116"/>
          </a:xfrm>
          <a:prstGeom prst="rect">
            <a:avLst/>
          </a:prstGeom>
          <a:noFill/>
        </p:spPr>
        <p:txBody>
          <a:bodyPr wrap="square" lIns="0" rIns="0" tIns="0" bIns="0" anchor="t">
            <a:spAutoFit/>
          </a:bodyPr>
          <a:lstStyle/>
          <a:p>
            <a:pPr algn="l">
              <a:lnSpc>
                <a:spcPct val="130000"/>
              </a:lnSpc>
            </a:pPr>
            <a:r>
              <a:rPr sz="1300" b="0" i="0">
                <a:solidFill>
                  <a:srgbClr val="93A79D"/>
                </a:solidFill>
                <a:latin typeface="Inter" pitchFamily="34" charset="0"/>
                <a:cs typeface="Inter" pitchFamily="34" charset="0"/>
              </a:rPr>
              <a:t>Il arbitre sans image</a:t>
            </a:r>
          </a:p>
          <a:p>
            <a:pPr algn="l">
              <a:lnSpc>
                <a:spcPct val="130000"/>
              </a:lnSpc>
            </a:pPr>
            <a:r>
              <a:rPr sz="1300" b="0" i="0">
                <a:solidFill>
                  <a:srgbClr val="93A79D"/>
                </a:solidFill>
                <a:latin typeface="Inter" pitchFamily="34" charset="0"/>
                <a:cs typeface="Inter" pitchFamily="34" charset="0"/>
              </a:rPr>
              <a:t>récente du terrain.</a:t>
            </a:r>
          </a:p>
        </p:txBody>
      </p:sp>
      <p:sp>
        <p:nvSpPr>
          <p:cNvPr id="22" name="TextBox 21"/>
          <p:cNvSpPr txBox="1"/>
          <p:nvPr/>
        </p:nvSpPr>
        <p:spPr>
          <a:xfrm>
            <a:off x="713232" y="5285232"/>
            <a:ext cx="10789920" cy="337718"/>
          </a:xfrm>
          <a:prstGeom prst="rect">
            <a:avLst/>
          </a:prstGeom>
          <a:noFill/>
        </p:spPr>
        <p:txBody>
          <a:bodyPr wrap="square" lIns="0" rIns="0" tIns="0" bIns="0" anchor="t">
            <a:spAutoFit/>
          </a:bodyPr>
          <a:lstStyle/>
          <a:p>
            <a:pPr algn="l">
              <a:lnSpc>
                <a:spcPct val="118000"/>
              </a:lnSpc>
            </a:pPr>
            <a:r>
              <a:rPr sz="1700" b="1" i="0">
                <a:solidFill>
                  <a:srgbClr val="E9F2ED"/>
                </a:solidFill>
                <a:latin typeface="Space Grotesk" pitchFamily="34" charset="0"/>
                <a:cs typeface="Space Grotesk" pitchFamily="34" charset="0"/>
              </a:rPr>
              <a:t>La carte est périmée avant d'être utilisée.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04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NOTRE UTILISATEUR</a:t>
            </a:r>
          </a:p>
        </p:txBody>
      </p:sp>
      <p:sp>
        <p:nvSpPr>
          <p:cNvPr id="8" name="TextBox 7"/>
          <p:cNvSpPr txBox="1"/>
          <p:nvPr/>
        </p:nvSpPr>
        <p:spPr>
          <a:xfrm>
            <a:off x="713232" y="932688"/>
            <a:ext cx="10765231" cy="581253"/>
          </a:xfrm>
          <a:prstGeom prst="rect">
            <a:avLst/>
          </a:prstGeom>
          <a:noFill/>
        </p:spPr>
        <p:txBody>
          <a:bodyPr wrap="square" lIns="0" rIns="0" tIns="0" bIns="0" anchor="t">
            <a:spAutoFit/>
          </a:bodyPr>
          <a:lstStyle/>
          <a:p>
            <a:pPr algn="l">
              <a:lnSpc>
                <a:spcPct val="106000"/>
              </a:lnSpc>
            </a:pPr>
            <a:r>
              <a:rPr sz="3400" b="1" i="0">
                <a:solidFill>
                  <a:srgbClr val="E9F2ED"/>
                </a:solidFill>
                <a:latin typeface="Space Grotesk" pitchFamily="34" charset="0"/>
                <a:cs typeface="Space Grotesk" pitchFamily="34" charset="0"/>
              </a:rPr>
              <a:t>Moussa Gounou</a:t>
            </a:r>
          </a:p>
        </p:txBody>
      </p:sp>
      <p:sp>
        <p:nvSpPr>
          <p:cNvPr id="9" name="TextBox 8"/>
          <p:cNvSpPr txBox="1"/>
          <p:nvPr/>
        </p:nvSpPr>
        <p:spPr>
          <a:xfrm>
            <a:off x="713232" y="1810512"/>
            <a:ext cx="7315200" cy="301751"/>
          </a:xfrm>
          <a:prstGeom prst="rect">
            <a:avLst/>
          </a:prstGeom>
          <a:noFill/>
        </p:spPr>
        <p:txBody>
          <a:bodyPr wrap="square" lIns="0" rIns="0" tIns="0" bIns="0" anchor="t">
            <a:spAutoFit/>
          </a:bodyPr>
          <a:lstStyle/>
          <a:p>
            <a:pPr algn="l">
              <a:lnSpc>
                <a:spcPct val="118000"/>
              </a:lnSpc>
            </a:pPr>
            <a:r>
              <a:rPr sz="1500" b="0" i="0">
                <a:solidFill>
                  <a:srgbClr val="D9B48F"/>
                </a:solidFill>
                <a:latin typeface="Inter" pitchFamily="34" charset="0"/>
                <a:cs typeface="Inter" pitchFamily="34" charset="0"/>
              </a:rPr>
              <a:t>Agent d'élevage · mairie de Banikoara (Alibori)</a:t>
            </a:r>
          </a:p>
        </p:txBody>
      </p:sp>
      <p:sp>
        <p:nvSpPr>
          <p:cNvPr id="10" name="Rounded Rectangle 9"/>
          <p:cNvSpPr/>
          <p:nvPr/>
        </p:nvSpPr>
        <p:spPr>
          <a:xfrm>
            <a:off x="713232" y="2395728"/>
            <a:ext cx="5074920" cy="340156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384755"/>
            <a:ext cx="507492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24912"/>
            <a:ext cx="4480560" cy="229819"/>
          </a:xfrm>
          <a:prstGeom prst="rect">
            <a:avLst/>
          </a:prstGeom>
          <a:noFill/>
        </p:spPr>
        <p:txBody>
          <a:bodyPr wrap="square" lIns="0" rIns="0" tIns="0" bIns="0" anchor="t">
            <a:spAutoFit/>
          </a:bodyPr>
          <a:lstStyle/>
          <a:p>
            <a:pPr algn="l">
              <a:lnSpc>
                <a:spcPct val="118000"/>
              </a:lnSpc>
            </a:pPr>
            <a:r>
              <a:rPr sz="1100" b="1" i="0">
                <a:solidFill>
                  <a:srgbClr val="34D399"/>
                </a:solidFill>
                <a:latin typeface="Inter" pitchFamily="34" charset="0"/>
                <a:cs typeface="Inter" pitchFamily="34" charset="0"/>
              </a:rPr>
              <a:t>SON SCÉNARIO, AVANT LA SAISON</a:t>
            </a:r>
          </a:p>
        </p:txBody>
      </p:sp>
      <p:sp>
        <p:nvSpPr>
          <p:cNvPr id="13" name="TextBox 12"/>
          <p:cNvSpPr txBox="1"/>
          <p:nvPr/>
        </p:nvSpPr>
        <p:spPr>
          <a:xfrm>
            <a:off x="1005840" y="3200400"/>
            <a:ext cx="36576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JetBrains Mono" pitchFamily="34" charset="0"/>
                <a:cs typeface="JetBrains Mono" pitchFamily="34" charset="0"/>
              </a:rPr>
              <a:t>1</a:t>
            </a:r>
          </a:p>
        </p:txBody>
      </p:sp>
      <p:sp>
        <p:nvSpPr>
          <p:cNvPr id="14" name="TextBox 13"/>
          <p:cNvSpPr txBox="1"/>
          <p:nvPr/>
        </p:nvSpPr>
        <p:spPr>
          <a:xfrm>
            <a:off x="1426464" y="3182112"/>
            <a:ext cx="4114800" cy="278891"/>
          </a:xfrm>
          <a:prstGeom prst="rect">
            <a:avLst/>
          </a:prstGeom>
          <a:noFill/>
        </p:spPr>
        <p:txBody>
          <a:bodyPr wrap="square" lIns="0" rIns="0" tIns="0" bIns="0" anchor="t">
            <a:spAutoFit/>
          </a:bodyPr>
          <a:lstStyle/>
          <a:p>
            <a:pPr algn="l">
              <a:lnSpc>
                <a:spcPct val="120000"/>
              </a:lnSpc>
            </a:pPr>
            <a:r>
              <a:rPr sz="1350" b="0" i="0">
                <a:solidFill>
                  <a:srgbClr val="E9F2ED"/>
                </a:solidFill>
                <a:latin typeface="Inter" pitchFamily="34" charset="0"/>
                <a:cs typeface="Inter" pitchFamily="34" charset="0"/>
              </a:rPr>
              <a:t>Il reçoit la carte de friction du couloir</a:t>
            </a:r>
          </a:p>
        </p:txBody>
      </p:sp>
      <p:sp>
        <p:nvSpPr>
          <p:cNvPr id="15" name="TextBox 14"/>
          <p:cNvSpPr txBox="1"/>
          <p:nvPr/>
        </p:nvSpPr>
        <p:spPr>
          <a:xfrm>
            <a:off x="1005840" y="3749039"/>
            <a:ext cx="36576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JetBrains Mono" pitchFamily="34" charset="0"/>
                <a:cs typeface="JetBrains Mono" pitchFamily="34" charset="0"/>
              </a:rPr>
              <a:t>2</a:t>
            </a:r>
          </a:p>
        </p:txBody>
      </p:sp>
      <p:sp>
        <p:nvSpPr>
          <p:cNvPr id="16" name="TextBox 15"/>
          <p:cNvSpPr txBox="1"/>
          <p:nvPr/>
        </p:nvSpPr>
        <p:spPr>
          <a:xfrm>
            <a:off x="1426464" y="3730752"/>
            <a:ext cx="4114800" cy="278891"/>
          </a:xfrm>
          <a:prstGeom prst="rect">
            <a:avLst/>
          </a:prstGeom>
          <a:noFill/>
        </p:spPr>
        <p:txBody>
          <a:bodyPr wrap="square" lIns="0" rIns="0" tIns="0" bIns="0" anchor="t">
            <a:spAutoFit/>
          </a:bodyPr>
          <a:lstStyle/>
          <a:p>
            <a:pPr algn="l">
              <a:lnSpc>
                <a:spcPct val="120000"/>
              </a:lnSpc>
            </a:pPr>
            <a:r>
              <a:rPr sz="1350" b="0" i="0">
                <a:solidFill>
                  <a:srgbClr val="E9F2ED"/>
                </a:solidFill>
                <a:latin typeface="Inter" pitchFamily="34" charset="0"/>
                <a:cs typeface="Inter" pitchFamily="34" charset="0"/>
              </a:rPr>
              <a:t>Il va vérifier sur le terrain, hors réseau</a:t>
            </a:r>
          </a:p>
        </p:txBody>
      </p:sp>
      <p:sp>
        <p:nvSpPr>
          <p:cNvPr id="17" name="TextBox 16"/>
          <p:cNvSpPr txBox="1"/>
          <p:nvPr/>
        </p:nvSpPr>
        <p:spPr>
          <a:xfrm>
            <a:off x="1005840" y="4297680"/>
            <a:ext cx="36576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JetBrains Mono" pitchFamily="34" charset="0"/>
                <a:cs typeface="JetBrains Mono" pitchFamily="34" charset="0"/>
              </a:rPr>
              <a:t>3</a:t>
            </a:r>
          </a:p>
        </p:txBody>
      </p:sp>
      <p:sp>
        <p:nvSpPr>
          <p:cNvPr id="18" name="TextBox 17"/>
          <p:cNvSpPr txBox="1"/>
          <p:nvPr/>
        </p:nvSpPr>
        <p:spPr>
          <a:xfrm>
            <a:off x="1426464" y="4279392"/>
            <a:ext cx="4114800" cy="278891"/>
          </a:xfrm>
          <a:prstGeom prst="rect">
            <a:avLst/>
          </a:prstGeom>
          <a:noFill/>
        </p:spPr>
        <p:txBody>
          <a:bodyPr wrap="square" lIns="0" rIns="0" tIns="0" bIns="0" anchor="t">
            <a:spAutoFit/>
          </a:bodyPr>
          <a:lstStyle/>
          <a:p>
            <a:pPr algn="l">
              <a:lnSpc>
                <a:spcPct val="120000"/>
              </a:lnSpc>
            </a:pPr>
            <a:r>
              <a:rPr sz="1350" b="0" i="0">
                <a:solidFill>
                  <a:srgbClr val="E9F2ED"/>
                </a:solidFill>
                <a:latin typeface="Inter" pitchFamily="34" charset="0"/>
                <a:cs typeface="Inter" pitchFamily="34" charset="0"/>
              </a:rPr>
              <a:t>Il confirme ou invalide depuis son téléphone</a:t>
            </a:r>
          </a:p>
        </p:txBody>
      </p:sp>
      <p:sp>
        <p:nvSpPr>
          <p:cNvPr id="19" name="TextBox 18"/>
          <p:cNvSpPr txBox="1"/>
          <p:nvPr/>
        </p:nvSpPr>
        <p:spPr>
          <a:xfrm>
            <a:off x="1005840" y="4846320"/>
            <a:ext cx="36576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JetBrains Mono" pitchFamily="34" charset="0"/>
                <a:cs typeface="JetBrains Mono" pitchFamily="34" charset="0"/>
              </a:rPr>
              <a:t>4</a:t>
            </a:r>
          </a:p>
        </p:txBody>
      </p:sp>
      <p:sp>
        <p:nvSpPr>
          <p:cNvPr id="20" name="TextBox 19"/>
          <p:cNvSpPr txBox="1"/>
          <p:nvPr/>
        </p:nvSpPr>
        <p:spPr>
          <a:xfrm>
            <a:off x="1426464" y="4828032"/>
            <a:ext cx="4114800" cy="278891"/>
          </a:xfrm>
          <a:prstGeom prst="rect">
            <a:avLst/>
          </a:prstGeom>
          <a:noFill/>
        </p:spPr>
        <p:txBody>
          <a:bodyPr wrap="square" lIns="0" rIns="0" tIns="0" bIns="0" anchor="t">
            <a:spAutoFit/>
          </a:bodyPr>
          <a:lstStyle/>
          <a:p>
            <a:pPr algn="l">
              <a:lnSpc>
                <a:spcPct val="120000"/>
              </a:lnSpc>
            </a:pPr>
            <a:r>
              <a:rPr sz="1350" b="0" i="0">
                <a:solidFill>
                  <a:srgbClr val="E9F2ED"/>
                </a:solidFill>
                <a:latin typeface="Inter" pitchFamily="34" charset="0"/>
                <a:cs typeface="Inter" pitchFamily="34" charset="0"/>
              </a:rPr>
              <a:t>Au retour du réseau, tout se synchronise</a:t>
            </a:r>
          </a:p>
        </p:txBody>
      </p:sp>
      <p:sp>
        <p:nvSpPr>
          <p:cNvPr id="21" name="TextBox 20"/>
          <p:cNvSpPr txBox="1"/>
          <p:nvPr/>
        </p:nvSpPr>
        <p:spPr>
          <a:xfrm>
            <a:off x="1005840" y="5394960"/>
            <a:ext cx="365760" cy="247802"/>
          </a:xfrm>
          <a:prstGeom prst="rect">
            <a:avLst/>
          </a:prstGeom>
          <a:noFill/>
        </p:spPr>
        <p:txBody>
          <a:bodyPr wrap="square" lIns="0" rIns="0" tIns="0" bIns="0" anchor="t">
            <a:spAutoFit/>
          </a:bodyPr>
          <a:lstStyle/>
          <a:p>
            <a:pPr algn="l">
              <a:lnSpc>
                <a:spcPct val="118000"/>
              </a:lnSpc>
            </a:pPr>
            <a:r>
              <a:rPr sz="1200" b="1" i="0">
                <a:solidFill>
                  <a:srgbClr val="34D399"/>
                </a:solidFill>
                <a:latin typeface="JetBrains Mono" pitchFamily="34" charset="0"/>
                <a:cs typeface="JetBrains Mono" pitchFamily="34" charset="0"/>
              </a:rPr>
              <a:t>5</a:t>
            </a:r>
          </a:p>
        </p:txBody>
      </p:sp>
      <p:sp>
        <p:nvSpPr>
          <p:cNvPr id="22" name="TextBox 21"/>
          <p:cNvSpPr txBox="1"/>
          <p:nvPr/>
        </p:nvSpPr>
        <p:spPr>
          <a:xfrm>
            <a:off x="1426464" y="5376672"/>
            <a:ext cx="4114800" cy="278891"/>
          </a:xfrm>
          <a:prstGeom prst="rect">
            <a:avLst/>
          </a:prstGeom>
          <a:noFill/>
        </p:spPr>
        <p:txBody>
          <a:bodyPr wrap="square" lIns="0" rIns="0" tIns="0" bIns="0" anchor="t">
            <a:spAutoFit/>
          </a:bodyPr>
          <a:lstStyle/>
          <a:p>
            <a:pPr algn="l">
              <a:lnSpc>
                <a:spcPct val="120000"/>
              </a:lnSpc>
            </a:pPr>
            <a:r>
              <a:rPr sz="1350" b="0" i="0">
                <a:solidFill>
                  <a:srgbClr val="E9F2ED"/>
                </a:solidFill>
                <a:latin typeface="Inter" pitchFamily="34" charset="0"/>
                <a:cs typeface="Inter" pitchFamily="34" charset="0"/>
              </a:rPr>
              <a:t>Le comité communal arbitre le lendemain</a:t>
            </a:r>
          </a:p>
        </p:txBody>
      </p:sp>
      <p:sp>
        <p:nvSpPr>
          <p:cNvPr id="23" name="Rounded Rectangle 22"/>
          <p:cNvSpPr/>
          <p:nvPr/>
        </p:nvSpPr>
        <p:spPr>
          <a:xfrm>
            <a:off x="6108192" y="2395728"/>
            <a:ext cx="5370271" cy="157276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670048"/>
            <a:ext cx="4206240" cy="229819"/>
          </a:xfrm>
          <a:prstGeom prst="rect">
            <a:avLst/>
          </a:prstGeom>
          <a:noFill/>
        </p:spPr>
        <p:txBody>
          <a:bodyPr wrap="square" lIns="0" rIns="0" tIns="0" bIns="0" anchor="t">
            <a:spAutoFit/>
          </a:bodyPr>
          <a:lstStyle/>
          <a:p>
            <a:pPr algn="l">
              <a:lnSpc>
                <a:spcPct val="118000"/>
              </a:lnSpc>
            </a:pPr>
            <a:r>
              <a:rPr sz="1100" b="1" i="0">
                <a:solidFill>
                  <a:srgbClr val="F5B544"/>
                </a:solidFill>
                <a:latin typeface="Inter" pitchFamily="34" charset="0"/>
                <a:cs typeface="Inter" pitchFamily="34" charset="0"/>
              </a:rPr>
              <a:t>UTILISATEURS SECONDAIRES</a:t>
            </a:r>
          </a:p>
        </p:txBody>
      </p:sp>
      <p:sp>
        <p:nvSpPr>
          <p:cNvPr id="25" name="TextBox 24"/>
          <p:cNvSpPr txBox="1"/>
          <p:nvPr/>
        </p:nvSpPr>
        <p:spPr>
          <a:xfrm>
            <a:off x="6400800" y="3054096"/>
            <a:ext cx="4785055" cy="566928"/>
          </a:xfrm>
          <a:prstGeom prst="rect">
            <a:avLst/>
          </a:prstGeom>
          <a:noFill/>
        </p:spPr>
        <p:txBody>
          <a:bodyPr wrap="square" lIns="0" rIns="0" tIns="0" bIns="0" anchor="t">
            <a:spAutoFit/>
          </a:bodyPr>
          <a:lstStyle/>
          <a:p>
            <a:pPr algn="l">
              <a:lnSpc>
                <a:spcPct val="135000"/>
              </a:lnSpc>
            </a:pPr>
            <a:r>
              <a:rPr sz="1300" b="0" i="0">
                <a:solidFill>
                  <a:srgbClr val="93A79D"/>
                </a:solidFill>
                <a:latin typeface="Inter" pitchFamily="34" charset="0"/>
                <a:cs typeface="Inter" pitchFamily="34" charset="0"/>
              </a:rPr>
              <a:t>Le comité communal de transhumance (web)</a:t>
            </a:r>
          </a:p>
          <a:p>
            <a:pPr algn="l">
              <a:lnSpc>
                <a:spcPct val="135000"/>
              </a:lnSpc>
            </a:pPr>
            <a:r>
              <a:rPr sz="1300" b="0" i="0">
                <a:solidFill>
                  <a:srgbClr val="93A79D"/>
                </a:solidFill>
                <a:latin typeface="Inter" pitchFamily="34" charset="0"/>
                <a:cs typeface="Inter" pitchFamily="34" charset="0"/>
              </a:rPr>
              <a:t>Les représentants d'éleveurs (message vocal)</a:t>
            </a:r>
          </a:p>
        </p:txBody>
      </p:sp>
      <p:sp>
        <p:nvSpPr>
          <p:cNvPr id="26" name="Rounded Rectangle 25"/>
          <p:cNvSpPr/>
          <p:nvPr/>
        </p:nvSpPr>
        <p:spPr>
          <a:xfrm>
            <a:off x="6108192" y="4187952"/>
            <a:ext cx="5370271" cy="1609344"/>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462272"/>
            <a:ext cx="4206240" cy="229819"/>
          </a:xfrm>
          <a:prstGeom prst="rect">
            <a:avLst/>
          </a:prstGeom>
          <a:noFill/>
        </p:spPr>
        <p:txBody>
          <a:bodyPr wrap="square" lIns="0" rIns="0" tIns="0" bIns="0" anchor="t">
            <a:spAutoFit/>
          </a:bodyPr>
          <a:lstStyle/>
          <a:p>
            <a:pPr algn="l">
              <a:lnSpc>
                <a:spcPct val="118000"/>
              </a:lnSpc>
            </a:pPr>
            <a:r>
              <a:rPr sz="1100" b="1" i="0">
                <a:solidFill>
                  <a:srgbClr val="D9B48F"/>
                </a:solidFill>
                <a:latin typeface="Inter" pitchFamily="34" charset="0"/>
                <a:cs typeface="Inter" pitchFamily="34" charset="0"/>
              </a:rPr>
              <a:t>COUVERTURE ET DÉMONSTRATION</a:t>
            </a:r>
          </a:p>
        </p:txBody>
      </p:sp>
      <p:sp>
        <p:nvSpPr>
          <p:cNvPr id="28" name="TextBox 27"/>
          <p:cNvSpPr txBox="1"/>
          <p:nvPr/>
        </p:nvSpPr>
        <p:spPr>
          <a:xfrm>
            <a:off x="6400800" y="4846320"/>
            <a:ext cx="4785055" cy="566928"/>
          </a:xfrm>
          <a:prstGeom prst="rect">
            <a:avLst/>
          </a:prstGeom>
          <a:noFill/>
        </p:spPr>
        <p:txBody>
          <a:bodyPr wrap="square" lIns="0" rIns="0" tIns="0" bIns="0" anchor="t">
            <a:spAutoFit/>
          </a:bodyPr>
          <a:lstStyle/>
          <a:p>
            <a:pPr algn="l">
              <a:lnSpc>
                <a:spcPct val="135000"/>
              </a:lnSpc>
            </a:pPr>
            <a:r>
              <a:rPr sz="1300" b="0" i="0">
                <a:solidFill>
                  <a:srgbClr val="93A79D"/>
                </a:solidFill>
                <a:latin typeface="Inter" pitchFamily="34" charset="0"/>
                <a:cs typeface="Inter" pitchFamily="34" charset="0"/>
              </a:rPr>
              <a:t>5 départements · 33 communes · 1 585 km</a:t>
            </a:r>
          </a:p>
          <a:p>
            <a:pPr algn="l">
              <a:lnSpc>
                <a:spcPct val="135000"/>
              </a:lnSpc>
            </a:pPr>
            <a:r>
              <a:rPr sz="1300" b="0" i="0">
                <a:solidFill>
                  <a:srgbClr val="93A79D"/>
                </a:solidFill>
                <a:latin typeface="Inter" pitchFamily="34" charset="0"/>
                <a:cs typeface="Inter" pitchFamily="34" charset="0"/>
              </a:rPr>
              <a:t>Banikoara, commune de référence détaillée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05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LA SOLUTION</a:t>
            </a:r>
          </a:p>
        </p:txBody>
      </p:sp>
      <p:sp>
        <p:nvSpPr>
          <p:cNvPr id="8" name="TextBox 7"/>
          <p:cNvSpPr txBox="1"/>
          <p:nvPr/>
        </p:nvSpPr>
        <p:spPr>
          <a:xfrm>
            <a:off x="713232" y="932688"/>
            <a:ext cx="10789920" cy="1021994"/>
          </a:xfrm>
          <a:prstGeom prst="rect">
            <a:avLst/>
          </a:prstGeom>
          <a:noFill/>
        </p:spPr>
        <p:txBody>
          <a:bodyPr wrap="square" lIns="0" rIns="0" tIns="0" bIns="0" anchor="t">
            <a:spAutoFit/>
          </a:bodyPr>
          <a:lstStyle/>
          <a:p>
            <a:pPr algn="l">
              <a:lnSpc>
                <a:spcPct val="116000"/>
              </a:lnSpc>
            </a:pPr>
            <a:r>
              <a:rPr sz="2800" b="1" i="0">
                <a:solidFill>
                  <a:srgbClr val="E9F2ED"/>
                </a:solidFill>
                <a:latin typeface="Space Grotesk" pitchFamily="34" charset="0"/>
                <a:cs typeface="Space Grotesk" pitchFamily="34" charset="0"/>
              </a:rPr>
              <a:t>Transformer une carte statique</a:t>
            </a:r>
          </a:p>
          <a:p>
            <a:pPr algn="l">
              <a:lnSpc>
                <a:spcPct val="116000"/>
              </a:lnSpc>
            </a:pPr>
            <a:r>
              <a:rPr sz="2800" b="1" i="0">
                <a:solidFill>
                  <a:srgbClr val="E9F2ED"/>
                </a:solidFill>
                <a:latin typeface="Space Grotesk" pitchFamily="34" charset="0"/>
                <a:cs typeface="Space Grotesk" pitchFamily="34" charset="0"/>
              </a:rPr>
              <a:t>en système de veille actualisé avant chaque saison.</a:t>
            </a:r>
          </a:p>
        </p:txBody>
      </p:sp>
      <p:sp>
        <p:nvSpPr>
          <p:cNvPr id="9" name="Rounded Rectangle 8"/>
          <p:cNvSpPr/>
          <p:nvPr/>
        </p:nvSpPr>
        <p:spPr>
          <a:xfrm>
            <a:off x="713232" y="2606040"/>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2606040"/>
            <a:ext cx="32004" cy="8412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88920"/>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Sentinel-2</a:t>
            </a:r>
          </a:p>
        </p:txBody>
      </p:sp>
      <p:sp>
        <p:nvSpPr>
          <p:cNvPr id="12" name="TextBox 11"/>
          <p:cNvSpPr txBox="1"/>
          <p:nvPr/>
        </p:nvSpPr>
        <p:spPr>
          <a:xfrm>
            <a:off x="914400" y="3090672"/>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images 10 m</a:t>
            </a:r>
          </a:p>
        </p:txBody>
      </p:sp>
      <p:sp>
        <p:nvSpPr>
          <p:cNvPr id="13" name="Right Arrow 12"/>
          <p:cNvSpPr/>
          <p:nvPr/>
        </p:nvSpPr>
        <p:spPr>
          <a:xfrm>
            <a:off x="3191256" y="2976372"/>
            <a:ext cx="219456" cy="100584"/>
          </a:xfrm>
          <a:prstGeom prst="right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93008" y="2606040"/>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2606040"/>
            <a:ext cx="32004" cy="8412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6" y="2788920"/>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Classification</a:t>
            </a:r>
          </a:p>
        </p:txBody>
      </p:sp>
      <p:sp>
        <p:nvSpPr>
          <p:cNvPr id="17" name="TextBox 16"/>
          <p:cNvSpPr txBox="1"/>
          <p:nvPr/>
        </p:nvSpPr>
        <p:spPr>
          <a:xfrm>
            <a:off x="3694176" y="3090672"/>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zones en culture</a:t>
            </a:r>
          </a:p>
        </p:txBody>
      </p:sp>
      <p:sp>
        <p:nvSpPr>
          <p:cNvPr id="18" name="Right Arrow 17"/>
          <p:cNvSpPr/>
          <p:nvPr/>
        </p:nvSpPr>
        <p:spPr>
          <a:xfrm>
            <a:off x="5971032" y="2976372"/>
            <a:ext cx="219456" cy="100584"/>
          </a:xfrm>
          <a:prstGeom prst="right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2784" y="2606040"/>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2606040"/>
            <a:ext cx="32004" cy="841248"/>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2788920"/>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Croisement</a:t>
            </a:r>
          </a:p>
        </p:txBody>
      </p:sp>
      <p:sp>
        <p:nvSpPr>
          <p:cNvPr id="22" name="TextBox 21"/>
          <p:cNvSpPr txBox="1"/>
          <p:nvPr/>
        </p:nvSpPr>
        <p:spPr>
          <a:xfrm>
            <a:off x="6473952" y="3090672"/>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emprise du couloir</a:t>
            </a:r>
          </a:p>
        </p:txBody>
      </p:sp>
      <p:sp>
        <p:nvSpPr>
          <p:cNvPr id="23" name="Right Arrow 22"/>
          <p:cNvSpPr/>
          <p:nvPr/>
        </p:nvSpPr>
        <p:spPr>
          <a:xfrm>
            <a:off x="8750808" y="2976372"/>
            <a:ext cx="219456" cy="100584"/>
          </a:xfrm>
          <a:prstGeom prst="rightArrow">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52560" y="2606040"/>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2606040"/>
            <a:ext cx="32004" cy="841248"/>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3728" y="2788920"/>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Carte de friction</a:t>
            </a:r>
          </a:p>
        </p:txBody>
      </p:sp>
      <p:sp>
        <p:nvSpPr>
          <p:cNvPr id="27" name="TextBox 26"/>
          <p:cNvSpPr txBox="1"/>
          <p:nvPr/>
        </p:nvSpPr>
        <p:spPr>
          <a:xfrm>
            <a:off x="9253728" y="3090672"/>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gravité + confiance</a:t>
            </a:r>
          </a:p>
        </p:txBody>
      </p:sp>
      <p:sp>
        <p:nvSpPr>
          <p:cNvPr id="28" name="Rectangle 27"/>
          <p:cNvSpPr/>
          <p:nvPr/>
        </p:nvSpPr>
        <p:spPr>
          <a:xfrm>
            <a:off x="10232136" y="3575304"/>
            <a:ext cx="41148" cy="201168"/>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11095" y="3721608"/>
            <a:ext cx="8339328" cy="18288"/>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29"/>
          <p:cNvSpPr/>
          <p:nvPr/>
        </p:nvSpPr>
        <p:spPr>
          <a:xfrm>
            <a:off x="1828799" y="3721608"/>
            <a:ext cx="164592" cy="384048"/>
          </a:xfrm>
          <a:prstGeom prst="downArrow">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13232" y="4224528"/>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224528"/>
            <a:ext cx="32004" cy="841248"/>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407408"/>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Vérification terrain</a:t>
            </a:r>
          </a:p>
        </p:txBody>
      </p:sp>
      <p:sp>
        <p:nvSpPr>
          <p:cNvPr id="34" name="TextBox 33"/>
          <p:cNvSpPr txBox="1"/>
          <p:nvPr/>
        </p:nvSpPr>
        <p:spPr>
          <a:xfrm>
            <a:off x="914400" y="4709160"/>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hors ligne</a:t>
            </a:r>
          </a:p>
        </p:txBody>
      </p:sp>
      <p:sp>
        <p:nvSpPr>
          <p:cNvPr id="35" name="Right Arrow 34"/>
          <p:cNvSpPr/>
          <p:nvPr/>
        </p:nvSpPr>
        <p:spPr>
          <a:xfrm>
            <a:off x="3191256" y="4594860"/>
            <a:ext cx="219456" cy="100584"/>
          </a:xfrm>
          <a:prstGeom prst="rightArrow">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493008" y="4224528"/>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93008" y="4224528"/>
            <a:ext cx="32004" cy="841248"/>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94176" y="4407408"/>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Arbitrage du comité</a:t>
            </a:r>
          </a:p>
        </p:txBody>
      </p:sp>
      <p:sp>
        <p:nvSpPr>
          <p:cNvPr id="39" name="TextBox 38"/>
          <p:cNvSpPr txBox="1"/>
          <p:nvPr/>
        </p:nvSpPr>
        <p:spPr>
          <a:xfrm>
            <a:off x="3694176" y="4709160"/>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maintien / ajustement</a:t>
            </a:r>
          </a:p>
        </p:txBody>
      </p:sp>
      <p:sp>
        <p:nvSpPr>
          <p:cNvPr id="40" name="Right Arrow 39"/>
          <p:cNvSpPr/>
          <p:nvPr/>
        </p:nvSpPr>
        <p:spPr>
          <a:xfrm>
            <a:off x="5971032" y="4594860"/>
            <a:ext cx="219456" cy="100584"/>
          </a:xfrm>
          <a:prstGeom prst="rightArrow">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272784" y="4224528"/>
            <a:ext cx="2395728" cy="84124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72784" y="4224528"/>
            <a:ext cx="32004" cy="8412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73952" y="4407408"/>
            <a:ext cx="2011680" cy="265785"/>
          </a:xfrm>
          <a:prstGeom prst="rect">
            <a:avLst/>
          </a:prstGeom>
          <a:noFill/>
        </p:spPr>
        <p:txBody>
          <a:bodyPr wrap="square" lIns="0" rIns="0" tIns="0" bIns="0" anchor="t">
            <a:spAutoFit/>
          </a:bodyPr>
          <a:lstStyle/>
          <a:p>
            <a:pPr algn="l">
              <a:lnSpc>
                <a:spcPct val="118000"/>
              </a:lnSpc>
            </a:pPr>
            <a:r>
              <a:rPr sz="1300" b="1" i="0">
                <a:solidFill>
                  <a:srgbClr val="E9F2ED"/>
                </a:solidFill>
                <a:latin typeface="Space Grotesk" pitchFamily="34" charset="0"/>
                <a:cs typeface="Space Grotesk" pitchFamily="34" charset="0"/>
              </a:rPr>
              <a:t>Diffusion vocale</a:t>
            </a:r>
          </a:p>
        </p:txBody>
      </p:sp>
      <p:sp>
        <p:nvSpPr>
          <p:cNvPr id="44" name="TextBox 43"/>
          <p:cNvSpPr txBox="1"/>
          <p:nvPr/>
        </p:nvSpPr>
        <p:spPr>
          <a:xfrm>
            <a:off x="6473952" y="4709160"/>
            <a:ext cx="2011680" cy="220827"/>
          </a:xfrm>
          <a:prstGeom prst="rect">
            <a:avLst/>
          </a:prstGeom>
          <a:noFill/>
        </p:spPr>
        <p:txBody>
          <a:bodyPr wrap="square" lIns="0" rIns="0" tIns="0" bIns="0" anchor="t">
            <a:spAutoFit/>
          </a:bodyPr>
          <a:lstStyle/>
          <a:p>
            <a:pPr algn="l">
              <a:lnSpc>
                <a:spcPct val="118000"/>
              </a:lnSpc>
            </a:pPr>
            <a:r>
              <a:rPr sz="1050" b="0" i="0">
                <a:solidFill>
                  <a:srgbClr val="93A79D"/>
                </a:solidFill>
                <a:latin typeface="Inter" pitchFamily="34" charset="0"/>
                <a:cs typeface="Inter" pitchFamily="34" charset="0"/>
              </a:rPr>
              <a:t>en fulfulde</a:t>
            </a:r>
          </a:p>
        </p:txBody>
      </p:sp>
      <p:sp>
        <p:nvSpPr>
          <p:cNvPr id="45" name="TextBox 44"/>
          <p:cNvSpPr txBox="1"/>
          <p:nvPr/>
        </p:nvSpPr>
        <p:spPr>
          <a:xfrm>
            <a:off x="713232" y="5394960"/>
            <a:ext cx="1078992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Inter" pitchFamily="34" charset="0"/>
                <a:cs typeface="Inter" pitchFamily="34" charset="0"/>
              </a:rPr>
              <a:t>Machine en amont · décision humaine au centre · restitution dans la langue des éleveurs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06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LE LIVRABLE</a:t>
            </a:r>
          </a:p>
        </p:txBody>
      </p:sp>
      <p:sp>
        <p:nvSpPr>
          <p:cNvPr id="8" name="TextBox 7"/>
          <p:cNvSpPr txBox="1"/>
          <p:nvPr/>
        </p:nvSpPr>
        <p:spPr>
          <a:xfrm>
            <a:off x="713232" y="932688"/>
            <a:ext cx="10765231" cy="548944"/>
          </a:xfrm>
          <a:prstGeom prst="rect">
            <a:avLst/>
          </a:prstGeom>
          <a:noFill/>
        </p:spPr>
        <p:txBody>
          <a:bodyPr wrap="square" lIns="0" rIns="0" tIns="0" bIns="0" anchor="t">
            <a:spAutoFit/>
          </a:bodyPr>
          <a:lstStyle/>
          <a:p>
            <a:pPr algn="l">
              <a:lnSpc>
                <a:spcPct val="106000"/>
              </a:lnSpc>
            </a:pPr>
            <a:r>
              <a:rPr sz="3200" b="1" i="0">
                <a:solidFill>
                  <a:srgbClr val="E9F2ED"/>
                </a:solidFill>
                <a:latin typeface="Space Grotesk" pitchFamily="34" charset="0"/>
                <a:cs typeface="Space Grotesk" pitchFamily="34" charset="0"/>
              </a:rPr>
              <a:t>La carte de friction</a:t>
            </a:r>
          </a:p>
        </p:txBody>
      </p:sp>
      <p:sp>
        <p:nvSpPr>
          <p:cNvPr id="9" name="TextBox 8"/>
          <p:cNvSpPr txBox="1"/>
          <p:nvPr/>
        </p:nvSpPr>
        <p:spPr>
          <a:xfrm>
            <a:off x="713232" y="1646224"/>
            <a:ext cx="10216591" cy="578205"/>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Ce que le comité reçoit avant la saison : les portions devenues cultivées, classées par gravité, avec leur niveau de confiance. 157 zones sur 33 communes, dont 84 en attente de vérification.</a:t>
            </a:r>
          </a:p>
        </p:txBody>
      </p:sp>
      <p:sp>
        <p:nvSpPr>
          <p:cNvPr id="10" name="TextBox 9"/>
          <p:cNvSpPr txBox="1"/>
          <p:nvPr/>
        </p:nvSpPr>
        <p:spPr>
          <a:xfrm>
            <a:off x="987552" y="2999232"/>
            <a:ext cx="2834640" cy="211836"/>
          </a:xfrm>
          <a:prstGeom prst="rect">
            <a:avLst/>
          </a:prstGeom>
          <a:noFill/>
        </p:spPr>
        <p:txBody>
          <a:bodyPr wrap="square" lIns="0" rIns="0" tIns="0" bIns="0" anchor="t">
            <a:spAutoFit/>
          </a:bodyPr>
          <a:lstStyle/>
          <a:p>
            <a:pPr algn="l">
              <a:lnSpc>
                <a:spcPct val="118000"/>
              </a:lnSpc>
            </a:pPr>
            <a:r>
              <a:rPr sz="1000" b="1" i="0">
                <a:solidFill>
                  <a:srgbClr val="93A79D"/>
                </a:solidFill>
                <a:latin typeface="Inter" pitchFamily="34" charset="0"/>
                <a:cs typeface="Inter" pitchFamily="34" charset="0"/>
              </a:rPr>
              <a:t>SEGMENT</a:t>
            </a:r>
          </a:p>
        </p:txBody>
      </p:sp>
      <p:sp>
        <p:nvSpPr>
          <p:cNvPr id="11" name="TextBox 10"/>
          <p:cNvSpPr txBox="1"/>
          <p:nvPr/>
        </p:nvSpPr>
        <p:spPr>
          <a:xfrm>
            <a:off x="3959352" y="2999232"/>
            <a:ext cx="1371600" cy="211836"/>
          </a:xfrm>
          <a:prstGeom prst="rect">
            <a:avLst/>
          </a:prstGeom>
          <a:noFill/>
        </p:spPr>
        <p:txBody>
          <a:bodyPr wrap="square" lIns="0" rIns="0" tIns="0" bIns="0" anchor="t">
            <a:spAutoFit/>
          </a:bodyPr>
          <a:lstStyle/>
          <a:p>
            <a:pPr algn="l">
              <a:lnSpc>
                <a:spcPct val="118000"/>
              </a:lnSpc>
            </a:pPr>
            <a:r>
              <a:rPr sz="1000" b="1" i="0">
                <a:solidFill>
                  <a:srgbClr val="93A79D"/>
                </a:solidFill>
                <a:latin typeface="Inter" pitchFamily="34" charset="0"/>
                <a:cs typeface="Inter" pitchFamily="34" charset="0"/>
              </a:rPr>
              <a:t>SURFACE</a:t>
            </a:r>
          </a:p>
        </p:txBody>
      </p:sp>
      <p:sp>
        <p:nvSpPr>
          <p:cNvPr id="12" name="TextBox 11"/>
          <p:cNvSpPr txBox="1"/>
          <p:nvPr/>
        </p:nvSpPr>
        <p:spPr>
          <a:xfrm>
            <a:off x="5605272" y="2999232"/>
            <a:ext cx="2377440" cy="211836"/>
          </a:xfrm>
          <a:prstGeom prst="rect">
            <a:avLst/>
          </a:prstGeom>
          <a:noFill/>
        </p:spPr>
        <p:txBody>
          <a:bodyPr wrap="square" lIns="0" rIns="0" tIns="0" bIns="0" anchor="t">
            <a:spAutoFit/>
          </a:bodyPr>
          <a:lstStyle/>
          <a:p>
            <a:pPr algn="l">
              <a:lnSpc>
                <a:spcPct val="118000"/>
              </a:lnSpc>
            </a:pPr>
            <a:r>
              <a:rPr sz="1000" b="1" i="0">
                <a:solidFill>
                  <a:srgbClr val="93A79D"/>
                </a:solidFill>
                <a:latin typeface="Inter" pitchFamily="34" charset="0"/>
                <a:cs typeface="Inter" pitchFamily="34" charset="0"/>
              </a:rPr>
              <a:t>GRAVITÉ</a:t>
            </a:r>
          </a:p>
        </p:txBody>
      </p:sp>
      <p:sp>
        <p:nvSpPr>
          <p:cNvPr id="13" name="TextBox 12"/>
          <p:cNvSpPr txBox="1"/>
          <p:nvPr/>
        </p:nvSpPr>
        <p:spPr>
          <a:xfrm>
            <a:off x="8211311" y="2999232"/>
            <a:ext cx="1463040" cy="211836"/>
          </a:xfrm>
          <a:prstGeom prst="rect">
            <a:avLst/>
          </a:prstGeom>
          <a:noFill/>
        </p:spPr>
        <p:txBody>
          <a:bodyPr wrap="square" lIns="0" rIns="0" tIns="0" bIns="0" anchor="t">
            <a:spAutoFit/>
          </a:bodyPr>
          <a:lstStyle/>
          <a:p>
            <a:pPr algn="l">
              <a:lnSpc>
                <a:spcPct val="118000"/>
              </a:lnSpc>
            </a:pPr>
            <a:r>
              <a:rPr sz="1000" b="1" i="0">
                <a:solidFill>
                  <a:srgbClr val="93A79D"/>
                </a:solidFill>
                <a:latin typeface="Inter" pitchFamily="34" charset="0"/>
                <a:cs typeface="Inter" pitchFamily="34" charset="0"/>
              </a:rPr>
              <a:t>CONFIANCE</a:t>
            </a:r>
          </a:p>
        </p:txBody>
      </p:sp>
      <p:sp>
        <p:nvSpPr>
          <p:cNvPr id="14" name="TextBox 13"/>
          <p:cNvSpPr txBox="1"/>
          <p:nvPr/>
        </p:nvSpPr>
        <p:spPr>
          <a:xfrm>
            <a:off x="9902952" y="2999232"/>
            <a:ext cx="1463040" cy="211836"/>
          </a:xfrm>
          <a:prstGeom prst="rect">
            <a:avLst/>
          </a:prstGeom>
          <a:noFill/>
        </p:spPr>
        <p:txBody>
          <a:bodyPr wrap="square" lIns="0" rIns="0" tIns="0" bIns="0" anchor="t">
            <a:spAutoFit/>
          </a:bodyPr>
          <a:lstStyle/>
          <a:p>
            <a:pPr algn="l">
              <a:lnSpc>
                <a:spcPct val="118000"/>
              </a:lnSpc>
            </a:pPr>
            <a:r>
              <a:rPr sz="1000" b="1" i="0">
                <a:solidFill>
                  <a:srgbClr val="93A79D"/>
                </a:solidFill>
                <a:latin typeface="Inter" pitchFamily="34" charset="0"/>
                <a:cs typeface="Inter" pitchFamily="34" charset="0"/>
              </a:rPr>
              <a:t>STATUT</a:t>
            </a:r>
          </a:p>
        </p:txBody>
      </p:sp>
      <p:sp>
        <p:nvSpPr>
          <p:cNvPr id="15" name="Rectangle 14"/>
          <p:cNvSpPr/>
          <p:nvPr/>
        </p:nvSpPr>
        <p:spPr>
          <a:xfrm>
            <a:off x="713232" y="3310127"/>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3232" y="3474720"/>
            <a:ext cx="10765231" cy="548640"/>
          </a:xfrm>
          <a:prstGeom prst="roundRect">
            <a:avLst>
              <a:gd name="adj" fmla="val 14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474720"/>
            <a:ext cx="32004" cy="548640"/>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3648456"/>
            <a:ext cx="283464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Couloir central · segment 04</a:t>
            </a:r>
          </a:p>
        </p:txBody>
      </p:sp>
      <p:sp>
        <p:nvSpPr>
          <p:cNvPr id="19" name="TextBox 18"/>
          <p:cNvSpPr txBox="1"/>
          <p:nvPr/>
        </p:nvSpPr>
        <p:spPr>
          <a:xfrm>
            <a:off x="3959352" y="3648456"/>
            <a:ext cx="137160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18,4 ha</a:t>
            </a:r>
          </a:p>
        </p:txBody>
      </p:sp>
      <p:sp>
        <p:nvSpPr>
          <p:cNvPr id="20" name="Oval 19"/>
          <p:cNvSpPr/>
          <p:nvPr/>
        </p:nvSpPr>
        <p:spPr>
          <a:xfrm>
            <a:off x="5605272" y="3689604"/>
            <a:ext cx="118872" cy="118872"/>
          </a:xfrm>
          <a:prstGeom prst="ellipse">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15584" y="3648456"/>
            <a:ext cx="2194560" cy="256794"/>
          </a:xfrm>
          <a:prstGeom prst="rect">
            <a:avLst/>
          </a:prstGeom>
          <a:noFill/>
        </p:spPr>
        <p:txBody>
          <a:bodyPr wrap="square" lIns="0" rIns="0" tIns="0" bIns="0" anchor="t">
            <a:spAutoFit/>
          </a:bodyPr>
          <a:lstStyle/>
          <a:p>
            <a:pPr algn="l">
              <a:lnSpc>
                <a:spcPct val="118000"/>
              </a:lnSpc>
            </a:pPr>
            <a:r>
              <a:rPr sz="1250" b="1" i="0">
                <a:solidFill>
                  <a:srgbClr val="F0665F"/>
                </a:solidFill>
                <a:latin typeface="Inter" pitchFamily="34" charset="0"/>
                <a:cs typeface="Inter" pitchFamily="34" charset="0"/>
              </a:rPr>
              <a:t>Grave</a:t>
            </a:r>
          </a:p>
        </p:txBody>
      </p:sp>
      <p:sp>
        <p:nvSpPr>
          <p:cNvPr id="22" name="TextBox 21"/>
          <p:cNvSpPr txBox="1"/>
          <p:nvPr/>
        </p:nvSpPr>
        <p:spPr>
          <a:xfrm>
            <a:off x="8211311" y="3648456"/>
            <a:ext cx="146304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0.88</a:t>
            </a:r>
          </a:p>
        </p:txBody>
      </p:sp>
      <p:sp>
        <p:nvSpPr>
          <p:cNvPr id="23" name="TextBox 22"/>
          <p:cNvSpPr txBox="1"/>
          <p:nvPr/>
        </p:nvSpPr>
        <p:spPr>
          <a:xfrm>
            <a:off x="9902952" y="3648456"/>
            <a:ext cx="1554480" cy="256794"/>
          </a:xfrm>
          <a:prstGeom prst="rect">
            <a:avLst/>
          </a:prstGeom>
          <a:noFill/>
        </p:spPr>
        <p:txBody>
          <a:bodyPr wrap="square" lIns="0" rIns="0" tIns="0" bIns="0" anchor="t">
            <a:spAutoFit/>
          </a:bodyPr>
          <a:lstStyle/>
          <a:p>
            <a:pPr algn="l">
              <a:lnSpc>
                <a:spcPct val="118000"/>
              </a:lnSpc>
            </a:pPr>
            <a:r>
              <a:rPr sz="1250" b="0" i="0">
                <a:solidFill>
                  <a:srgbClr val="F5B544"/>
                </a:solidFill>
                <a:latin typeface="Inter" pitchFamily="34" charset="0"/>
                <a:cs typeface="Inter" pitchFamily="34" charset="0"/>
              </a:rPr>
              <a:t>à vérifier</a:t>
            </a:r>
          </a:p>
        </p:txBody>
      </p:sp>
      <p:sp>
        <p:nvSpPr>
          <p:cNvPr id="24" name="Rounded Rectangle 23"/>
          <p:cNvSpPr/>
          <p:nvPr/>
        </p:nvSpPr>
        <p:spPr>
          <a:xfrm>
            <a:off x="713232" y="4133087"/>
            <a:ext cx="10765231" cy="548640"/>
          </a:xfrm>
          <a:prstGeom prst="roundRect">
            <a:avLst>
              <a:gd name="adj" fmla="val 14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4133087"/>
            <a:ext cx="32004" cy="54864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4306824"/>
            <a:ext cx="283464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Couloir central · segment 07</a:t>
            </a:r>
          </a:p>
        </p:txBody>
      </p:sp>
      <p:sp>
        <p:nvSpPr>
          <p:cNvPr id="27" name="TextBox 26"/>
          <p:cNvSpPr txBox="1"/>
          <p:nvPr/>
        </p:nvSpPr>
        <p:spPr>
          <a:xfrm>
            <a:off x="3959352" y="4306824"/>
            <a:ext cx="137160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6,1 ha</a:t>
            </a:r>
          </a:p>
        </p:txBody>
      </p:sp>
      <p:sp>
        <p:nvSpPr>
          <p:cNvPr id="28" name="Oval 27"/>
          <p:cNvSpPr/>
          <p:nvPr/>
        </p:nvSpPr>
        <p:spPr>
          <a:xfrm>
            <a:off x="5605272" y="4347972"/>
            <a:ext cx="118872" cy="118872"/>
          </a:xfrm>
          <a:prstGeom prst="ellipse">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15584" y="4306824"/>
            <a:ext cx="2194560" cy="256794"/>
          </a:xfrm>
          <a:prstGeom prst="rect">
            <a:avLst/>
          </a:prstGeom>
          <a:noFill/>
        </p:spPr>
        <p:txBody>
          <a:bodyPr wrap="square" lIns="0" rIns="0" tIns="0" bIns="0" anchor="t">
            <a:spAutoFit/>
          </a:bodyPr>
          <a:lstStyle/>
          <a:p>
            <a:pPr algn="l">
              <a:lnSpc>
                <a:spcPct val="118000"/>
              </a:lnSpc>
            </a:pPr>
            <a:r>
              <a:rPr sz="1250" b="1" i="0">
                <a:solidFill>
                  <a:srgbClr val="F5B544"/>
                </a:solidFill>
                <a:latin typeface="Inter" pitchFamily="34" charset="0"/>
                <a:cs typeface="Inter" pitchFamily="34" charset="0"/>
              </a:rPr>
              <a:t>Moyenne</a:t>
            </a:r>
          </a:p>
        </p:txBody>
      </p:sp>
      <p:sp>
        <p:nvSpPr>
          <p:cNvPr id="30" name="TextBox 29"/>
          <p:cNvSpPr txBox="1"/>
          <p:nvPr/>
        </p:nvSpPr>
        <p:spPr>
          <a:xfrm>
            <a:off x="8211311" y="4306824"/>
            <a:ext cx="146304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0.71</a:t>
            </a:r>
          </a:p>
        </p:txBody>
      </p:sp>
      <p:sp>
        <p:nvSpPr>
          <p:cNvPr id="31" name="TextBox 30"/>
          <p:cNvSpPr txBox="1"/>
          <p:nvPr/>
        </p:nvSpPr>
        <p:spPr>
          <a:xfrm>
            <a:off x="9902952" y="4306824"/>
            <a:ext cx="1554480" cy="256794"/>
          </a:xfrm>
          <a:prstGeom prst="rect">
            <a:avLst/>
          </a:prstGeom>
          <a:noFill/>
        </p:spPr>
        <p:txBody>
          <a:bodyPr wrap="square" lIns="0" rIns="0" tIns="0" bIns="0" anchor="t">
            <a:spAutoFit/>
          </a:bodyPr>
          <a:lstStyle/>
          <a:p>
            <a:pPr algn="l">
              <a:lnSpc>
                <a:spcPct val="118000"/>
              </a:lnSpc>
            </a:pPr>
            <a:r>
              <a:rPr sz="1250" b="0" i="0">
                <a:solidFill>
                  <a:srgbClr val="34D399"/>
                </a:solidFill>
                <a:latin typeface="Inter" pitchFamily="34" charset="0"/>
                <a:cs typeface="Inter" pitchFamily="34" charset="0"/>
              </a:rPr>
              <a:t>confirmé</a:t>
            </a:r>
          </a:p>
        </p:txBody>
      </p:sp>
      <p:sp>
        <p:nvSpPr>
          <p:cNvPr id="32" name="Rounded Rectangle 31"/>
          <p:cNvSpPr/>
          <p:nvPr/>
        </p:nvSpPr>
        <p:spPr>
          <a:xfrm>
            <a:off x="713232" y="4791456"/>
            <a:ext cx="10765231" cy="548640"/>
          </a:xfrm>
          <a:prstGeom prst="roundRect">
            <a:avLst>
              <a:gd name="adj" fmla="val 14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3232" y="4791456"/>
            <a:ext cx="32004" cy="5486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4965192"/>
            <a:ext cx="283464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Dérivation ouest · segment 12</a:t>
            </a:r>
          </a:p>
        </p:txBody>
      </p:sp>
      <p:sp>
        <p:nvSpPr>
          <p:cNvPr id="35" name="TextBox 34"/>
          <p:cNvSpPr txBox="1"/>
          <p:nvPr/>
        </p:nvSpPr>
        <p:spPr>
          <a:xfrm>
            <a:off x="3959352" y="4965192"/>
            <a:ext cx="137160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2,3 ha</a:t>
            </a:r>
          </a:p>
        </p:txBody>
      </p:sp>
      <p:sp>
        <p:nvSpPr>
          <p:cNvPr id="36" name="Oval 35"/>
          <p:cNvSpPr/>
          <p:nvPr/>
        </p:nvSpPr>
        <p:spPr>
          <a:xfrm>
            <a:off x="5605272" y="5006340"/>
            <a:ext cx="118872" cy="118872"/>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15584" y="4965192"/>
            <a:ext cx="2194560" cy="256794"/>
          </a:xfrm>
          <a:prstGeom prst="rect">
            <a:avLst/>
          </a:prstGeom>
          <a:noFill/>
        </p:spPr>
        <p:txBody>
          <a:bodyPr wrap="square" lIns="0" rIns="0" tIns="0" bIns="0" anchor="t">
            <a:spAutoFit/>
          </a:bodyPr>
          <a:lstStyle/>
          <a:p>
            <a:pPr algn="l">
              <a:lnSpc>
                <a:spcPct val="118000"/>
              </a:lnSpc>
            </a:pPr>
            <a:r>
              <a:rPr sz="1250" b="1" i="0">
                <a:solidFill>
                  <a:srgbClr val="34D399"/>
                </a:solidFill>
                <a:latin typeface="Inter" pitchFamily="34" charset="0"/>
                <a:cs typeface="Inter" pitchFamily="34" charset="0"/>
              </a:rPr>
              <a:t>Faible</a:t>
            </a:r>
          </a:p>
        </p:txBody>
      </p:sp>
      <p:sp>
        <p:nvSpPr>
          <p:cNvPr id="38" name="TextBox 37"/>
          <p:cNvSpPr txBox="1"/>
          <p:nvPr/>
        </p:nvSpPr>
        <p:spPr>
          <a:xfrm>
            <a:off x="8211311" y="4965192"/>
            <a:ext cx="146304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JetBrains Mono" pitchFamily="34" charset="0"/>
                <a:cs typeface="JetBrains Mono" pitchFamily="34" charset="0"/>
              </a:rPr>
              <a:t>0.54</a:t>
            </a:r>
          </a:p>
        </p:txBody>
      </p:sp>
      <p:sp>
        <p:nvSpPr>
          <p:cNvPr id="39" name="TextBox 38"/>
          <p:cNvSpPr txBox="1"/>
          <p:nvPr/>
        </p:nvSpPr>
        <p:spPr>
          <a:xfrm>
            <a:off x="9902952" y="4965192"/>
            <a:ext cx="1554480" cy="256794"/>
          </a:xfrm>
          <a:prstGeom prst="rect">
            <a:avLst/>
          </a:prstGeom>
          <a:noFill/>
        </p:spPr>
        <p:txBody>
          <a:bodyPr wrap="square" lIns="0" rIns="0" tIns="0" bIns="0" anchor="t">
            <a:spAutoFit/>
          </a:bodyPr>
          <a:lstStyle/>
          <a:p>
            <a:pPr algn="l">
              <a:lnSpc>
                <a:spcPct val="118000"/>
              </a:lnSpc>
            </a:pPr>
            <a:r>
              <a:rPr sz="1250" b="0" i="0">
                <a:solidFill>
                  <a:srgbClr val="93A79D"/>
                </a:solidFill>
                <a:latin typeface="Inter" pitchFamily="34" charset="0"/>
                <a:cs typeface="Inter" pitchFamily="34" charset="0"/>
              </a:rPr>
              <a:t>incertain</a:t>
            </a:r>
          </a:p>
        </p:txBody>
      </p:sp>
      <p:sp>
        <p:nvSpPr>
          <p:cNvPr id="40" name="TextBox 39"/>
          <p:cNvSpPr txBox="1"/>
          <p:nvPr/>
        </p:nvSpPr>
        <p:spPr>
          <a:xfrm>
            <a:off x="713232" y="5577840"/>
            <a:ext cx="10789920" cy="247802"/>
          </a:xfrm>
          <a:prstGeom prst="rect">
            <a:avLst/>
          </a:prstGeom>
          <a:noFill/>
        </p:spPr>
        <p:txBody>
          <a:bodyPr wrap="square" lIns="0" rIns="0" tIns="0" bIns="0" anchor="t">
            <a:spAutoFit/>
          </a:bodyPr>
          <a:lstStyle/>
          <a:p>
            <a:pPr algn="l">
              <a:lnSpc>
                <a:spcPct val="118000"/>
              </a:lnSpc>
            </a:pPr>
            <a:r>
              <a:rPr sz="1200" b="0" i="1">
                <a:solidFill>
                  <a:srgbClr val="93A79D"/>
                </a:solidFill>
                <a:latin typeface="Inter" pitchFamily="34" charset="0"/>
                <a:cs typeface="Inter" pitchFamily="34" charset="0"/>
              </a:rPr>
              <a:t>Chaque ligne garde sa source, sa date de passage satellite et son statut de 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07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POURQUOI L'IA</a:t>
            </a:r>
          </a:p>
        </p:txBody>
      </p:sp>
      <p:sp>
        <p:nvSpPr>
          <p:cNvPr id="8" name="TextBox 7"/>
          <p:cNvSpPr txBox="1"/>
          <p:nvPr/>
        </p:nvSpPr>
        <p:spPr>
          <a:xfrm>
            <a:off x="713232" y="932688"/>
            <a:ext cx="10765231" cy="1001268"/>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L'IA n'est pas un ajout.</a:t>
            </a:r>
          </a:p>
          <a:p>
            <a:pPr algn="l">
              <a:lnSpc>
                <a:spcPct val="106000"/>
              </a:lnSpc>
            </a:pPr>
            <a:r>
              <a:rPr sz="3000" b="1" i="0">
                <a:solidFill>
                  <a:srgbClr val="E9F2ED"/>
                </a:solidFill>
                <a:latin typeface="Space Grotesk" pitchFamily="34" charset="0"/>
                <a:cs typeface="Space Grotesk" pitchFamily="34" charset="0"/>
              </a:rPr>
              <a:t>Elle est le mécanisme.</a:t>
            </a:r>
          </a:p>
        </p:txBody>
      </p:sp>
      <p:sp>
        <p:nvSpPr>
          <p:cNvPr id="9" name="TextBox 8"/>
          <p:cNvSpPr txBox="1"/>
          <p:nvPr/>
        </p:nvSpPr>
        <p:spPr>
          <a:xfrm>
            <a:off x="713232" y="2487168"/>
            <a:ext cx="10789920" cy="336803"/>
          </a:xfrm>
          <a:prstGeom prst="rect">
            <a:avLst/>
          </a:prstGeom>
          <a:noFill/>
        </p:spPr>
        <p:txBody>
          <a:bodyPr wrap="square" lIns="0" rIns="0" tIns="0" bIns="0" anchor="t">
            <a:spAutoFit/>
          </a:bodyPr>
          <a:lstStyle/>
          <a:p>
            <a:pPr algn="l">
              <a:lnSpc>
                <a:spcPct val="125000"/>
              </a:lnSpc>
            </a:pPr>
            <a:r>
              <a:rPr sz="1600" b="0" i="0">
                <a:solidFill>
                  <a:srgbClr val="D9B48F"/>
                </a:solidFill>
                <a:latin typeface="Inter" pitchFamily="34" charset="0"/>
                <a:cs typeface="Inter" pitchFamily="34" charset="0"/>
              </a:rPr>
              <a:t>Seule l'imagerie satellite peut rafraîchir la carte de 33 communes, chaque saison.</a:t>
            </a:r>
          </a:p>
        </p:txBody>
      </p:sp>
      <p:sp>
        <p:nvSpPr>
          <p:cNvPr id="10" name="Rounded Rectangle 9"/>
          <p:cNvSpPr/>
          <p:nvPr/>
        </p:nvSpPr>
        <p:spPr>
          <a:xfrm>
            <a:off x="713232" y="3246120"/>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3235147"/>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538727"/>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L'échelle</a:t>
            </a:r>
          </a:p>
        </p:txBody>
      </p:sp>
      <p:sp>
        <p:nvSpPr>
          <p:cNvPr id="13" name="TextBox 12"/>
          <p:cNvSpPr txBox="1"/>
          <p:nvPr/>
        </p:nvSpPr>
        <p:spPr>
          <a:xfrm>
            <a:off x="950976" y="3973068"/>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1 585 km de couloirs</a:t>
            </a:r>
          </a:p>
          <a:p>
            <a:pPr algn="l">
              <a:lnSpc>
                <a:spcPct val="130000"/>
              </a:lnSpc>
            </a:pPr>
            <a:r>
              <a:rPr sz="1250" b="0" i="0">
                <a:solidFill>
                  <a:srgbClr val="93A79D"/>
                </a:solidFill>
                <a:latin typeface="Inter" pitchFamily="34" charset="0"/>
                <a:cs typeface="Inter" pitchFamily="34" charset="0"/>
              </a:rPr>
              <a:t>sur 33 communes.</a:t>
            </a:r>
          </a:p>
          <a:p>
            <a:pPr algn="l">
              <a:lnSpc>
                <a:spcPct val="130000"/>
              </a:lnSpc>
            </a:pPr>
            <a:r>
              <a:rPr sz="1250" b="0" i="0">
                <a:solidFill>
                  <a:srgbClr val="93A79D"/>
                </a:solidFill>
                <a:latin typeface="Inter" pitchFamily="34" charset="0"/>
                <a:cs typeface="Inter" pitchFamily="34" charset="0"/>
              </a:rPr>
              <a:t>Aucune brigade ne</a:t>
            </a:r>
          </a:p>
          <a:p>
            <a:pPr algn="l">
              <a:lnSpc>
                <a:spcPct val="130000"/>
              </a:lnSpc>
            </a:pPr>
            <a:r>
              <a:rPr sz="1250" b="0" i="0">
                <a:solidFill>
                  <a:srgbClr val="93A79D"/>
                </a:solidFill>
                <a:latin typeface="Inter" pitchFamily="34" charset="0"/>
                <a:cs typeface="Inter" pitchFamily="34" charset="0"/>
              </a:rPr>
              <a:t>les arpente chaque année.</a:t>
            </a:r>
          </a:p>
        </p:txBody>
      </p:sp>
      <p:sp>
        <p:nvSpPr>
          <p:cNvPr id="14" name="Rounded Rectangle 13"/>
          <p:cNvSpPr/>
          <p:nvPr/>
        </p:nvSpPr>
        <p:spPr>
          <a:xfrm>
            <a:off x="4393082" y="3246120"/>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3082" y="3235147"/>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0826" y="3538727"/>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La cadence</a:t>
            </a:r>
          </a:p>
        </p:txBody>
      </p:sp>
      <p:sp>
        <p:nvSpPr>
          <p:cNvPr id="17" name="TextBox 16"/>
          <p:cNvSpPr txBox="1"/>
          <p:nvPr/>
        </p:nvSpPr>
        <p:spPr>
          <a:xfrm>
            <a:off x="4630826" y="3973068"/>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Sentinel-2 repasse</a:t>
            </a:r>
          </a:p>
          <a:p>
            <a:pPr algn="l">
              <a:lnSpc>
                <a:spcPct val="130000"/>
              </a:lnSpc>
            </a:pPr>
            <a:r>
              <a:rPr sz="1250" b="0" i="0">
                <a:solidFill>
                  <a:srgbClr val="93A79D"/>
                </a:solidFill>
                <a:latin typeface="Inter" pitchFamily="34" charset="0"/>
                <a:cs typeface="Inter" pitchFamily="34" charset="0"/>
              </a:rPr>
              <a:t>tous les 5 jours.</a:t>
            </a:r>
          </a:p>
          <a:p>
            <a:pPr algn="l">
              <a:lnSpc>
                <a:spcPct val="130000"/>
              </a:lnSpc>
            </a:pPr>
            <a:r>
              <a:rPr sz="1250" b="0" i="0">
                <a:solidFill>
                  <a:srgbClr val="93A79D"/>
                </a:solidFill>
                <a:latin typeface="Inter" pitchFamily="34" charset="0"/>
                <a:cs typeface="Inter" pitchFamily="34" charset="0"/>
              </a:rPr>
              <a:t>La carte peut suivre</a:t>
            </a:r>
          </a:p>
          <a:p>
            <a:pPr algn="l">
              <a:lnSpc>
                <a:spcPct val="130000"/>
              </a:lnSpc>
            </a:pPr>
            <a:r>
              <a:rPr sz="1250" b="0" i="0">
                <a:solidFill>
                  <a:srgbClr val="93A79D"/>
                </a:solidFill>
                <a:latin typeface="Inter" pitchFamily="34" charset="0"/>
                <a:cs typeface="Inter" pitchFamily="34" charset="0"/>
              </a:rPr>
              <a:t>le rythme des champs.</a:t>
            </a:r>
          </a:p>
        </p:txBody>
      </p:sp>
      <p:sp>
        <p:nvSpPr>
          <p:cNvPr id="18" name="Rounded Rectangle 17"/>
          <p:cNvSpPr/>
          <p:nvPr/>
        </p:nvSpPr>
        <p:spPr>
          <a:xfrm>
            <a:off x="8072932" y="3246120"/>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2932" y="3235147"/>
            <a:ext cx="3405530"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676" y="3538727"/>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Le signal</a:t>
            </a:r>
          </a:p>
        </p:txBody>
      </p:sp>
      <p:sp>
        <p:nvSpPr>
          <p:cNvPr id="21" name="TextBox 20"/>
          <p:cNvSpPr txBox="1"/>
          <p:nvPr/>
        </p:nvSpPr>
        <p:spPr>
          <a:xfrm>
            <a:off x="8310676" y="3973068"/>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Distinguer sol nu,</a:t>
            </a:r>
          </a:p>
          <a:p>
            <a:pPr algn="l">
              <a:lnSpc>
                <a:spcPct val="130000"/>
              </a:lnSpc>
            </a:pPr>
            <a:r>
              <a:rPr sz="1250" b="0" i="0">
                <a:solidFill>
                  <a:srgbClr val="93A79D"/>
                </a:solidFill>
                <a:latin typeface="Inter" pitchFamily="34" charset="0"/>
                <a:cs typeface="Inter" pitchFamily="34" charset="0"/>
              </a:rPr>
              <a:t>jachère et culture</a:t>
            </a:r>
          </a:p>
          <a:p>
            <a:pPr algn="l">
              <a:lnSpc>
                <a:spcPct val="130000"/>
              </a:lnSpc>
            </a:pPr>
            <a:r>
              <a:rPr sz="1250" b="0" i="0">
                <a:solidFill>
                  <a:srgbClr val="93A79D"/>
                </a:solidFill>
                <a:latin typeface="Inter" pitchFamily="34" charset="0"/>
                <a:cs typeface="Inter" pitchFamily="34" charset="0"/>
              </a:rPr>
              <a:t>demande un modèle,</a:t>
            </a:r>
          </a:p>
          <a:p>
            <a:pPr algn="l">
              <a:lnSpc>
                <a:spcPct val="130000"/>
              </a:lnSpc>
            </a:pPr>
            <a:r>
              <a:rPr sz="1250" b="0" i="0">
                <a:solidFill>
                  <a:srgbClr val="93A79D"/>
                </a:solidFill>
                <a:latin typeface="Inter" pitchFamily="34" charset="0"/>
                <a:cs typeface="Inter" pitchFamily="34" charset="0"/>
              </a:rPr>
              <a:t>pas un seuil.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08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LE MODÈLE</a:t>
            </a:r>
          </a:p>
        </p:txBody>
      </p:sp>
      <p:sp>
        <p:nvSpPr>
          <p:cNvPr id="8" name="TextBox 7"/>
          <p:cNvSpPr txBox="1"/>
          <p:nvPr/>
        </p:nvSpPr>
        <p:spPr>
          <a:xfrm>
            <a:off x="713232" y="932688"/>
            <a:ext cx="10765231" cy="516636"/>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Un classifieur réellement entraîné.</a:t>
            </a:r>
          </a:p>
        </p:txBody>
      </p:sp>
      <p:sp>
        <p:nvSpPr>
          <p:cNvPr id="9" name="TextBox 8"/>
          <p:cNvSpPr txBox="1"/>
          <p:nvPr/>
        </p:nvSpPr>
        <p:spPr>
          <a:xfrm>
            <a:off x="713232" y="1613916"/>
            <a:ext cx="10216591" cy="305104"/>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Métriques mesurées sur un jeu de test tenu à l'écart, pas des valeurs annoncées.</a:t>
            </a:r>
          </a:p>
        </p:txBody>
      </p:sp>
      <p:sp>
        <p:nvSpPr>
          <p:cNvPr id="10" name="Rounded Rectangle 9"/>
          <p:cNvSpPr/>
          <p:nvPr/>
        </p:nvSpPr>
        <p:spPr>
          <a:xfrm>
            <a:off x="713232" y="2121408"/>
            <a:ext cx="1962851" cy="93268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110435"/>
            <a:ext cx="196285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68296"/>
            <a:ext cx="1962851" cy="409651"/>
          </a:xfrm>
          <a:prstGeom prst="rect">
            <a:avLst/>
          </a:prstGeom>
          <a:noFill/>
        </p:spPr>
        <p:txBody>
          <a:bodyPr wrap="square" lIns="0" rIns="0" tIns="0" bIns="0" anchor="t">
            <a:spAutoFit/>
          </a:bodyPr>
          <a:lstStyle/>
          <a:p>
            <a:pPr algn="ctr">
              <a:lnSpc>
                <a:spcPct val="118000"/>
              </a:lnSpc>
            </a:pPr>
            <a:r>
              <a:rPr sz="2100" b="1" i="0">
                <a:solidFill>
                  <a:srgbClr val="34D399"/>
                </a:solidFill>
                <a:latin typeface="JetBrains Mono" pitchFamily="34" charset="0"/>
                <a:cs typeface="JetBrains Mono" pitchFamily="34" charset="0"/>
              </a:rPr>
              <a:t>0,9528</a:t>
            </a:r>
          </a:p>
        </p:txBody>
      </p:sp>
      <p:sp>
        <p:nvSpPr>
          <p:cNvPr id="13" name="TextBox 12"/>
          <p:cNvSpPr txBox="1"/>
          <p:nvPr/>
        </p:nvSpPr>
        <p:spPr>
          <a:xfrm>
            <a:off x="713232" y="2752344"/>
            <a:ext cx="1962851" cy="220827"/>
          </a:xfrm>
          <a:prstGeom prst="rect">
            <a:avLst/>
          </a:prstGeom>
          <a:noFill/>
        </p:spPr>
        <p:txBody>
          <a:bodyPr wrap="square" lIns="0" rIns="0" tIns="0" bIns="0" anchor="t">
            <a:spAutoFit/>
          </a:bodyPr>
          <a:lstStyle/>
          <a:p>
            <a:pPr algn="ctr">
              <a:lnSpc>
                <a:spcPct val="118000"/>
              </a:lnSpc>
            </a:pPr>
            <a:r>
              <a:rPr sz="1050" b="0" i="0">
                <a:solidFill>
                  <a:srgbClr val="93A79D"/>
                </a:solidFill>
                <a:latin typeface="Inter" pitchFamily="34" charset="0"/>
                <a:cs typeface="Inter" pitchFamily="34" charset="0"/>
              </a:rPr>
              <a:t>exactitude</a:t>
            </a:r>
          </a:p>
        </p:txBody>
      </p:sp>
      <p:sp>
        <p:nvSpPr>
          <p:cNvPr id="14" name="Rounded Rectangle 13"/>
          <p:cNvSpPr/>
          <p:nvPr/>
        </p:nvSpPr>
        <p:spPr>
          <a:xfrm>
            <a:off x="2913827" y="2121408"/>
            <a:ext cx="1962851" cy="93268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13827" y="2110435"/>
            <a:ext cx="196285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13827" y="2368296"/>
            <a:ext cx="1962851" cy="409651"/>
          </a:xfrm>
          <a:prstGeom prst="rect">
            <a:avLst/>
          </a:prstGeom>
          <a:noFill/>
        </p:spPr>
        <p:txBody>
          <a:bodyPr wrap="square" lIns="0" rIns="0" tIns="0" bIns="0" anchor="t">
            <a:spAutoFit/>
          </a:bodyPr>
          <a:lstStyle/>
          <a:p>
            <a:pPr algn="ctr">
              <a:lnSpc>
                <a:spcPct val="118000"/>
              </a:lnSpc>
            </a:pPr>
            <a:r>
              <a:rPr sz="2100" b="1" i="0">
                <a:solidFill>
                  <a:srgbClr val="34D399"/>
                </a:solidFill>
                <a:latin typeface="JetBrains Mono" pitchFamily="34" charset="0"/>
                <a:cs typeface="JetBrains Mono" pitchFamily="34" charset="0"/>
              </a:rPr>
              <a:t>0,902</a:t>
            </a:r>
          </a:p>
        </p:txBody>
      </p:sp>
      <p:sp>
        <p:nvSpPr>
          <p:cNvPr id="17" name="TextBox 16"/>
          <p:cNvSpPr txBox="1"/>
          <p:nvPr/>
        </p:nvSpPr>
        <p:spPr>
          <a:xfrm>
            <a:off x="2913827" y="2752344"/>
            <a:ext cx="1962851" cy="220827"/>
          </a:xfrm>
          <a:prstGeom prst="rect">
            <a:avLst/>
          </a:prstGeom>
          <a:noFill/>
        </p:spPr>
        <p:txBody>
          <a:bodyPr wrap="square" lIns="0" rIns="0" tIns="0" bIns="0" anchor="t">
            <a:spAutoFit/>
          </a:bodyPr>
          <a:lstStyle/>
          <a:p>
            <a:pPr algn="ctr">
              <a:lnSpc>
                <a:spcPct val="118000"/>
              </a:lnSpc>
            </a:pPr>
            <a:r>
              <a:rPr sz="1050" b="0" i="0">
                <a:solidFill>
                  <a:srgbClr val="93A79D"/>
                </a:solidFill>
                <a:latin typeface="Inter" pitchFamily="34" charset="0"/>
                <a:cs typeface="Inter" pitchFamily="34" charset="0"/>
              </a:rPr>
              <a:t>précision</a:t>
            </a:r>
          </a:p>
        </p:txBody>
      </p:sp>
      <p:sp>
        <p:nvSpPr>
          <p:cNvPr id="18" name="Rounded Rectangle 17"/>
          <p:cNvSpPr/>
          <p:nvPr/>
        </p:nvSpPr>
        <p:spPr>
          <a:xfrm>
            <a:off x="5114422" y="2121408"/>
            <a:ext cx="1962851" cy="93268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4422" y="2110435"/>
            <a:ext cx="196285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14422" y="2368296"/>
            <a:ext cx="1962851" cy="409651"/>
          </a:xfrm>
          <a:prstGeom prst="rect">
            <a:avLst/>
          </a:prstGeom>
          <a:noFill/>
        </p:spPr>
        <p:txBody>
          <a:bodyPr wrap="square" lIns="0" rIns="0" tIns="0" bIns="0" anchor="t">
            <a:spAutoFit/>
          </a:bodyPr>
          <a:lstStyle/>
          <a:p>
            <a:pPr algn="ctr">
              <a:lnSpc>
                <a:spcPct val="118000"/>
              </a:lnSpc>
            </a:pPr>
            <a:r>
              <a:rPr sz="2100" b="1" i="0">
                <a:solidFill>
                  <a:srgbClr val="34D399"/>
                </a:solidFill>
                <a:latin typeface="JetBrains Mono" pitchFamily="34" charset="0"/>
                <a:cs typeface="JetBrains Mono" pitchFamily="34" charset="0"/>
              </a:rPr>
              <a:t>0,8618</a:t>
            </a:r>
          </a:p>
        </p:txBody>
      </p:sp>
      <p:sp>
        <p:nvSpPr>
          <p:cNvPr id="21" name="TextBox 20"/>
          <p:cNvSpPr txBox="1"/>
          <p:nvPr/>
        </p:nvSpPr>
        <p:spPr>
          <a:xfrm>
            <a:off x="5114422" y="2752344"/>
            <a:ext cx="1962851" cy="220827"/>
          </a:xfrm>
          <a:prstGeom prst="rect">
            <a:avLst/>
          </a:prstGeom>
          <a:noFill/>
        </p:spPr>
        <p:txBody>
          <a:bodyPr wrap="square" lIns="0" rIns="0" tIns="0" bIns="0" anchor="t">
            <a:spAutoFit/>
          </a:bodyPr>
          <a:lstStyle/>
          <a:p>
            <a:pPr algn="ctr">
              <a:lnSpc>
                <a:spcPct val="118000"/>
              </a:lnSpc>
            </a:pPr>
            <a:r>
              <a:rPr sz="1050" b="0" i="0">
                <a:solidFill>
                  <a:srgbClr val="93A79D"/>
                </a:solidFill>
                <a:latin typeface="Inter" pitchFamily="34" charset="0"/>
                <a:cs typeface="Inter" pitchFamily="34" charset="0"/>
              </a:rPr>
              <a:t>rappel</a:t>
            </a:r>
          </a:p>
        </p:txBody>
      </p:sp>
      <p:sp>
        <p:nvSpPr>
          <p:cNvPr id="22" name="Rounded Rectangle 21"/>
          <p:cNvSpPr/>
          <p:nvPr/>
        </p:nvSpPr>
        <p:spPr>
          <a:xfrm>
            <a:off x="7315017" y="2121408"/>
            <a:ext cx="1962851" cy="93268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017" y="2110435"/>
            <a:ext cx="196285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017" y="2368296"/>
            <a:ext cx="1962851" cy="409651"/>
          </a:xfrm>
          <a:prstGeom prst="rect">
            <a:avLst/>
          </a:prstGeom>
          <a:noFill/>
        </p:spPr>
        <p:txBody>
          <a:bodyPr wrap="square" lIns="0" rIns="0" tIns="0" bIns="0" anchor="t">
            <a:spAutoFit/>
          </a:bodyPr>
          <a:lstStyle/>
          <a:p>
            <a:pPr algn="ctr">
              <a:lnSpc>
                <a:spcPct val="118000"/>
              </a:lnSpc>
            </a:pPr>
            <a:r>
              <a:rPr sz="2100" b="1" i="0">
                <a:solidFill>
                  <a:srgbClr val="34D399"/>
                </a:solidFill>
                <a:latin typeface="JetBrains Mono" pitchFamily="34" charset="0"/>
                <a:cs typeface="JetBrains Mono" pitchFamily="34" charset="0"/>
              </a:rPr>
              <a:t>0,8815</a:t>
            </a:r>
          </a:p>
        </p:txBody>
      </p:sp>
      <p:sp>
        <p:nvSpPr>
          <p:cNvPr id="25" name="TextBox 24"/>
          <p:cNvSpPr txBox="1"/>
          <p:nvPr/>
        </p:nvSpPr>
        <p:spPr>
          <a:xfrm>
            <a:off x="7315017" y="2752344"/>
            <a:ext cx="1962851" cy="220827"/>
          </a:xfrm>
          <a:prstGeom prst="rect">
            <a:avLst/>
          </a:prstGeom>
          <a:noFill/>
        </p:spPr>
        <p:txBody>
          <a:bodyPr wrap="square" lIns="0" rIns="0" tIns="0" bIns="0" anchor="t">
            <a:spAutoFit/>
          </a:bodyPr>
          <a:lstStyle/>
          <a:p>
            <a:pPr algn="ctr">
              <a:lnSpc>
                <a:spcPct val="118000"/>
              </a:lnSpc>
            </a:pPr>
            <a:r>
              <a:rPr sz="1050" b="0" i="0">
                <a:solidFill>
                  <a:srgbClr val="93A79D"/>
                </a:solidFill>
                <a:latin typeface="Inter" pitchFamily="34" charset="0"/>
                <a:cs typeface="Inter" pitchFamily="34" charset="0"/>
              </a:rPr>
              <a:t>F1</a:t>
            </a:r>
          </a:p>
        </p:txBody>
      </p:sp>
      <p:sp>
        <p:nvSpPr>
          <p:cNvPr id="26" name="Rounded Rectangle 25"/>
          <p:cNvSpPr/>
          <p:nvPr/>
        </p:nvSpPr>
        <p:spPr>
          <a:xfrm>
            <a:off x="9515612" y="2121408"/>
            <a:ext cx="1962851" cy="93268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15612" y="2110435"/>
            <a:ext cx="196285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15612" y="2368296"/>
            <a:ext cx="1962851" cy="409651"/>
          </a:xfrm>
          <a:prstGeom prst="rect">
            <a:avLst/>
          </a:prstGeom>
          <a:noFill/>
        </p:spPr>
        <p:txBody>
          <a:bodyPr wrap="square" lIns="0" rIns="0" tIns="0" bIns="0" anchor="t">
            <a:spAutoFit/>
          </a:bodyPr>
          <a:lstStyle/>
          <a:p>
            <a:pPr algn="ctr">
              <a:lnSpc>
                <a:spcPct val="118000"/>
              </a:lnSpc>
            </a:pPr>
            <a:r>
              <a:rPr sz="2100" b="1" i="0">
                <a:solidFill>
                  <a:srgbClr val="34D399"/>
                </a:solidFill>
                <a:latin typeface="JetBrains Mono" pitchFamily="34" charset="0"/>
                <a:cs typeface="JetBrains Mono" pitchFamily="34" charset="0"/>
              </a:rPr>
              <a:t>0,9866</a:t>
            </a:r>
          </a:p>
        </p:txBody>
      </p:sp>
      <p:sp>
        <p:nvSpPr>
          <p:cNvPr id="29" name="TextBox 28"/>
          <p:cNvSpPr txBox="1"/>
          <p:nvPr/>
        </p:nvSpPr>
        <p:spPr>
          <a:xfrm>
            <a:off x="9515612" y="2752344"/>
            <a:ext cx="1962851" cy="220827"/>
          </a:xfrm>
          <a:prstGeom prst="rect">
            <a:avLst/>
          </a:prstGeom>
          <a:noFill/>
        </p:spPr>
        <p:txBody>
          <a:bodyPr wrap="square" lIns="0" rIns="0" tIns="0" bIns="0" anchor="t">
            <a:spAutoFit/>
          </a:bodyPr>
          <a:lstStyle/>
          <a:p>
            <a:pPr algn="ctr">
              <a:lnSpc>
                <a:spcPct val="118000"/>
              </a:lnSpc>
            </a:pPr>
            <a:r>
              <a:rPr sz="1050" b="0" i="0">
                <a:solidFill>
                  <a:srgbClr val="93A79D"/>
                </a:solidFill>
                <a:latin typeface="Inter" pitchFamily="34" charset="0"/>
                <a:cs typeface="Inter" pitchFamily="34" charset="0"/>
              </a:rPr>
              <a:t>ROC-AUC</a:t>
            </a:r>
          </a:p>
        </p:txBody>
      </p:sp>
      <p:sp>
        <p:nvSpPr>
          <p:cNvPr id="30" name="Rounded Rectangle 29"/>
          <p:cNvSpPr/>
          <p:nvPr/>
        </p:nvSpPr>
        <p:spPr>
          <a:xfrm>
            <a:off x="713232" y="3218688"/>
            <a:ext cx="3405530" cy="1987295"/>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3207715"/>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 y="3511296"/>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Entraînement</a:t>
            </a:r>
          </a:p>
        </p:txBody>
      </p:sp>
      <p:sp>
        <p:nvSpPr>
          <p:cNvPr id="33" name="TextBox 32"/>
          <p:cNvSpPr txBox="1"/>
          <p:nvPr/>
        </p:nvSpPr>
        <p:spPr>
          <a:xfrm>
            <a:off x="950976" y="3945636"/>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EuroSAT, Sentinel-2 réel</a:t>
            </a:r>
          </a:p>
          <a:p>
            <a:pPr algn="l">
              <a:lnSpc>
                <a:spcPct val="130000"/>
              </a:lnSpc>
            </a:pPr>
            <a:r>
              <a:rPr sz="1250" b="0" i="0">
                <a:solidFill>
                  <a:srgbClr val="93A79D"/>
                </a:solidFill>
                <a:latin typeface="Inter" pitchFamily="34" charset="0"/>
                <a:cs typeface="Inter" pitchFamily="34" charset="0"/>
              </a:rPr>
              <a:t>27 000 vignettes 64x64</a:t>
            </a:r>
          </a:p>
          <a:p>
            <a:pPr algn="l">
              <a:lnSpc>
                <a:spcPct val="130000"/>
              </a:lnSpc>
            </a:pPr>
            <a:r>
              <a:rPr sz="1250" b="0" i="0">
                <a:solidFill>
                  <a:srgbClr val="93A79D"/>
                </a:solidFill>
                <a:latin typeface="Inter" pitchFamily="34" charset="0"/>
                <a:cs typeface="Inter" pitchFamily="34" charset="0"/>
              </a:rPr>
              <a:t>Split 21 600 / 5 400</a:t>
            </a:r>
          </a:p>
          <a:p>
            <a:pPr algn="l">
              <a:lnSpc>
                <a:spcPct val="130000"/>
              </a:lnSpc>
            </a:pPr>
            <a:r>
              <a:rPr sz="1250" b="0" i="0">
                <a:solidFill>
                  <a:srgbClr val="93A79D"/>
                </a:solidFill>
                <a:latin typeface="Inter" pitchFamily="34" charset="0"/>
                <a:cs typeface="Inter" pitchFamily="34" charset="0"/>
              </a:rPr>
              <a:t>Test tenu à l'écart</a:t>
            </a:r>
          </a:p>
        </p:txBody>
      </p:sp>
      <p:sp>
        <p:nvSpPr>
          <p:cNvPr id="34" name="Rounded Rectangle 33"/>
          <p:cNvSpPr/>
          <p:nvPr/>
        </p:nvSpPr>
        <p:spPr>
          <a:xfrm>
            <a:off x="4393082" y="3218688"/>
            <a:ext cx="3405530" cy="1987295"/>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93082" y="3207715"/>
            <a:ext cx="3405530"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30826" y="3511296"/>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Algorithme</a:t>
            </a:r>
          </a:p>
        </p:txBody>
      </p:sp>
      <p:sp>
        <p:nvSpPr>
          <p:cNvPr id="37" name="TextBox 36"/>
          <p:cNvSpPr txBox="1"/>
          <p:nvPr/>
        </p:nvSpPr>
        <p:spPr>
          <a:xfrm>
            <a:off x="4630826" y="3945636"/>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HistGradientBoosting</a:t>
            </a:r>
          </a:p>
          <a:p>
            <a:pPr algn="l">
              <a:lnSpc>
                <a:spcPct val="130000"/>
              </a:lnSpc>
            </a:pPr>
            <a:r>
              <a:rPr sz="1250" b="0" i="0">
                <a:solidFill>
                  <a:srgbClr val="93A79D"/>
                </a:solidFill>
                <a:latin typeface="Inter" pitchFamily="34" charset="0"/>
                <a:cs typeface="Inter" pitchFamily="34" charset="0"/>
              </a:rPr>
              <a:t>35 caractéristiques</a:t>
            </a:r>
          </a:p>
          <a:p>
            <a:pPr algn="l">
              <a:lnSpc>
                <a:spcPct val="130000"/>
              </a:lnSpc>
            </a:pPr>
            <a:r>
              <a:rPr sz="1250" b="0" i="0">
                <a:solidFill>
                  <a:srgbClr val="93A79D"/>
                </a:solidFill>
                <a:latin typeface="Inter" pitchFamily="34" charset="0"/>
                <a:cs typeface="Inter" pitchFamily="34" charset="0"/>
              </a:rPr>
              <a:t>ExG, GRVI, texture</a:t>
            </a:r>
          </a:p>
          <a:p>
            <a:pPr algn="l">
              <a:lnSpc>
                <a:spcPct val="130000"/>
              </a:lnSpc>
            </a:pPr>
            <a:r>
              <a:rPr sz="1250" b="0" i="0">
                <a:solidFill>
                  <a:srgbClr val="93A79D"/>
                </a:solidFill>
                <a:latin typeface="Inter" pitchFamily="34" charset="0"/>
                <a:cs typeface="Inter" pitchFamily="34" charset="0"/>
              </a:rPr>
              <a:t>Version ts-eurosat-1.0.0</a:t>
            </a:r>
          </a:p>
        </p:txBody>
      </p:sp>
      <p:sp>
        <p:nvSpPr>
          <p:cNvPr id="38" name="Rounded Rectangle 37"/>
          <p:cNvSpPr/>
          <p:nvPr/>
        </p:nvSpPr>
        <p:spPr>
          <a:xfrm>
            <a:off x="8072932" y="3218688"/>
            <a:ext cx="3405530" cy="1987295"/>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72932" y="3207715"/>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10676" y="3511296"/>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Inférence, nord Bénin</a:t>
            </a:r>
          </a:p>
        </p:txBody>
      </p:sp>
      <p:sp>
        <p:nvSpPr>
          <p:cNvPr id="41" name="TextBox 40"/>
          <p:cNvSpPr txBox="1"/>
          <p:nvPr/>
        </p:nvSpPr>
        <p:spPr>
          <a:xfrm>
            <a:off x="8310676" y="3945636"/>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Tuiles Sentinel-2 réelles</a:t>
            </a:r>
          </a:p>
          <a:p>
            <a:pPr algn="l">
              <a:lnSpc>
                <a:spcPct val="130000"/>
              </a:lnSpc>
            </a:pPr>
            <a:r>
              <a:rPr sz="1250" b="0" i="0">
                <a:solidFill>
                  <a:srgbClr val="93A79D"/>
                </a:solidFill>
                <a:latin typeface="Inter" pitchFamily="34" charset="0"/>
                <a:cs typeface="Inter" pitchFamily="34" charset="0"/>
              </a:rPr>
              <a:t>Grille 8x8, mise en cache</a:t>
            </a:r>
          </a:p>
          <a:p>
            <a:pPr algn="l">
              <a:lnSpc>
                <a:spcPct val="130000"/>
              </a:lnSpc>
            </a:pPr>
            <a:r>
              <a:rPr sz="1250" b="0" i="0">
                <a:solidFill>
                  <a:srgbClr val="93A79D"/>
                </a:solidFill>
                <a:latin typeface="Inter" pitchFamily="34" charset="0"/>
                <a:cs typeface="Inter" pitchFamily="34" charset="0"/>
              </a:rPr>
              <a:t>Banikoara : 8 cellules</a:t>
            </a:r>
          </a:p>
          <a:p>
            <a:pPr algn="l">
              <a:lnSpc>
                <a:spcPct val="130000"/>
              </a:lnSpc>
            </a:pPr>
            <a:r>
              <a:rPr sz="1250" b="0" i="0">
                <a:solidFill>
                  <a:srgbClr val="93A79D"/>
                </a:solidFill>
                <a:latin typeface="Inter" pitchFamily="34" charset="0"/>
                <a:cs typeface="Inter" pitchFamily="34" charset="0"/>
              </a:rPr>
              <a:t>en culture sur 64</a:t>
            </a:r>
          </a:p>
        </p:txBody>
      </p:sp>
      <p:sp>
        <p:nvSpPr>
          <p:cNvPr id="42" name="Rounded Rectangle 41"/>
          <p:cNvSpPr/>
          <p:nvPr/>
        </p:nvSpPr>
        <p:spPr>
          <a:xfrm>
            <a:off x="713232" y="5358384"/>
            <a:ext cx="10765231" cy="640080"/>
          </a:xfrm>
          <a:prstGeom prst="roundRect">
            <a:avLst>
              <a:gd name="adj" fmla="val 10000"/>
            </a:avLst>
          </a:prstGeom>
          <a:solidFill>
            <a:srgbClr val="11201A"/>
          </a:solidFill>
          <a:ln w="12700">
            <a:solidFill>
              <a:srgbClr val="F5B5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3232" y="5347411"/>
            <a:ext cx="10765231"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 y="5550408"/>
            <a:ext cx="10106863" cy="283768"/>
          </a:xfrm>
          <a:prstGeom prst="rect">
            <a:avLst/>
          </a:prstGeom>
          <a:noFill/>
        </p:spPr>
        <p:txBody>
          <a:bodyPr wrap="square" lIns="0" rIns="0" tIns="0" bIns="0" anchor="t">
            <a:spAutoFit/>
          </a:bodyPr>
          <a:lstStyle/>
          <a:p>
            <a:pPr algn="l">
              <a:lnSpc>
                <a:spcPct val="118000"/>
              </a:lnSpc>
            </a:pPr>
            <a:r>
              <a:rPr sz="1400" b="0" i="0">
                <a:solidFill>
                  <a:srgbClr val="E9F2ED"/>
                </a:solidFill>
                <a:latin typeface="Inter" pitchFamily="34" charset="0"/>
                <a:cs typeface="Inter" pitchFamily="34" charset="0"/>
              </a:rPr>
              <a:t>Ces métriques décrivent EuroSAT, imagerie européenne, et non le Bénin.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09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CHOIX TECHNIQUE ASSUMÉ</a:t>
            </a:r>
          </a:p>
        </p:txBody>
      </p:sp>
      <p:sp>
        <p:nvSpPr>
          <p:cNvPr id="8" name="TextBox 7"/>
          <p:cNvSpPr txBox="1"/>
          <p:nvPr/>
        </p:nvSpPr>
        <p:spPr>
          <a:xfrm>
            <a:off x="713232" y="932688"/>
            <a:ext cx="10765231" cy="500481"/>
          </a:xfrm>
          <a:prstGeom prst="rect">
            <a:avLst/>
          </a:prstGeom>
          <a:noFill/>
        </p:spPr>
        <p:txBody>
          <a:bodyPr wrap="square" lIns="0" rIns="0" tIns="0" bIns="0" anchor="t">
            <a:spAutoFit/>
          </a:bodyPr>
          <a:lstStyle/>
          <a:p>
            <a:pPr algn="l">
              <a:lnSpc>
                <a:spcPct val="106000"/>
              </a:lnSpc>
            </a:pPr>
            <a:r>
              <a:rPr sz="2900" b="1" i="0">
                <a:solidFill>
                  <a:srgbClr val="E9F2ED"/>
                </a:solidFill>
                <a:latin typeface="Space Grotesk" pitchFamily="34" charset="0"/>
                <a:cs typeface="Space Grotesk" pitchFamily="34" charset="0"/>
              </a:rPr>
              <a:t>La saison de culture est la saison des pluies.</a:t>
            </a:r>
          </a:p>
        </p:txBody>
      </p:sp>
      <p:sp>
        <p:nvSpPr>
          <p:cNvPr id="9" name="TextBox 8"/>
          <p:cNvSpPr txBox="1"/>
          <p:nvPr/>
        </p:nvSpPr>
        <p:spPr>
          <a:xfrm>
            <a:off x="713232" y="1597761"/>
            <a:ext cx="10216591" cy="305104"/>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Donc la saison des nuages. C'est le premier obstacle réel, et il se traite.</a:t>
            </a:r>
          </a:p>
        </p:txBody>
      </p:sp>
      <p:sp>
        <p:nvSpPr>
          <p:cNvPr id="10" name="Rounded Rectangle 9"/>
          <p:cNvSpPr/>
          <p:nvPr/>
        </p:nvSpPr>
        <p:spPr>
          <a:xfrm>
            <a:off x="713232" y="2670048"/>
            <a:ext cx="5131155" cy="2560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659075"/>
            <a:ext cx="5131155"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944368"/>
            <a:ext cx="4582515" cy="229819"/>
          </a:xfrm>
          <a:prstGeom prst="rect">
            <a:avLst/>
          </a:prstGeom>
          <a:noFill/>
        </p:spPr>
        <p:txBody>
          <a:bodyPr wrap="square" lIns="0" rIns="0" tIns="0" bIns="0" anchor="t">
            <a:spAutoFit/>
          </a:bodyPr>
          <a:lstStyle/>
          <a:p>
            <a:pPr algn="l">
              <a:lnSpc>
                <a:spcPct val="118000"/>
              </a:lnSpc>
            </a:pPr>
            <a:r>
              <a:rPr sz="1100" b="1" i="0">
                <a:solidFill>
                  <a:srgbClr val="F5B544"/>
                </a:solidFill>
                <a:latin typeface="Inter" pitchFamily="34" charset="0"/>
                <a:cs typeface="Inter" pitchFamily="34" charset="0"/>
              </a:rPr>
              <a:t>SENTINEL-2 · OPTIQUE 10 m</a:t>
            </a:r>
          </a:p>
        </p:txBody>
      </p:sp>
      <p:sp>
        <p:nvSpPr>
          <p:cNvPr id="13" name="Rounded Rectangle 12"/>
          <p:cNvSpPr/>
          <p:nvPr/>
        </p:nvSpPr>
        <p:spPr>
          <a:xfrm>
            <a:off x="1097280"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67712"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38144"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08576"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 y="3895344"/>
            <a:ext cx="4363059" cy="18288"/>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1536192" y="3803904"/>
            <a:ext cx="146304" cy="420624"/>
          </a:xfrm>
          <a:prstGeom prst="downArrow">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2706624"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3877056" y="3803904"/>
            <a:ext cx="146304" cy="420624"/>
          </a:xfrm>
          <a:prstGeom prst="downArrow">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5047488"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 y="4370832"/>
            <a:ext cx="4363059" cy="128016"/>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3218688"/>
            <a:ext cx="219456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nuages</a:t>
            </a:r>
          </a:p>
        </p:txBody>
      </p:sp>
      <p:sp>
        <p:nvSpPr>
          <p:cNvPr id="24" name="TextBox 23"/>
          <p:cNvSpPr txBox="1"/>
          <p:nvPr/>
        </p:nvSpPr>
        <p:spPr>
          <a:xfrm>
            <a:off x="1097280" y="4535424"/>
            <a:ext cx="219456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sol</a:t>
            </a:r>
          </a:p>
        </p:txBody>
      </p:sp>
      <p:sp>
        <p:nvSpPr>
          <p:cNvPr id="25" name="TextBox 24"/>
          <p:cNvSpPr txBox="1"/>
          <p:nvPr/>
        </p:nvSpPr>
        <p:spPr>
          <a:xfrm>
            <a:off x="987552" y="4773168"/>
            <a:ext cx="4582515" cy="470154"/>
          </a:xfrm>
          <a:prstGeom prst="rect">
            <a:avLst/>
          </a:prstGeom>
          <a:noFill/>
        </p:spPr>
        <p:txBody>
          <a:bodyPr wrap="square" lIns="0" rIns="0" tIns="0" bIns="0" anchor="t">
            <a:spAutoFit/>
          </a:bodyPr>
          <a:lstStyle/>
          <a:p>
            <a:pPr algn="l">
              <a:lnSpc>
                <a:spcPct val="125000"/>
              </a:lnSpc>
            </a:pPr>
            <a:r>
              <a:rPr sz="1150" b="0" i="0">
                <a:solidFill>
                  <a:srgbClr val="93A79D"/>
                </a:solidFill>
                <a:latin typeface="Inter" pitchFamily="34" charset="0"/>
                <a:cs typeface="Inter" pitchFamily="34" charset="0"/>
              </a:rPr>
              <a:t>Nuage = pixel perdu.</a:t>
            </a:r>
          </a:p>
          <a:p>
            <a:pPr algn="l">
              <a:lnSpc>
                <a:spcPct val="125000"/>
              </a:lnSpc>
            </a:pPr>
            <a:r>
              <a:rPr sz="1150" b="0" i="0">
                <a:solidFill>
                  <a:srgbClr val="93A79D"/>
                </a:solidFill>
                <a:latin typeface="Inter" pitchFamily="34" charset="0"/>
                <a:cs typeface="Inter" pitchFamily="34" charset="0"/>
              </a:rPr>
              <a:t>Parade : composite médian multi-dates + masque nuages.</a:t>
            </a:r>
          </a:p>
        </p:txBody>
      </p:sp>
      <p:sp>
        <p:nvSpPr>
          <p:cNvPr id="26" name="Rounded Rectangle 25"/>
          <p:cNvSpPr/>
          <p:nvPr/>
        </p:nvSpPr>
        <p:spPr>
          <a:xfrm>
            <a:off x="6347307" y="2670048"/>
            <a:ext cx="5131155" cy="2560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47307" y="2659075"/>
            <a:ext cx="5131155"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1627" y="2944368"/>
            <a:ext cx="4582515" cy="229819"/>
          </a:xfrm>
          <a:prstGeom prst="rect">
            <a:avLst/>
          </a:prstGeom>
          <a:noFill/>
        </p:spPr>
        <p:txBody>
          <a:bodyPr wrap="square" lIns="0" rIns="0" tIns="0" bIns="0" anchor="t">
            <a:spAutoFit/>
          </a:bodyPr>
          <a:lstStyle/>
          <a:p>
            <a:pPr algn="l">
              <a:lnSpc>
                <a:spcPct val="118000"/>
              </a:lnSpc>
            </a:pPr>
            <a:r>
              <a:rPr sz="1100" b="1" i="0">
                <a:solidFill>
                  <a:srgbClr val="34D399"/>
                </a:solidFill>
                <a:latin typeface="Inter" pitchFamily="34" charset="0"/>
                <a:cs typeface="Inter" pitchFamily="34" charset="0"/>
              </a:rPr>
              <a:t>SENTINEL-1 · RADAR</a:t>
            </a:r>
          </a:p>
        </p:txBody>
      </p:sp>
      <p:sp>
        <p:nvSpPr>
          <p:cNvPr id="29" name="Rounded Rectangle 28"/>
          <p:cNvSpPr/>
          <p:nvPr/>
        </p:nvSpPr>
        <p:spPr>
          <a:xfrm>
            <a:off x="6731355"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01787"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72219"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242651" y="3419856"/>
            <a:ext cx="960120" cy="310896"/>
          </a:xfrm>
          <a:prstGeom prst="roundRect">
            <a:avLst>
              <a:gd name="adj" fmla="val 50000"/>
            </a:avLst>
          </a:prstGeom>
          <a:solidFill>
            <a:srgbClr val="3A48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wn Arrow 32"/>
          <p:cNvSpPr/>
          <p:nvPr/>
        </p:nvSpPr>
        <p:spPr>
          <a:xfrm>
            <a:off x="7170267"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wn Arrow 33"/>
          <p:cNvSpPr/>
          <p:nvPr/>
        </p:nvSpPr>
        <p:spPr>
          <a:xfrm>
            <a:off x="8340699"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own Arrow 34"/>
          <p:cNvSpPr/>
          <p:nvPr/>
        </p:nvSpPr>
        <p:spPr>
          <a:xfrm>
            <a:off x="9511131"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wn Arrow 35"/>
          <p:cNvSpPr/>
          <p:nvPr/>
        </p:nvSpPr>
        <p:spPr>
          <a:xfrm>
            <a:off x="10681563" y="3803904"/>
            <a:ext cx="146304" cy="420624"/>
          </a:xfrm>
          <a:prstGeom prst="down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31355" y="4370832"/>
            <a:ext cx="4363059" cy="128016"/>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31355" y="3218688"/>
            <a:ext cx="219456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nuages</a:t>
            </a:r>
          </a:p>
        </p:txBody>
      </p:sp>
      <p:sp>
        <p:nvSpPr>
          <p:cNvPr id="39" name="TextBox 38"/>
          <p:cNvSpPr txBox="1"/>
          <p:nvPr/>
        </p:nvSpPr>
        <p:spPr>
          <a:xfrm>
            <a:off x="6731355" y="4535424"/>
            <a:ext cx="219456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sol</a:t>
            </a:r>
          </a:p>
        </p:txBody>
      </p:sp>
      <p:sp>
        <p:nvSpPr>
          <p:cNvPr id="40" name="TextBox 39"/>
          <p:cNvSpPr txBox="1"/>
          <p:nvPr/>
        </p:nvSpPr>
        <p:spPr>
          <a:xfrm>
            <a:off x="6621627" y="4773168"/>
            <a:ext cx="4582515" cy="470154"/>
          </a:xfrm>
          <a:prstGeom prst="rect">
            <a:avLst/>
          </a:prstGeom>
          <a:noFill/>
        </p:spPr>
        <p:txBody>
          <a:bodyPr wrap="square" lIns="0" rIns="0" tIns="0" bIns="0" anchor="t">
            <a:spAutoFit/>
          </a:bodyPr>
          <a:lstStyle/>
          <a:p>
            <a:pPr algn="l">
              <a:lnSpc>
                <a:spcPct val="125000"/>
              </a:lnSpc>
            </a:pPr>
            <a:r>
              <a:rPr sz="1150" b="0" i="0">
                <a:solidFill>
                  <a:srgbClr val="93A79D"/>
                </a:solidFill>
                <a:latin typeface="Inter" pitchFamily="34" charset="0"/>
                <a:cs typeface="Inter" pitchFamily="34" charset="0"/>
              </a:rPr>
              <a:t>Le radar traverse les nuages.</a:t>
            </a:r>
          </a:p>
          <a:p>
            <a:pPr algn="l">
              <a:lnSpc>
                <a:spcPct val="125000"/>
              </a:lnSpc>
            </a:pPr>
            <a:r>
              <a:rPr sz="1150" b="0" i="0">
                <a:solidFill>
                  <a:srgbClr val="93A79D"/>
                </a:solidFill>
                <a:latin typeface="Inter" pitchFamily="34" charset="0"/>
                <a:cs typeface="Inter" pitchFamily="34" charset="0"/>
              </a:rPr>
              <a:t>Décrit et justifié, pas encore implémenté.</a:t>
            </a:r>
          </a:p>
        </p:txBody>
      </p:sp>
      <p:sp>
        <p:nvSpPr>
          <p:cNvPr id="41" name="TextBox 40"/>
          <p:cNvSpPr txBox="1"/>
          <p:nvPr/>
        </p:nvSpPr>
        <p:spPr>
          <a:xfrm>
            <a:off x="713232" y="5358384"/>
            <a:ext cx="10789920" cy="274777"/>
          </a:xfrm>
          <a:prstGeom prst="rect">
            <a:avLst/>
          </a:prstGeom>
          <a:noFill/>
        </p:spPr>
        <p:txBody>
          <a:bodyPr wrap="square" lIns="0" rIns="0" tIns="0" bIns="0" anchor="t">
            <a:spAutoFit/>
          </a:bodyPr>
          <a:lstStyle/>
          <a:p>
            <a:pPr algn="l">
              <a:lnSpc>
                <a:spcPct val="118000"/>
              </a:lnSpc>
            </a:pPr>
            <a:r>
              <a:rPr sz="1350" b="0" i="1">
                <a:solidFill>
                  <a:srgbClr val="34D399"/>
                </a:solidFill>
                <a:latin typeface="Inter" pitchFamily="34" charset="0"/>
                <a:cs typeface="Inter" pitchFamily="34" charset="0"/>
              </a:rPr>
              <a:t>« La pertinence des choix techniques compte davantage que la complexité inutile.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10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LA QUESTION QU'ON VA NOUS POSER</a:t>
            </a:r>
          </a:p>
        </p:txBody>
      </p:sp>
      <p:sp>
        <p:nvSpPr>
          <p:cNvPr id="8" name="TextBox 7"/>
          <p:cNvSpPr txBox="1"/>
          <p:nvPr/>
        </p:nvSpPr>
        <p:spPr>
          <a:xfrm>
            <a:off x="713232" y="932688"/>
            <a:ext cx="10765231" cy="516636"/>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 Pourquoi pas simplement Dynamic World ? »</a:t>
            </a:r>
          </a:p>
        </p:txBody>
      </p:sp>
      <p:sp>
        <p:nvSpPr>
          <p:cNvPr id="9" name="TextBox 8"/>
          <p:cNvSpPr txBox="1"/>
          <p:nvPr/>
        </p:nvSpPr>
        <p:spPr>
          <a:xfrm>
            <a:off x="713232" y="1613916"/>
            <a:ext cx="10216591" cy="305104"/>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L'argument tient toujours. Il est maintenant démontré, plus seulement affirmé.</a:t>
            </a:r>
          </a:p>
        </p:txBody>
      </p:sp>
      <p:sp>
        <p:nvSpPr>
          <p:cNvPr id="10" name="Rounded Rectangle 9"/>
          <p:cNvSpPr/>
          <p:nvPr/>
        </p:nvSpPr>
        <p:spPr>
          <a:xfrm>
            <a:off x="713232" y="2212848"/>
            <a:ext cx="3405530" cy="2169566"/>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201875"/>
            <a:ext cx="3405530"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505456"/>
            <a:ext cx="2930042" cy="509930"/>
          </a:xfrm>
          <a:prstGeom prst="rect">
            <a:avLst/>
          </a:prstGeom>
          <a:noFill/>
        </p:spPr>
        <p:txBody>
          <a:bodyPr wrap="square" lIns="0" rIns="0" tIns="0" bIns="0" anchor="t">
            <a:spAutoFit/>
          </a:bodyPr>
          <a:lstStyle/>
          <a:p>
            <a:pPr algn="l">
              <a:lnSpc>
                <a:spcPct val="112000"/>
              </a:lnSpc>
            </a:pPr>
            <a:r>
              <a:rPr sz="1400" b="1" i="0">
                <a:solidFill>
                  <a:srgbClr val="E9F2ED"/>
                </a:solidFill>
                <a:latin typeface="Space Grotesk" pitchFamily="34" charset="0"/>
                <a:cs typeface="Space Grotesk" pitchFamily="34" charset="0"/>
              </a:rPr>
              <a:t>Les cartes globales</a:t>
            </a:r>
          </a:p>
          <a:p>
            <a:pPr algn="l">
              <a:lnSpc>
                <a:spcPct val="112000"/>
              </a:lnSpc>
            </a:pPr>
            <a:r>
              <a:rPr sz="1400" b="1" i="0">
                <a:solidFill>
                  <a:srgbClr val="E9F2ED"/>
                </a:solidFill>
                <a:latin typeface="Space Grotesk" pitchFamily="34" charset="0"/>
                <a:cs typeface="Space Grotesk" pitchFamily="34" charset="0"/>
              </a:rPr>
              <a:t>décrochent ici</a:t>
            </a:r>
          </a:p>
        </p:txBody>
      </p:sp>
      <p:sp>
        <p:nvSpPr>
          <p:cNvPr id="13" name="TextBox 12"/>
          <p:cNvSpPr txBox="1"/>
          <p:nvPr/>
        </p:nvSpPr>
        <p:spPr>
          <a:xfrm>
            <a:off x="950976" y="3161690"/>
            <a:ext cx="2930042" cy="982980"/>
          </a:xfrm>
          <a:prstGeom prst="rect">
            <a:avLst/>
          </a:prstGeom>
          <a:noFill/>
        </p:spPr>
        <p:txBody>
          <a:bodyPr wrap="square" lIns="0" rIns="0" tIns="0" bIns="0" anchor="t">
            <a:spAutoFit/>
          </a:bodyPr>
          <a:lstStyle/>
          <a:p>
            <a:pPr algn="l">
              <a:lnSpc>
                <a:spcPct val="130000"/>
              </a:lnSpc>
            </a:pPr>
            <a:r>
              <a:rPr sz="1200" b="0" i="0">
                <a:solidFill>
                  <a:srgbClr val="93A79D"/>
                </a:solidFill>
                <a:latin typeface="Inter" pitchFamily="34" charset="0"/>
                <a:cs typeface="Inter" pitchFamily="34" charset="0"/>
              </a:rPr>
              <a:t>Petites parcelles,</a:t>
            </a:r>
          </a:p>
          <a:p>
            <a:pPr algn="l">
              <a:lnSpc>
                <a:spcPct val="130000"/>
              </a:lnSpc>
            </a:pPr>
            <a:r>
              <a:rPr sz="1200" b="0" i="0">
                <a:solidFill>
                  <a:srgbClr val="93A79D"/>
                </a:solidFill>
                <a:latin typeface="Inter" pitchFamily="34" charset="0"/>
                <a:cs typeface="Inter" pitchFamily="34" charset="0"/>
              </a:rPr>
              <a:t>cultures associées :</a:t>
            </a:r>
          </a:p>
          <a:p>
            <a:pPr algn="l">
              <a:lnSpc>
                <a:spcPct val="130000"/>
              </a:lnSpc>
            </a:pPr>
            <a:r>
              <a:rPr sz="1200" b="0" i="0">
                <a:solidFill>
                  <a:srgbClr val="93A79D"/>
                </a:solidFill>
                <a:latin typeface="Inter" pitchFamily="34" charset="0"/>
                <a:cs typeface="Inter" pitchFamily="34" charset="0"/>
              </a:rPr>
              <a:t>l'agriculture subsaharienne</a:t>
            </a:r>
          </a:p>
          <a:p>
            <a:pPr algn="l">
              <a:lnSpc>
                <a:spcPct val="130000"/>
              </a:lnSpc>
            </a:pPr>
            <a:r>
              <a:rPr sz="1200" b="0" i="0">
                <a:solidFill>
                  <a:srgbClr val="93A79D"/>
                </a:solidFill>
                <a:latin typeface="Inter" pitchFamily="34" charset="0"/>
                <a:cs typeface="Inter" pitchFamily="34" charset="0"/>
              </a:rPr>
              <a:t>y est sous-performée.</a:t>
            </a:r>
          </a:p>
        </p:txBody>
      </p:sp>
      <p:sp>
        <p:nvSpPr>
          <p:cNvPr id="14" name="Rounded Rectangle 13"/>
          <p:cNvSpPr/>
          <p:nvPr/>
        </p:nvSpPr>
        <p:spPr>
          <a:xfrm>
            <a:off x="4393082" y="2212848"/>
            <a:ext cx="3405530" cy="2169566"/>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3082" y="2201875"/>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0826" y="2505456"/>
            <a:ext cx="2930042" cy="509930"/>
          </a:xfrm>
          <a:prstGeom prst="rect">
            <a:avLst/>
          </a:prstGeom>
          <a:noFill/>
        </p:spPr>
        <p:txBody>
          <a:bodyPr wrap="square" lIns="0" rIns="0" tIns="0" bIns="0" anchor="t">
            <a:spAutoFit/>
          </a:bodyPr>
          <a:lstStyle/>
          <a:p>
            <a:pPr algn="l">
              <a:lnSpc>
                <a:spcPct val="112000"/>
              </a:lnSpc>
            </a:pPr>
            <a:r>
              <a:rPr sz="1400" b="1" i="0">
                <a:solidFill>
                  <a:srgbClr val="E9F2ED"/>
                </a:solidFill>
                <a:latin typeface="Space Grotesk" pitchFamily="34" charset="0"/>
                <a:cs typeface="Space Grotesk" pitchFamily="34" charset="0"/>
              </a:rPr>
              <a:t>Nous avons entraîné</a:t>
            </a:r>
          </a:p>
          <a:p>
            <a:pPr algn="l">
              <a:lnSpc>
                <a:spcPct val="112000"/>
              </a:lnSpc>
            </a:pPr>
            <a:r>
              <a:rPr sz="1400" b="1" i="0">
                <a:solidFill>
                  <a:srgbClr val="E9F2ED"/>
                </a:solidFill>
                <a:latin typeface="Space Grotesk" pitchFamily="34" charset="0"/>
                <a:cs typeface="Space Grotesk" pitchFamily="34" charset="0"/>
              </a:rPr>
              <a:t>notre propre modèle</a:t>
            </a:r>
          </a:p>
        </p:txBody>
      </p:sp>
      <p:sp>
        <p:nvSpPr>
          <p:cNvPr id="17" name="TextBox 16"/>
          <p:cNvSpPr txBox="1"/>
          <p:nvPr/>
        </p:nvSpPr>
        <p:spPr>
          <a:xfrm>
            <a:off x="4630826" y="3161690"/>
            <a:ext cx="2930042" cy="982980"/>
          </a:xfrm>
          <a:prstGeom prst="rect">
            <a:avLst/>
          </a:prstGeom>
          <a:noFill/>
        </p:spPr>
        <p:txBody>
          <a:bodyPr wrap="square" lIns="0" rIns="0" tIns="0" bIns="0" anchor="t">
            <a:spAutoFit/>
          </a:bodyPr>
          <a:lstStyle/>
          <a:p>
            <a:pPr algn="l">
              <a:lnSpc>
                <a:spcPct val="130000"/>
              </a:lnSpc>
            </a:pPr>
            <a:r>
              <a:rPr sz="1200" b="0" i="0">
                <a:solidFill>
                  <a:srgbClr val="93A79D"/>
                </a:solidFill>
                <a:latin typeface="Inter" pitchFamily="34" charset="0"/>
                <a:cs typeface="Inter" pitchFamily="34" charset="0"/>
              </a:rPr>
              <a:t>Métriques mesurées,</a:t>
            </a:r>
          </a:p>
          <a:p>
            <a:pPr algn="l">
              <a:lnSpc>
                <a:spcPct val="130000"/>
              </a:lnSpc>
            </a:pPr>
            <a:r>
              <a:rPr sz="1200" b="0" i="0">
                <a:solidFill>
                  <a:srgbClr val="93A79D"/>
                </a:solidFill>
                <a:latin typeface="Inter" pitchFamily="34" charset="0"/>
                <a:cs typeface="Inter" pitchFamily="34" charset="0"/>
              </a:rPr>
              <a:t>test tenu à l'écart,</a:t>
            </a:r>
          </a:p>
          <a:p>
            <a:pPr algn="l">
              <a:lnSpc>
                <a:spcPct val="130000"/>
              </a:lnSpc>
            </a:pPr>
            <a:r>
              <a:rPr sz="1200" b="0" i="0">
                <a:solidFill>
                  <a:srgbClr val="93A79D"/>
                </a:solidFill>
                <a:latin typeface="Inter" pitchFamily="34" charset="0"/>
                <a:cs typeface="Inter" pitchFamily="34" charset="0"/>
              </a:rPr>
              <a:t>écart de domaine chiffré</a:t>
            </a:r>
          </a:p>
          <a:p>
            <a:pPr algn="l">
              <a:lnSpc>
                <a:spcPct val="130000"/>
              </a:lnSpc>
            </a:pPr>
            <a:r>
              <a:rPr sz="1200" b="0" i="0">
                <a:solidFill>
                  <a:srgbClr val="93A79D"/>
                </a:solidFill>
                <a:latin typeface="Inter" pitchFamily="34" charset="0"/>
                <a:cs typeface="Inter" pitchFamily="34" charset="0"/>
              </a:rPr>
              <a:t>et déclaré.</a:t>
            </a:r>
          </a:p>
        </p:txBody>
      </p:sp>
      <p:sp>
        <p:nvSpPr>
          <p:cNvPr id="18" name="Rounded Rectangle 17"/>
          <p:cNvSpPr/>
          <p:nvPr/>
        </p:nvSpPr>
        <p:spPr>
          <a:xfrm>
            <a:off x="8072932" y="2212848"/>
            <a:ext cx="3405530" cy="1931822"/>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2932" y="2201875"/>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676" y="2505456"/>
            <a:ext cx="2930042" cy="509930"/>
          </a:xfrm>
          <a:prstGeom prst="rect">
            <a:avLst/>
          </a:prstGeom>
          <a:noFill/>
        </p:spPr>
        <p:txBody>
          <a:bodyPr wrap="square" lIns="0" rIns="0" tIns="0" bIns="0" anchor="t">
            <a:spAutoFit/>
          </a:bodyPr>
          <a:lstStyle/>
          <a:p>
            <a:pPr algn="l">
              <a:lnSpc>
                <a:spcPct val="112000"/>
              </a:lnSpc>
            </a:pPr>
            <a:r>
              <a:rPr sz="1400" b="1" i="0">
                <a:solidFill>
                  <a:srgbClr val="E9F2ED"/>
                </a:solidFill>
                <a:latin typeface="Space Grotesk" pitchFamily="34" charset="0"/>
                <a:cs typeface="Space Grotesk" pitchFamily="34" charset="0"/>
              </a:rPr>
              <a:t>Notre apport</a:t>
            </a:r>
          </a:p>
          <a:p>
            <a:pPr algn="l">
              <a:lnSpc>
                <a:spcPct val="112000"/>
              </a:lnSpc>
            </a:pPr>
            <a:r>
              <a:rPr sz="1400" b="1" i="0">
                <a:solidFill>
                  <a:srgbClr val="E9F2ED"/>
                </a:solidFill>
                <a:latin typeface="Space Grotesk" pitchFamily="34" charset="0"/>
                <a:cs typeface="Space Grotesk" pitchFamily="34" charset="0"/>
              </a:rPr>
              <a:t>est ailleurs</a:t>
            </a:r>
          </a:p>
        </p:txBody>
      </p:sp>
      <p:sp>
        <p:nvSpPr>
          <p:cNvPr id="21" name="TextBox 20"/>
          <p:cNvSpPr txBox="1"/>
          <p:nvPr/>
        </p:nvSpPr>
        <p:spPr>
          <a:xfrm>
            <a:off x="8310676" y="3161690"/>
            <a:ext cx="2930042" cy="745236"/>
          </a:xfrm>
          <a:prstGeom prst="rect">
            <a:avLst/>
          </a:prstGeom>
          <a:noFill/>
        </p:spPr>
        <p:txBody>
          <a:bodyPr wrap="square" lIns="0" rIns="0" tIns="0" bIns="0" anchor="t">
            <a:spAutoFit/>
          </a:bodyPr>
          <a:lstStyle/>
          <a:p>
            <a:pPr algn="l">
              <a:lnSpc>
                <a:spcPct val="130000"/>
              </a:lnSpc>
            </a:pPr>
            <a:r>
              <a:rPr sz="1200" b="0" i="0">
                <a:solidFill>
                  <a:srgbClr val="93A79D"/>
                </a:solidFill>
                <a:latin typeface="Inter" pitchFamily="34" charset="0"/>
                <a:cs typeface="Inter" pitchFamily="34" charset="0"/>
              </a:rPr>
              <a:t>Pas le classifieur :</a:t>
            </a:r>
          </a:p>
          <a:p>
            <a:pPr algn="l">
              <a:lnSpc>
                <a:spcPct val="130000"/>
              </a:lnSpc>
            </a:pPr>
            <a:r>
              <a:rPr sz="1200" b="0" i="0">
                <a:solidFill>
                  <a:srgbClr val="93A79D"/>
                </a:solidFill>
                <a:latin typeface="Inter" pitchFamily="34" charset="0"/>
                <a:cs typeface="Inter" pitchFamily="34" charset="0"/>
              </a:rPr>
              <a:t>le croisement avec</a:t>
            </a:r>
          </a:p>
          <a:p>
            <a:pPr algn="l">
              <a:lnSpc>
                <a:spcPct val="130000"/>
              </a:lnSpc>
            </a:pPr>
            <a:r>
              <a:rPr sz="1200" b="0" i="0">
                <a:solidFill>
                  <a:srgbClr val="93A79D"/>
                </a:solidFill>
                <a:latin typeface="Inter" pitchFamily="34" charset="0"/>
                <a:cs typeface="Inter" pitchFamily="34" charset="0"/>
              </a:rPr>
              <a:t>l'emprise du couloir.</a:t>
            </a:r>
          </a:p>
        </p:txBody>
      </p:sp>
      <p:sp>
        <p:nvSpPr>
          <p:cNvPr id="22" name="Rounded Rectangle 21"/>
          <p:cNvSpPr/>
          <p:nvPr/>
        </p:nvSpPr>
        <p:spPr>
          <a:xfrm>
            <a:off x="713232" y="4572000"/>
            <a:ext cx="10765231" cy="1225296"/>
          </a:xfrm>
          <a:prstGeom prst="roundRect">
            <a:avLst>
              <a:gd name="adj" fmla="val 10000"/>
            </a:avLst>
          </a:prstGeom>
          <a:solidFill>
            <a:srgbClr val="11201A"/>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809744"/>
            <a:ext cx="10106863" cy="755904"/>
          </a:xfrm>
          <a:prstGeom prst="rect">
            <a:avLst/>
          </a:prstGeom>
          <a:noFill/>
        </p:spPr>
        <p:txBody>
          <a:bodyPr wrap="square" lIns="0" rIns="0" tIns="0" bIns="0" anchor="t">
            <a:spAutoFit/>
          </a:bodyPr>
          <a:lstStyle/>
          <a:p>
            <a:pPr algn="l">
              <a:lnSpc>
                <a:spcPct val="125000"/>
              </a:lnSpc>
            </a:pPr>
            <a:r>
              <a:rPr sz="1900" b="1" i="0">
                <a:solidFill>
                  <a:srgbClr val="E9F2ED"/>
                </a:solidFill>
                <a:latin typeface="Space Grotesk" pitchFamily="34" charset="0"/>
                <a:cs typeface="Space Grotesk" pitchFamily="34" charset="0"/>
              </a:rPr>
              <a:t>Notre contribution n'est pas le classifieur.</a:t>
            </a:r>
          </a:p>
          <a:p>
            <a:pPr algn="l">
              <a:lnSpc>
                <a:spcPct val="125000"/>
              </a:lnSpc>
            </a:pPr>
            <a:r>
              <a:rPr sz="1900" b="1" i="0">
                <a:solidFill>
                  <a:srgbClr val="E9F2ED"/>
                </a:solidFill>
                <a:latin typeface="Space Grotesk" pitchFamily="34" charset="0"/>
                <a:cs typeface="Space Grotesk" pitchFamily="34" charset="0"/>
              </a:rPr>
              <a:t>C'est le produit de décision remis au comité communal.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11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LES DONNÉES</a:t>
            </a:r>
          </a:p>
        </p:txBody>
      </p:sp>
      <p:sp>
        <p:nvSpPr>
          <p:cNvPr id="8" name="TextBox 7"/>
          <p:cNvSpPr txBox="1"/>
          <p:nvPr/>
        </p:nvSpPr>
        <p:spPr>
          <a:xfrm>
            <a:off x="713232" y="932688"/>
            <a:ext cx="10765231" cy="516636"/>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Ce que nous utilisons, et ce qui manque.</a:t>
            </a:r>
          </a:p>
        </p:txBody>
      </p:sp>
      <p:sp>
        <p:nvSpPr>
          <p:cNvPr id="9" name="Rounded Rectangle 8"/>
          <p:cNvSpPr/>
          <p:nvPr/>
        </p:nvSpPr>
        <p:spPr>
          <a:xfrm>
            <a:off x="713232" y="2103120"/>
            <a:ext cx="6446520" cy="3877056"/>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2092147"/>
            <a:ext cx="644652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359152"/>
            <a:ext cx="5861304" cy="229819"/>
          </a:xfrm>
          <a:prstGeom prst="rect">
            <a:avLst/>
          </a:prstGeom>
          <a:noFill/>
        </p:spPr>
        <p:txBody>
          <a:bodyPr wrap="square" lIns="0" rIns="0" tIns="0" bIns="0" anchor="t">
            <a:spAutoFit/>
          </a:bodyPr>
          <a:lstStyle/>
          <a:p>
            <a:pPr algn="l">
              <a:lnSpc>
                <a:spcPct val="118000"/>
              </a:lnSpc>
            </a:pPr>
            <a:r>
              <a:rPr sz="1100" b="1" i="0">
                <a:solidFill>
                  <a:srgbClr val="34D399"/>
                </a:solidFill>
                <a:latin typeface="Inter" pitchFamily="34" charset="0"/>
                <a:cs typeface="Inter" pitchFamily="34" charset="0"/>
              </a:rPr>
              <a:t>LIBRE, OUVERT, UTILISÉ</a:t>
            </a:r>
          </a:p>
        </p:txBody>
      </p:sp>
      <p:sp>
        <p:nvSpPr>
          <p:cNvPr id="12" name="Oval 11"/>
          <p:cNvSpPr/>
          <p:nvPr/>
        </p:nvSpPr>
        <p:spPr>
          <a:xfrm>
            <a:off x="1024128" y="2871216"/>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2779776"/>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Sentinel-2</a:t>
            </a:r>
          </a:p>
        </p:txBody>
      </p:sp>
      <p:sp>
        <p:nvSpPr>
          <p:cNvPr id="14" name="TextBox 13"/>
          <p:cNvSpPr txBox="1"/>
          <p:nvPr/>
        </p:nvSpPr>
        <p:spPr>
          <a:xfrm>
            <a:off x="4023360" y="2779776"/>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optique 10 m · Copernicus</a:t>
            </a:r>
          </a:p>
        </p:txBody>
      </p:sp>
      <p:sp>
        <p:nvSpPr>
          <p:cNvPr id="15" name="Oval 14"/>
          <p:cNvSpPr/>
          <p:nvPr/>
        </p:nvSpPr>
        <p:spPr>
          <a:xfrm>
            <a:off x="1024128" y="321868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3127248"/>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EOX s2cloudless</a:t>
            </a:r>
          </a:p>
        </p:txBody>
      </p:sp>
      <p:sp>
        <p:nvSpPr>
          <p:cNvPr id="17" name="TextBox 16"/>
          <p:cNvSpPr txBox="1"/>
          <p:nvPr/>
        </p:nvSpPr>
        <p:spPr>
          <a:xfrm>
            <a:off x="4023360" y="3127248"/>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tuiles réelles, sans clé, en cache</a:t>
            </a:r>
          </a:p>
        </p:txBody>
      </p:sp>
      <p:sp>
        <p:nvSpPr>
          <p:cNvPr id="18" name="Oval 17"/>
          <p:cNvSpPr/>
          <p:nvPr/>
        </p:nvSpPr>
        <p:spPr>
          <a:xfrm>
            <a:off x="1024128" y="356616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 y="3474720"/>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EuroSAT (Zenodo)</a:t>
            </a:r>
          </a:p>
        </p:txBody>
      </p:sp>
      <p:sp>
        <p:nvSpPr>
          <p:cNvPr id="20" name="TextBox 19"/>
          <p:cNvSpPr txBox="1"/>
          <p:nvPr/>
        </p:nvSpPr>
        <p:spPr>
          <a:xfrm>
            <a:off x="4023360" y="3474720"/>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27 000 vignettes étiquetées</a:t>
            </a:r>
          </a:p>
        </p:txBody>
      </p:sp>
      <p:sp>
        <p:nvSpPr>
          <p:cNvPr id="21" name="Oval 20"/>
          <p:cNvSpPr/>
          <p:nvPr/>
        </p:nvSpPr>
        <p:spPr>
          <a:xfrm>
            <a:off x="1024128" y="3913631"/>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1872" y="3822191"/>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Sentinel-1</a:t>
            </a:r>
          </a:p>
        </p:txBody>
      </p:sp>
      <p:sp>
        <p:nvSpPr>
          <p:cNvPr id="23" name="TextBox 22"/>
          <p:cNvSpPr txBox="1"/>
          <p:nvPr/>
        </p:nvSpPr>
        <p:spPr>
          <a:xfrm>
            <a:off x="4023360" y="3822191"/>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radar · non encore implémenté</a:t>
            </a:r>
          </a:p>
        </p:txBody>
      </p:sp>
      <p:sp>
        <p:nvSpPr>
          <p:cNvPr id="24" name="Oval 23"/>
          <p:cNvSpPr/>
          <p:nvPr/>
        </p:nvSpPr>
        <p:spPr>
          <a:xfrm>
            <a:off x="1024128" y="4261104"/>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61872" y="4169664"/>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Dynamic World V1</a:t>
            </a:r>
          </a:p>
        </p:txBody>
      </p:sp>
      <p:sp>
        <p:nvSpPr>
          <p:cNvPr id="26" name="TextBox 25"/>
          <p:cNvSpPr txBox="1"/>
          <p:nvPr/>
        </p:nvSpPr>
        <p:spPr>
          <a:xfrm>
            <a:off x="4023360" y="4169664"/>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occupation du sol quasi temps réel</a:t>
            </a:r>
          </a:p>
        </p:txBody>
      </p:sp>
      <p:sp>
        <p:nvSpPr>
          <p:cNvPr id="27" name="Oval 26"/>
          <p:cNvSpPr/>
          <p:nvPr/>
        </p:nvSpPr>
        <p:spPr>
          <a:xfrm>
            <a:off x="1024128" y="4608575"/>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61872" y="4517136"/>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ESA WorldCover v200</a:t>
            </a:r>
          </a:p>
        </p:txBody>
      </p:sp>
      <p:sp>
        <p:nvSpPr>
          <p:cNvPr id="29" name="TextBox 28"/>
          <p:cNvSpPr txBox="1"/>
          <p:nvPr/>
        </p:nvSpPr>
        <p:spPr>
          <a:xfrm>
            <a:off x="4023360" y="4517136"/>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10 m · 11 classes dont cropland</a:t>
            </a:r>
          </a:p>
        </p:txBody>
      </p:sp>
      <p:sp>
        <p:nvSpPr>
          <p:cNvPr id="30" name="Oval 29"/>
          <p:cNvSpPr/>
          <p:nvPr/>
        </p:nvSpPr>
        <p:spPr>
          <a:xfrm>
            <a:off x="1024128" y="4956048"/>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61872" y="4864608"/>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OpenStreetMap Bénin</a:t>
            </a:r>
          </a:p>
        </p:txBody>
      </p:sp>
      <p:sp>
        <p:nvSpPr>
          <p:cNvPr id="32" name="TextBox 31"/>
          <p:cNvSpPr txBox="1"/>
          <p:nvPr/>
        </p:nvSpPr>
        <p:spPr>
          <a:xfrm>
            <a:off x="4023360" y="4864608"/>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Geofabrik</a:t>
            </a:r>
          </a:p>
        </p:txBody>
      </p:sp>
      <p:sp>
        <p:nvSpPr>
          <p:cNvPr id="33" name="Oval 32"/>
          <p:cNvSpPr/>
          <p:nvPr/>
        </p:nvSpPr>
        <p:spPr>
          <a:xfrm>
            <a:off x="1024128" y="5303520"/>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1872" y="5212080"/>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Limites administratives</a:t>
            </a:r>
          </a:p>
        </p:txBody>
      </p:sp>
      <p:sp>
        <p:nvSpPr>
          <p:cNvPr id="35" name="TextBox 34"/>
          <p:cNvSpPr txBox="1"/>
          <p:nvPr/>
        </p:nvSpPr>
        <p:spPr>
          <a:xfrm>
            <a:off x="4023360" y="5212080"/>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HDX</a:t>
            </a:r>
          </a:p>
        </p:txBody>
      </p:sp>
      <p:sp>
        <p:nvSpPr>
          <p:cNvPr id="36" name="Oval 35"/>
          <p:cNvSpPr/>
          <p:nvPr/>
        </p:nvSpPr>
        <p:spPr>
          <a:xfrm>
            <a:off x="1024128" y="5650992"/>
            <a:ext cx="82296" cy="8229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61872" y="5559552"/>
            <a:ext cx="2697480" cy="256794"/>
          </a:xfrm>
          <a:prstGeom prst="rect">
            <a:avLst/>
          </a:prstGeom>
          <a:noFill/>
        </p:spPr>
        <p:txBody>
          <a:bodyPr wrap="square" lIns="0" rIns="0" tIns="0" bIns="0" anchor="t">
            <a:spAutoFit/>
          </a:bodyPr>
          <a:lstStyle/>
          <a:p>
            <a:pPr algn="l">
              <a:lnSpc>
                <a:spcPct val="118000"/>
              </a:lnSpc>
            </a:pPr>
            <a:r>
              <a:rPr sz="1250" b="0" i="0">
                <a:solidFill>
                  <a:srgbClr val="E9F2ED"/>
                </a:solidFill>
                <a:latin typeface="Inter" pitchFamily="34" charset="0"/>
                <a:cs typeface="Inter" pitchFamily="34" charset="0"/>
              </a:rPr>
              <a:t>OIM TTT-DTM</a:t>
            </a:r>
          </a:p>
        </p:txBody>
      </p:sp>
      <p:sp>
        <p:nvSpPr>
          <p:cNvPr id="38" name="TextBox 37"/>
          <p:cNvSpPr txBox="1"/>
          <p:nvPr/>
        </p:nvSpPr>
        <p:spPr>
          <a:xfrm>
            <a:off x="4023360" y="5559552"/>
            <a:ext cx="2843784" cy="238810"/>
          </a:xfrm>
          <a:prstGeom prst="rect">
            <a:avLst/>
          </a:prstGeom>
          <a:noFill/>
        </p:spPr>
        <p:txBody>
          <a:bodyPr wrap="square" lIns="0" rIns="0" tIns="0" bIns="0" anchor="t">
            <a:spAutoFit/>
          </a:bodyPr>
          <a:lstStyle/>
          <a:p>
            <a:pPr algn="l">
              <a:lnSpc>
                <a:spcPct val="118000"/>
              </a:lnSpc>
            </a:pPr>
            <a:r>
              <a:rPr sz="1150" b="0" i="0">
                <a:solidFill>
                  <a:srgbClr val="93A79D"/>
                </a:solidFill>
                <a:latin typeface="Inter" pitchFamily="34" charset="0"/>
                <a:cs typeface="Inter" pitchFamily="34" charset="0"/>
              </a:rPr>
              <a:t>mouvements de transhumance</a:t>
            </a:r>
          </a:p>
        </p:txBody>
      </p:sp>
      <p:sp>
        <p:nvSpPr>
          <p:cNvPr id="39" name="Rounded Rectangle 38"/>
          <p:cNvSpPr/>
          <p:nvPr/>
        </p:nvSpPr>
        <p:spPr>
          <a:xfrm>
            <a:off x="7525512" y="2103120"/>
            <a:ext cx="3952951" cy="1847088"/>
          </a:xfrm>
          <a:prstGeom prst="roundRect">
            <a:avLst>
              <a:gd name="adj" fmla="val 10000"/>
            </a:avLst>
          </a:prstGeom>
          <a:solidFill>
            <a:srgbClr val="11201A"/>
          </a:solidFill>
          <a:ln w="12700">
            <a:solidFill>
              <a:srgbClr val="F5B5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25512" y="2092147"/>
            <a:ext cx="3952951"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18120" y="2359152"/>
            <a:ext cx="3367735" cy="229819"/>
          </a:xfrm>
          <a:prstGeom prst="rect">
            <a:avLst/>
          </a:prstGeom>
          <a:noFill/>
        </p:spPr>
        <p:txBody>
          <a:bodyPr wrap="square" lIns="0" rIns="0" tIns="0" bIns="0" anchor="t">
            <a:spAutoFit/>
          </a:bodyPr>
          <a:lstStyle/>
          <a:p>
            <a:pPr algn="l">
              <a:lnSpc>
                <a:spcPct val="118000"/>
              </a:lnSpc>
            </a:pPr>
            <a:r>
              <a:rPr sz="1100" b="1" i="0">
                <a:solidFill>
                  <a:srgbClr val="F5B544"/>
                </a:solidFill>
                <a:latin typeface="Inter" pitchFamily="34" charset="0"/>
                <a:cs typeface="Inter" pitchFamily="34" charset="0"/>
              </a:rPr>
              <a:t>CE QUI MANQUE</a:t>
            </a:r>
          </a:p>
        </p:txBody>
      </p:sp>
      <p:sp>
        <p:nvSpPr>
          <p:cNvPr id="42" name="TextBox 41"/>
          <p:cNvSpPr txBox="1"/>
          <p:nvPr/>
        </p:nvSpPr>
        <p:spPr>
          <a:xfrm>
            <a:off x="7818120" y="2743200"/>
            <a:ext cx="3367735" cy="1037844"/>
          </a:xfrm>
          <a:prstGeom prst="rect">
            <a:avLst/>
          </a:prstGeom>
          <a:noFill/>
        </p:spPr>
        <p:txBody>
          <a:bodyPr wrap="square" lIns="0" rIns="0" tIns="0" bIns="0" anchor="t">
            <a:spAutoFit/>
          </a:bodyPr>
          <a:lstStyle/>
          <a:p>
            <a:pPr algn="l">
              <a:lnSpc>
                <a:spcPct val="132000"/>
              </a:lnSpc>
            </a:pPr>
            <a:r>
              <a:rPr sz="1250" b="0" i="0">
                <a:solidFill>
                  <a:srgbClr val="93A79D"/>
                </a:solidFill>
                <a:latin typeface="Inter" pitchFamily="34" charset="0"/>
                <a:cs typeface="Inter" pitchFamily="34" charset="0"/>
              </a:rPr>
              <a:t>Aucun jeu ouvert de polygones</a:t>
            </a:r>
          </a:p>
          <a:p>
            <a:pPr algn="l">
              <a:lnSpc>
                <a:spcPct val="132000"/>
              </a:lnSpc>
            </a:pPr>
            <a:r>
              <a:rPr sz="1250" b="0" i="0">
                <a:solidFill>
                  <a:srgbClr val="93A79D"/>
                </a:solidFill>
                <a:latin typeface="Inter" pitchFamily="34" charset="0"/>
                <a:cs typeface="Inter" pitchFamily="34" charset="0"/>
              </a:rPr>
              <a:t>de couloirs au Bénin.</a:t>
            </a:r>
          </a:p>
          <a:p>
            <a:pPr algn="l">
              <a:lnSpc>
                <a:spcPct val="132000"/>
              </a:lnSpc>
            </a:pPr>
            <a:r>
              <a:rPr sz="1250" b="0" i="0">
                <a:solidFill>
                  <a:srgbClr val="93A79D"/>
                </a:solidFill>
                <a:latin typeface="Inter" pitchFamily="34" charset="0"/>
                <a:cs typeface="Inter" pitchFamily="34" charset="0"/>
              </a:rPr>
              <a:t>Le PFR de l'ANDF existe, mais fermé.</a:t>
            </a:r>
          </a:p>
          <a:p>
            <a:pPr algn="l">
              <a:lnSpc>
                <a:spcPct val="132000"/>
              </a:lnSpc>
            </a:pPr>
            <a:r>
              <a:rPr sz="1250" b="0" i="0">
                <a:solidFill>
                  <a:srgbClr val="93A79D"/>
                </a:solidFill>
                <a:latin typeface="Inter" pitchFamily="34" charset="0"/>
                <a:cs typeface="Inter" pitchFamily="34" charset="0"/>
              </a:rPr>
              <a:t>Aucune parcelle annotée sur zone.</a:t>
            </a:r>
          </a:p>
        </p:txBody>
      </p:sp>
      <p:sp>
        <p:nvSpPr>
          <p:cNvPr id="43" name="Rounded Rectangle 42"/>
          <p:cNvSpPr/>
          <p:nvPr/>
        </p:nvSpPr>
        <p:spPr>
          <a:xfrm>
            <a:off x="7525512" y="4151376"/>
            <a:ext cx="3952951" cy="1773936"/>
          </a:xfrm>
          <a:prstGeom prst="roundRect">
            <a:avLst>
              <a:gd name="adj" fmla="val 10000"/>
            </a:avLst>
          </a:prstGeom>
          <a:solidFill>
            <a:srgbClr val="11201A"/>
          </a:solidFill>
          <a:ln w="12700">
            <a:solidFill>
              <a:srgbClr val="D9B4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25512" y="4140403"/>
            <a:ext cx="3952951"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18120" y="4407408"/>
            <a:ext cx="3367735" cy="229819"/>
          </a:xfrm>
          <a:prstGeom prst="rect">
            <a:avLst/>
          </a:prstGeom>
          <a:noFill/>
        </p:spPr>
        <p:txBody>
          <a:bodyPr wrap="square" lIns="0" rIns="0" tIns="0" bIns="0" anchor="t">
            <a:spAutoFit/>
          </a:bodyPr>
          <a:lstStyle/>
          <a:p>
            <a:pPr algn="l">
              <a:lnSpc>
                <a:spcPct val="118000"/>
              </a:lnSpc>
            </a:pPr>
            <a:r>
              <a:rPr sz="1100" b="1" i="0">
                <a:solidFill>
                  <a:srgbClr val="D9B48F"/>
                </a:solidFill>
                <a:latin typeface="Inter" pitchFamily="34" charset="0"/>
                <a:cs typeface="Inter" pitchFamily="34" charset="0"/>
              </a:rPr>
              <a:t>CE QUE NOUS FAISONS</a:t>
            </a:r>
          </a:p>
        </p:txBody>
      </p:sp>
      <p:sp>
        <p:nvSpPr>
          <p:cNvPr id="46" name="TextBox 45"/>
          <p:cNvSpPr txBox="1"/>
          <p:nvPr/>
        </p:nvSpPr>
        <p:spPr>
          <a:xfrm>
            <a:off x="7818120" y="4791456"/>
            <a:ext cx="3367735" cy="1037844"/>
          </a:xfrm>
          <a:prstGeom prst="rect">
            <a:avLst/>
          </a:prstGeom>
          <a:noFill/>
        </p:spPr>
        <p:txBody>
          <a:bodyPr wrap="square" lIns="0" rIns="0" tIns="0" bIns="0" anchor="t">
            <a:spAutoFit/>
          </a:bodyPr>
          <a:lstStyle/>
          <a:p>
            <a:pPr algn="l">
              <a:lnSpc>
                <a:spcPct val="132000"/>
              </a:lnSpc>
            </a:pPr>
            <a:r>
              <a:rPr sz="1250" b="0" i="0">
                <a:solidFill>
                  <a:srgbClr val="E9F2ED"/>
                </a:solidFill>
                <a:latin typeface="Inter" pitchFamily="34" charset="0"/>
                <a:cs typeface="Inter" pitchFamily="34" charset="0"/>
              </a:rPr>
              <a:t>L'emprise du couloir est reconstituée</a:t>
            </a:r>
          </a:p>
          <a:p>
            <a:pPr algn="l">
              <a:lnSpc>
                <a:spcPct val="132000"/>
              </a:lnSpc>
            </a:pPr>
            <a:r>
              <a:rPr sz="1250" b="0" i="0">
                <a:solidFill>
                  <a:srgbClr val="E9F2ED"/>
                </a:solidFill>
                <a:latin typeface="Inter" pitchFamily="34" charset="0"/>
                <a:cs typeface="Inter" pitchFamily="34" charset="0"/>
              </a:rPr>
              <a:t>par l'équipe, sans valeur officielle.</a:t>
            </a:r>
          </a:p>
          <a:p>
            <a:pPr algn="l">
              <a:lnSpc>
                <a:spcPct val="132000"/>
              </a:lnSpc>
            </a:pPr>
            <a:r>
              <a:rPr sz="1250" b="0" i="0">
                <a:solidFill>
                  <a:srgbClr val="E9F2ED"/>
                </a:solidFill>
                <a:latin typeface="Inter" pitchFamily="34" charset="0"/>
                <a:cs typeface="Inter" pitchFamily="34" charset="0"/>
              </a:rPr>
              <a:t>Les couches géographiques</a:t>
            </a:r>
          </a:p>
          <a:p>
            <a:pPr algn="l">
              <a:lnSpc>
                <a:spcPct val="132000"/>
              </a:lnSpc>
            </a:pPr>
            <a:r>
              <a:rPr sz="1250" b="0" i="0">
                <a:solidFill>
                  <a:srgbClr val="E9F2ED"/>
                </a:solidFill>
                <a:latin typeface="Inter" pitchFamily="34" charset="0"/>
                <a:cs typeface="Inter" pitchFamily="34" charset="0"/>
              </a:rPr>
              <a:t>sont générées.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12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IA ET LANGUES LOCALES</a:t>
            </a:r>
          </a:p>
        </p:txBody>
      </p:sp>
      <p:sp>
        <p:nvSpPr>
          <p:cNvPr id="8" name="TextBox 7"/>
          <p:cNvSpPr txBox="1"/>
          <p:nvPr/>
        </p:nvSpPr>
        <p:spPr>
          <a:xfrm>
            <a:off x="713232" y="932688"/>
            <a:ext cx="10765231" cy="516636"/>
          </a:xfrm>
          <a:prstGeom prst="rect">
            <a:avLst/>
          </a:prstGeom>
          <a:noFill/>
        </p:spPr>
        <p:txBody>
          <a:bodyPr wrap="square" lIns="0" rIns="0" tIns="0" bIns="0" anchor="t">
            <a:spAutoFit/>
          </a:bodyPr>
          <a:lstStyle/>
          <a:p>
            <a:pPr algn="l">
              <a:lnSpc>
                <a:spcPct val="106000"/>
              </a:lnSpc>
            </a:pPr>
            <a:r>
              <a:rPr sz="3000" b="1" i="0">
                <a:solidFill>
                  <a:srgbClr val="E9F2ED"/>
                </a:solidFill>
                <a:latin typeface="Space Grotesk" pitchFamily="34" charset="0"/>
                <a:cs typeface="Space Grotesk" pitchFamily="34" charset="0"/>
              </a:rPr>
              <a:t>L'éleveur dans la boucle.</a:t>
            </a:r>
          </a:p>
        </p:txBody>
      </p:sp>
      <p:sp>
        <p:nvSpPr>
          <p:cNvPr id="9" name="TextBox 8"/>
          <p:cNvSpPr txBox="1"/>
          <p:nvPr/>
        </p:nvSpPr>
        <p:spPr>
          <a:xfrm>
            <a:off x="713232" y="1613916"/>
            <a:ext cx="10216591" cy="305104"/>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Une décision que son destinataire ne peut pas lire n'est pas une décision diffusée.</a:t>
            </a:r>
          </a:p>
        </p:txBody>
      </p:sp>
      <p:sp>
        <p:nvSpPr>
          <p:cNvPr id="10" name="Rounded Rectangle 9"/>
          <p:cNvSpPr/>
          <p:nvPr/>
        </p:nvSpPr>
        <p:spPr>
          <a:xfrm>
            <a:off x="713232" y="2788920"/>
            <a:ext cx="2487168" cy="1417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77947"/>
            <a:ext cx="2487168"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063239"/>
            <a:ext cx="2048256" cy="266700"/>
          </a:xfrm>
          <a:prstGeom prst="rect">
            <a:avLst/>
          </a:prstGeom>
          <a:noFill/>
        </p:spPr>
        <p:txBody>
          <a:bodyPr wrap="square" lIns="0" rIns="0" tIns="0" bIns="0" anchor="t">
            <a:spAutoFit/>
          </a:bodyPr>
          <a:lstStyle/>
          <a:p>
            <a:pPr algn="l">
              <a:lnSpc>
                <a:spcPct val="110000"/>
              </a:lnSpc>
            </a:pPr>
            <a:r>
              <a:rPr sz="1400" b="1" i="0">
                <a:solidFill>
                  <a:srgbClr val="E9F2ED"/>
                </a:solidFill>
                <a:latin typeface="Space Grotesk" pitchFamily="34" charset="0"/>
                <a:cs typeface="Space Grotesk" pitchFamily="34" charset="0"/>
              </a:rPr>
              <a:t>Comité</a:t>
            </a:r>
          </a:p>
        </p:txBody>
      </p:sp>
      <p:sp>
        <p:nvSpPr>
          <p:cNvPr id="13" name="TextBox 12"/>
          <p:cNvSpPr txBox="1"/>
          <p:nvPr/>
        </p:nvSpPr>
        <p:spPr>
          <a:xfrm>
            <a:off x="932688" y="3666744"/>
            <a:ext cx="2048256" cy="451103"/>
          </a:xfrm>
          <a:prstGeom prst="rect">
            <a:avLst/>
          </a:prstGeom>
          <a:noFill/>
        </p:spPr>
        <p:txBody>
          <a:bodyPr wrap="square" lIns="0" rIns="0" tIns="0" bIns="0" anchor="t">
            <a:spAutoFit/>
          </a:bodyPr>
          <a:lstStyle/>
          <a:p>
            <a:pPr algn="l">
              <a:lnSpc>
                <a:spcPct val="125000"/>
              </a:lnSpc>
            </a:pPr>
            <a:r>
              <a:rPr sz="1100" b="0" i="0">
                <a:solidFill>
                  <a:srgbClr val="93A79D"/>
                </a:solidFill>
                <a:latin typeface="Inter" pitchFamily="34" charset="0"/>
                <a:cs typeface="Inter" pitchFamily="34" charset="0"/>
              </a:rPr>
              <a:t>maintien · ajustement</a:t>
            </a:r>
          </a:p>
          <a:p>
            <a:pPr algn="l">
              <a:lnSpc>
                <a:spcPct val="125000"/>
              </a:lnSpc>
            </a:pPr>
            <a:r>
              <a:rPr sz="1100" b="0" i="0">
                <a:solidFill>
                  <a:srgbClr val="93A79D"/>
                </a:solidFill>
                <a:latin typeface="Inter" pitchFamily="34" charset="0"/>
                <a:cs typeface="Inter" pitchFamily="34" charset="0"/>
              </a:rPr>
              <a:t>contournement</a:t>
            </a:r>
          </a:p>
        </p:txBody>
      </p:sp>
      <p:sp>
        <p:nvSpPr>
          <p:cNvPr id="14" name="Right Arrow 13"/>
          <p:cNvSpPr/>
          <p:nvPr/>
        </p:nvSpPr>
        <p:spPr>
          <a:xfrm>
            <a:off x="3300984" y="3447287"/>
            <a:ext cx="274320" cy="100584"/>
          </a:xfrm>
          <a:prstGeom prst="rightArrow">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75888" y="2788920"/>
            <a:ext cx="2487168" cy="1417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75888" y="2777947"/>
            <a:ext cx="2487168"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95344" y="3063239"/>
            <a:ext cx="2048256" cy="266700"/>
          </a:xfrm>
          <a:prstGeom prst="rect">
            <a:avLst/>
          </a:prstGeom>
          <a:noFill/>
        </p:spPr>
        <p:txBody>
          <a:bodyPr wrap="square" lIns="0" rIns="0" tIns="0" bIns="0" anchor="t">
            <a:spAutoFit/>
          </a:bodyPr>
          <a:lstStyle/>
          <a:p>
            <a:pPr algn="l">
              <a:lnSpc>
                <a:spcPct val="110000"/>
              </a:lnSpc>
            </a:pPr>
            <a:r>
              <a:rPr sz="1400" b="1" i="0">
                <a:solidFill>
                  <a:srgbClr val="E9F2ED"/>
                </a:solidFill>
                <a:latin typeface="Space Grotesk" pitchFamily="34" charset="0"/>
                <a:cs typeface="Space Grotesk" pitchFamily="34" charset="0"/>
              </a:rPr>
              <a:t>Message vocal</a:t>
            </a:r>
          </a:p>
        </p:txBody>
      </p:sp>
      <p:sp>
        <p:nvSpPr>
          <p:cNvPr id="18" name="TextBox 17"/>
          <p:cNvSpPr txBox="1"/>
          <p:nvPr/>
        </p:nvSpPr>
        <p:spPr>
          <a:xfrm>
            <a:off x="3895344" y="3666744"/>
            <a:ext cx="2048256" cy="241554"/>
          </a:xfrm>
          <a:prstGeom prst="rect">
            <a:avLst/>
          </a:prstGeom>
          <a:noFill/>
        </p:spPr>
        <p:txBody>
          <a:bodyPr wrap="square" lIns="0" rIns="0" tIns="0" bIns="0" anchor="t">
            <a:spAutoFit/>
          </a:bodyPr>
          <a:lstStyle/>
          <a:p>
            <a:pPr algn="l">
              <a:lnSpc>
                <a:spcPct val="125000"/>
              </a:lnSpc>
            </a:pPr>
            <a:r>
              <a:rPr sz="1100" b="0" i="0">
                <a:solidFill>
                  <a:srgbClr val="93A79D"/>
                </a:solidFill>
                <a:latin typeface="Inter" pitchFamily="34" charset="0"/>
                <a:cs typeface="Inter" pitchFamily="34" charset="0"/>
              </a:rPr>
              <a:t>synthèse en fulfulde</a:t>
            </a:r>
          </a:p>
        </p:txBody>
      </p:sp>
      <p:sp>
        <p:nvSpPr>
          <p:cNvPr id="19" name="Right Arrow 18"/>
          <p:cNvSpPr/>
          <p:nvPr/>
        </p:nvSpPr>
        <p:spPr>
          <a:xfrm>
            <a:off x="6263640" y="3447287"/>
            <a:ext cx="274320" cy="100584"/>
          </a:xfrm>
          <a:prstGeom prst="rightArrow">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38544" y="2788920"/>
            <a:ext cx="2487168" cy="1417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38544" y="2777947"/>
            <a:ext cx="2487168"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063239"/>
            <a:ext cx="2048256" cy="266700"/>
          </a:xfrm>
          <a:prstGeom prst="rect">
            <a:avLst/>
          </a:prstGeom>
          <a:noFill/>
        </p:spPr>
        <p:txBody>
          <a:bodyPr wrap="square" lIns="0" rIns="0" tIns="0" bIns="0" anchor="t">
            <a:spAutoFit/>
          </a:bodyPr>
          <a:lstStyle/>
          <a:p>
            <a:pPr algn="l">
              <a:lnSpc>
                <a:spcPct val="110000"/>
              </a:lnSpc>
            </a:pPr>
            <a:r>
              <a:rPr sz="1400" b="1" i="0">
                <a:solidFill>
                  <a:srgbClr val="E9F2ED"/>
                </a:solidFill>
                <a:latin typeface="Space Grotesk" pitchFamily="34" charset="0"/>
                <a:cs typeface="Space Grotesk" pitchFamily="34" charset="0"/>
              </a:rPr>
              <a:t>WhatsApp / radio</a:t>
            </a:r>
          </a:p>
        </p:txBody>
      </p:sp>
      <p:sp>
        <p:nvSpPr>
          <p:cNvPr id="23" name="TextBox 22"/>
          <p:cNvSpPr txBox="1"/>
          <p:nvPr/>
        </p:nvSpPr>
        <p:spPr>
          <a:xfrm>
            <a:off x="6858000" y="3666744"/>
            <a:ext cx="2048256" cy="241554"/>
          </a:xfrm>
          <a:prstGeom prst="rect">
            <a:avLst/>
          </a:prstGeom>
          <a:noFill/>
        </p:spPr>
        <p:txBody>
          <a:bodyPr wrap="square" lIns="0" rIns="0" tIns="0" bIns="0" anchor="t">
            <a:spAutoFit/>
          </a:bodyPr>
          <a:lstStyle/>
          <a:p>
            <a:pPr algn="l">
              <a:lnSpc>
                <a:spcPct val="125000"/>
              </a:lnSpc>
            </a:pPr>
            <a:r>
              <a:rPr sz="1100" b="0" i="0">
                <a:solidFill>
                  <a:srgbClr val="93A79D"/>
                </a:solidFill>
                <a:latin typeface="Inter" pitchFamily="34" charset="0"/>
                <a:cs typeface="Inter" pitchFamily="34" charset="0"/>
              </a:rPr>
              <a:t>canaux déjà utilisés</a:t>
            </a:r>
          </a:p>
        </p:txBody>
      </p:sp>
      <p:sp>
        <p:nvSpPr>
          <p:cNvPr id="24" name="Right Arrow 23"/>
          <p:cNvSpPr/>
          <p:nvPr/>
        </p:nvSpPr>
        <p:spPr>
          <a:xfrm>
            <a:off x="9226296" y="3447287"/>
            <a:ext cx="274320" cy="100584"/>
          </a:xfrm>
          <a:prstGeom prst="rightArrow">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1200" y="2788920"/>
            <a:ext cx="2487168" cy="141732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200" y="2777947"/>
            <a:ext cx="2487168"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0656" y="3063239"/>
            <a:ext cx="2048256" cy="501396"/>
          </a:xfrm>
          <a:prstGeom prst="rect">
            <a:avLst/>
          </a:prstGeom>
          <a:noFill/>
        </p:spPr>
        <p:txBody>
          <a:bodyPr wrap="square" lIns="0" rIns="0" tIns="0" bIns="0" anchor="t">
            <a:spAutoFit/>
          </a:bodyPr>
          <a:lstStyle/>
          <a:p>
            <a:pPr algn="l">
              <a:lnSpc>
                <a:spcPct val="110000"/>
              </a:lnSpc>
            </a:pPr>
            <a:r>
              <a:rPr sz="1400" b="1" i="0">
                <a:solidFill>
                  <a:srgbClr val="E9F2ED"/>
                </a:solidFill>
                <a:latin typeface="Space Grotesk" pitchFamily="34" charset="0"/>
                <a:cs typeface="Space Grotesk" pitchFamily="34" charset="0"/>
              </a:rPr>
              <a:t>Représentants</a:t>
            </a:r>
          </a:p>
          <a:p>
            <a:pPr algn="l">
              <a:lnSpc>
                <a:spcPct val="110000"/>
              </a:lnSpc>
            </a:pPr>
            <a:r>
              <a:rPr sz="1400" b="1" i="0">
                <a:solidFill>
                  <a:srgbClr val="E9F2ED"/>
                </a:solidFill>
                <a:latin typeface="Space Grotesk" pitchFamily="34" charset="0"/>
                <a:cs typeface="Space Grotesk" pitchFamily="34" charset="0"/>
              </a:rPr>
              <a:t>d'éleveurs</a:t>
            </a:r>
          </a:p>
        </p:txBody>
      </p:sp>
      <p:sp>
        <p:nvSpPr>
          <p:cNvPr id="28" name="TextBox 27"/>
          <p:cNvSpPr txBox="1"/>
          <p:nvPr/>
        </p:nvSpPr>
        <p:spPr>
          <a:xfrm>
            <a:off x="9820656" y="3666744"/>
            <a:ext cx="2048256" cy="241554"/>
          </a:xfrm>
          <a:prstGeom prst="rect">
            <a:avLst/>
          </a:prstGeom>
          <a:noFill/>
        </p:spPr>
        <p:txBody>
          <a:bodyPr wrap="square" lIns="0" rIns="0" tIns="0" bIns="0" anchor="t">
            <a:spAutoFit/>
          </a:bodyPr>
          <a:lstStyle/>
          <a:p>
            <a:pPr algn="l">
              <a:lnSpc>
                <a:spcPct val="125000"/>
              </a:lnSpc>
            </a:pPr>
            <a:r>
              <a:rPr sz="1100" b="0" i="0">
                <a:solidFill>
                  <a:srgbClr val="93A79D"/>
                </a:solidFill>
                <a:latin typeface="Inter" pitchFamily="34" charset="0"/>
                <a:cs typeface="Inter" pitchFamily="34" charset="0"/>
              </a:rPr>
              <a:t>avant le départ</a:t>
            </a:r>
          </a:p>
        </p:txBody>
      </p:sp>
      <p:sp>
        <p:nvSpPr>
          <p:cNvPr id="29" name="TextBox 28"/>
          <p:cNvSpPr txBox="1"/>
          <p:nvPr/>
        </p:nvSpPr>
        <p:spPr>
          <a:xfrm>
            <a:off x="713232" y="4626864"/>
            <a:ext cx="10789920" cy="649224"/>
          </a:xfrm>
          <a:prstGeom prst="rect">
            <a:avLst/>
          </a:prstGeom>
          <a:noFill/>
        </p:spPr>
        <p:txBody>
          <a:bodyPr wrap="square" lIns="0" rIns="0" tIns="0" bIns="0" anchor="t">
            <a:spAutoFit/>
          </a:bodyPr>
          <a:lstStyle/>
          <a:p>
            <a:pPr algn="l">
              <a:lnSpc>
                <a:spcPct val="135000"/>
              </a:lnSpc>
            </a:pPr>
            <a:r>
              <a:rPr sz="1500" b="0" i="0">
                <a:solidFill>
                  <a:srgbClr val="E9F2ED"/>
                </a:solidFill>
                <a:latin typeface="Inter" pitchFamily="34" charset="0"/>
                <a:cs typeface="Inter" pitchFamily="34" charset="0"/>
              </a:rPr>
              <a:t>Le fulfulde est la langue des éleveurs transhumants du nord Bénin.</a:t>
            </a:r>
          </a:p>
          <a:p>
            <a:pPr algn="l">
              <a:lnSpc>
                <a:spcPct val="135000"/>
              </a:lnSpc>
            </a:pPr>
            <a:r>
              <a:rPr sz="1500" b="0" i="0">
                <a:solidFill>
                  <a:srgbClr val="E9F2ED"/>
                </a:solidFill>
                <a:latin typeface="Inter" pitchFamily="34" charset="0"/>
                <a:cs typeface="Inter" pitchFamily="34" charset="0"/>
              </a:rPr>
              <a:t>La décision circule dans la langue où elle sera appliquée.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13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GOUVERNANCE ET RISQUE</a:t>
            </a:r>
          </a:p>
        </p:txBody>
      </p:sp>
      <p:sp>
        <p:nvSpPr>
          <p:cNvPr id="8" name="TextBox 7"/>
          <p:cNvSpPr txBox="1"/>
          <p:nvPr/>
        </p:nvSpPr>
        <p:spPr>
          <a:xfrm>
            <a:off x="713232" y="932688"/>
            <a:ext cx="10765231" cy="484327"/>
          </a:xfrm>
          <a:prstGeom prst="rect">
            <a:avLst/>
          </a:prstGeom>
          <a:noFill/>
        </p:spPr>
        <p:txBody>
          <a:bodyPr wrap="square" lIns="0" rIns="0" tIns="0" bIns="0" anchor="t">
            <a:spAutoFit/>
          </a:bodyPr>
          <a:lstStyle/>
          <a:p>
            <a:pPr algn="l">
              <a:lnSpc>
                <a:spcPct val="106000"/>
              </a:lnSpc>
            </a:pPr>
            <a:r>
              <a:rPr sz="2800" b="1" i="0">
                <a:solidFill>
                  <a:srgbClr val="E9F2ED"/>
                </a:solidFill>
                <a:latin typeface="Space Grotesk" pitchFamily="34" charset="0"/>
                <a:cs typeface="Space Grotesk" pitchFamily="34" charset="0"/>
              </a:rPr>
              <a:t>Une carte de conflit foncier est une donnée sensible.</a:t>
            </a:r>
          </a:p>
        </p:txBody>
      </p:sp>
      <p:sp>
        <p:nvSpPr>
          <p:cNvPr id="9" name="TextBox 8"/>
          <p:cNvSpPr txBox="1"/>
          <p:nvPr/>
        </p:nvSpPr>
        <p:spPr>
          <a:xfrm>
            <a:off x="713232" y="1581607"/>
            <a:ext cx="10216591" cy="305104"/>
          </a:xfrm>
          <a:prstGeom prst="rect">
            <a:avLst/>
          </a:prstGeom>
          <a:noFill/>
        </p:spPr>
        <p:txBody>
          <a:bodyPr wrap="square" lIns="0" rIns="0" tIns="0" bIns="0" anchor="t">
            <a:spAutoFit/>
          </a:bodyPr>
          <a:lstStyle/>
          <a:p>
            <a:pPr algn="l">
              <a:lnSpc>
                <a:spcPct val="128000"/>
              </a:lnSpc>
            </a:pPr>
            <a:r>
              <a:rPr sz="1400" b="0" i="0">
                <a:solidFill>
                  <a:srgbClr val="93A79D"/>
                </a:solidFill>
                <a:latin typeface="Inter" pitchFamily="34" charset="0"/>
                <a:cs typeface="Inter" pitchFamily="34" charset="0"/>
              </a:rPr>
              <a:t>Nous le disons avant qu'on nous le demande.</a:t>
            </a:r>
          </a:p>
        </p:txBody>
      </p:sp>
      <p:sp>
        <p:nvSpPr>
          <p:cNvPr id="10" name="Rounded Rectangle 9"/>
          <p:cNvSpPr/>
          <p:nvPr/>
        </p:nvSpPr>
        <p:spPr>
          <a:xfrm>
            <a:off x="713232" y="2761488"/>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750515"/>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054096"/>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Accès par rôle</a:t>
            </a:r>
          </a:p>
        </p:txBody>
      </p:sp>
      <p:sp>
        <p:nvSpPr>
          <p:cNvPr id="13" name="TextBox 12"/>
          <p:cNvSpPr txBox="1"/>
          <p:nvPr/>
        </p:nvSpPr>
        <p:spPr>
          <a:xfrm>
            <a:off x="950976" y="3488436"/>
            <a:ext cx="2930042" cy="774954"/>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Agent, comité, autorité :</a:t>
            </a:r>
          </a:p>
          <a:p>
            <a:pPr algn="l">
              <a:lnSpc>
                <a:spcPct val="130000"/>
              </a:lnSpc>
            </a:pPr>
            <a:r>
              <a:rPr sz="1250" b="0" i="0">
                <a:solidFill>
                  <a:srgbClr val="93A79D"/>
                </a:solidFill>
                <a:latin typeface="Inter" pitchFamily="34" charset="0"/>
                <a:cs typeface="Inter" pitchFamily="34" charset="0"/>
              </a:rPr>
              <a:t>chacun ne voit que</a:t>
            </a:r>
          </a:p>
          <a:p>
            <a:pPr algn="l">
              <a:lnSpc>
                <a:spcPct val="130000"/>
              </a:lnSpc>
            </a:pPr>
            <a:r>
              <a:rPr sz="1250" b="0" i="0">
                <a:solidFill>
                  <a:srgbClr val="93A79D"/>
                </a:solidFill>
                <a:latin typeface="Inter" pitchFamily="34" charset="0"/>
                <a:cs typeface="Inter" pitchFamily="34" charset="0"/>
              </a:rPr>
              <a:t>ce qui le concerne.</a:t>
            </a:r>
          </a:p>
        </p:txBody>
      </p:sp>
      <p:sp>
        <p:nvSpPr>
          <p:cNvPr id="14" name="Rounded Rectangle 13"/>
          <p:cNvSpPr/>
          <p:nvPr/>
        </p:nvSpPr>
        <p:spPr>
          <a:xfrm>
            <a:off x="4393082" y="2761488"/>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3082" y="2750515"/>
            <a:ext cx="3405530"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0826" y="3054096"/>
            <a:ext cx="2930042" cy="544068"/>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Zones sensibles</a:t>
            </a:r>
          </a:p>
          <a:p>
            <a:pPr algn="l">
              <a:lnSpc>
                <a:spcPct val="112000"/>
              </a:lnSpc>
            </a:pPr>
            <a:r>
              <a:rPr sz="1500" b="1" i="0">
                <a:solidFill>
                  <a:srgbClr val="E9F2ED"/>
                </a:solidFill>
                <a:latin typeface="Space Grotesk" pitchFamily="34" charset="0"/>
                <a:cs typeface="Space Grotesk" pitchFamily="34" charset="0"/>
              </a:rPr>
              <a:t>masquées</a:t>
            </a:r>
          </a:p>
        </p:txBody>
      </p:sp>
      <p:sp>
        <p:nvSpPr>
          <p:cNvPr id="17" name="TextBox 16"/>
          <p:cNvSpPr txBox="1"/>
          <p:nvPr/>
        </p:nvSpPr>
        <p:spPr>
          <a:xfrm>
            <a:off x="4630826" y="3744468"/>
            <a:ext cx="2930042" cy="774954"/>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Invisibles hors du comité.</a:t>
            </a:r>
          </a:p>
          <a:p>
            <a:pPr algn="l">
              <a:lnSpc>
                <a:spcPct val="130000"/>
              </a:lnSpc>
            </a:pPr>
            <a:r>
              <a:rPr sz="1250" b="0" i="0">
                <a:solidFill>
                  <a:srgbClr val="93A79D"/>
                </a:solidFill>
                <a:latin typeface="Inter" pitchFamily="34" charset="0"/>
                <a:cs typeface="Inter" pitchFamily="34" charset="0"/>
              </a:rPr>
              <a:t>Une friction n'est pas</a:t>
            </a:r>
          </a:p>
          <a:p>
            <a:pPr algn="l">
              <a:lnSpc>
                <a:spcPct val="130000"/>
              </a:lnSpc>
            </a:pPr>
            <a:r>
              <a:rPr sz="1250" b="0" i="0">
                <a:solidFill>
                  <a:srgbClr val="93A79D"/>
                </a:solidFill>
                <a:latin typeface="Inter" pitchFamily="34" charset="0"/>
                <a:cs typeface="Inter" pitchFamily="34" charset="0"/>
              </a:rPr>
              <a:t>une information publique.</a:t>
            </a:r>
          </a:p>
        </p:txBody>
      </p:sp>
      <p:sp>
        <p:nvSpPr>
          <p:cNvPr id="18" name="Rounded Rectangle 17"/>
          <p:cNvSpPr/>
          <p:nvPr/>
        </p:nvSpPr>
        <p:spPr>
          <a:xfrm>
            <a:off x="8072932" y="2761488"/>
            <a:ext cx="3405530" cy="2148840"/>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2932" y="2750515"/>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676" y="3054096"/>
            <a:ext cx="2930042" cy="288036"/>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Hébergement local</a:t>
            </a:r>
          </a:p>
        </p:txBody>
      </p:sp>
      <p:sp>
        <p:nvSpPr>
          <p:cNvPr id="21" name="TextBox 20"/>
          <p:cNvSpPr txBox="1"/>
          <p:nvPr/>
        </p:nvSpPr>
        <p:spPr>
          <a:xfrm>
            <a:off x="8310676" y="3488436"/>
            <a:ext cx="2930042" cy="774954"/>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Chez l'autorité communale.</a:t>
            </a:r>
          </a:p>
          <a:p>
            <a:pPr algn="l">
              <a:lnSpc>
                <a:spcPct val="130000"/>
              </a:lnSpc>
            </a:pPr>
            <a:r>
              <a:rPr sz="1250" b="0" i="0">
                <a:solidFill>
                  <a:srgbClr val="93A79D"/>
                </a:solidFill>
                <a:latin typeface="Inter" pitchFamily="34" charset="0"/>
                <a:cs typeface="Inter" pitchFamily="34" charset="0"/>
              </a:rPr>
              <a:t>La commune reste</a:t>
            </a:r>
          </a:p>
          <a:p>
            <a:pPr algn="l">
              <a:lnSpc>
                <a:spcPct val="130000"/>
              </a:lnSpc>
            </a:pPr>
            <a:r>
              <a:rPr sz="1250" b="0" i="0">
                <a:solidFill>
                  <a:srgbClr val="93A79D"/>
                </a:solidFill>
                <a:latin typeface="Inter" pitchFamily="34" charset="0"/>
                <a:cs typeface="Inter" pitchFamily="34" charset="0"/>
              </a:rPr>
              <a:t>propriétaire de ses données.</a:t>
            </a:r>
          </a:p>
        </p:txBody>
      </p:sp>
      <p:sp>
        <p:nvSpPr>
          <p:cNvPr id="22" name="TextBox 21"/>
          <p:cNvSpPr txBox="1"/>
          <p:nvPr/>
        </p:nvSpPr>
        <p:spPr>
          <a:xfrm>
            <a:off x="713232" y="5230368"/>
            <a:ext cx="10789920" cy="626364"/>
          </a:xfrm>
          <a:prstGeom prst="rect">
            <a:avLst/>
          </a:prstGeom>
          <a:noFill/>
        </p:spPr>
        <p:txBody>
          <a:bodyPr wrap="square" lIns="0" rIns="0" tIns="0" bIns="0" anchor="t">
            <a:spAutoFit/>
          </a:bodyPr>
          <a:lstStyle/>
          <a:p>
            <a:pPr algn="l">
              <a:lnSpc>
                <a:spcPct val="130000"/>
              </a:lnSpc>
            </a:pPr>
            <a:r>
              <a:rPr sz="1500" b="0" i="0">
                <a:solidFill>
                  <a:srgbClr val="E9F2ED"/>
                </a:solidFill>
                <a:latin typeface="Inter" pitchFamily="34" charset="0"/>
                <a:cs typeface="Inter" pitchFamily="34" charset="0"/>
              </a:rPr>
              <a:t>Mal diffusée, elle désigne des coupables.</a:t>
            </a:r>
          </a:p>
          <a:p>
            <a:pPr algn="l">
              <a:lnSpc>
                <a:spcPct val="130000"/>
              </a:lnSpc>
            </a:pPr>
            <a:r>
              <a:rPr sz="1500" b="0" i="0">
                <a:solidFill>
                  <a:srgbClr val="E9F2ED"/>
                </a:solidFill>
                <a:latin typeface="Inter" pitchFamily="34" charset="0"/>
                <a:cs typeface="Inter" pitchFamily="34" charset="0"/>
              </a:rPr>
              <a:t>Bien gouvernée, elle prépare un arbitrage.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14400"/>
            <a:ext cx="10789920" cy="265785"/>
          </a:xfrm>
          <a:prstGeom prst="rect">
            <a:avLst/>
          </a:prstGeom>
          <a:noFill/>
        </p:spPr>
        <p:txBody>
          <a:bodyPr wrap="square" lIns="0" rIns="0" tIns="0" bIns="0" anchor="t">
            <a:spAutoFit/>
          </a:bodyPr>
          <a:lstStyle/>
          <a:p>
            <a:pPr algn="l">
              <a:lnSpc>
                <a:spcPct val="118000"/>
              </a:lnSpc>
            </a:pPr>
            <a:r>
              <a:rPr sz="1300" b="1" i="0">
                <a:solidFill>
                  <a:srgbClr val="F0665F"/>
                </a:solidFill>
                <a:latin typeface="Inter" pitchFamily="34" charset="0"/>
                <a:cs typeface="Inter" pitchFamily="34" charset="0"/>
              </a:rPr>
              <a:t>CE QUE TERRA SENTINELLE NE FAIT PAS</a:t>
            </a:r>
          </a:p>
        </p:txBody>
      </p:sp>
      <p:sp>
        <p:nvSpPr>
          <p:cNvPr id="5" name="Rectangle 4"/>
          <p:cNvSpPr/>
          <p:nvPr/>
        </p:nvSpPr>
        <p:spPr>
          <a:xfrm>
            <a:off x="713232" y="1655064"/>
            <a:ext cx="64008" cy="1225296"/>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43584" y="1600200"/>
            <a:ext cx="10149840" cy="1260347"/>
          </a:xfrm>
          <a:prstGeom prst="rect">
            <a:avLst/>
          </a:prstGeom>
          <a:noFill/>
        </p:spPr>
        <p:txBody>
          <a:bodyPr wrap="square" lIns="0" rIns="0" tIns="0" bIns="0" anchor="t">
            <a:spAutoFit/>
          </a:bodyPr>
          <a:lstStyle/>
          <a:p>
            <a:pPr algn="l">
              <a:lnSpc>
                <a:spcPct val="130000"/>
              </a:lnSpc>
            </a:pPr>
            <a:r>
              <a:rPr sz="3100" b="1" i="0">
                <a:solidFill>
                  <a:srgbClr val="E9F2ED"/>
                </a:solidFill>
                <a:latin typeface="Space Grotesk" pitchFamily="34" charset="0"/>
                <a:cs typeface="Space Grotesk" pitchFamily="34" charset="0"/>
              </a:rPr>
              <a:t>Un outil de veille, pas une autorité.</a:t>
            </a:r>
          </a:p>
          <a:p>
            <a:pPr algn="l">
              <a:lnSpc>
                <a:spcPct val="130000"/>
              </a:lnSpc>
            </a:pPr>
            <a:r>
              <a:rPr sz="3100" b="1" i="0">
                <a:solidFill>
                  <a:srgbClr val="E9F2ED"/>
                </a:solidFill>
                <a:latin typeface="Space Grotesk" pitchFamily="34" charset="0"/>
                <a:cs typeface="Space Grotesk" pitchFamily="34" charset="0"/>
              </a:rPr>
              <a:t>Nous énonçons ses limites nous-mêmes.</a:t>
            </a:r>
          </a:p>
        </p:txBody>
      </p:sp>
      <p:sp>
        <p:nvSpPr>
          <p:cNvPr id="7" name="Rectangle 6"/>
          <p:cNvSpPr/>
          <p:nvPr/>
        </p:nvSpPr>
        <p:spPr>
          <a:xfrm>
            <a:off x="713232" y="3200400"/>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3538727"/>
            <a:ext cx="146304" cy="32004"/>
          </a:xfrm>
          <a:prstGeom prst="rect">
            <a:avLst/>
          </a:prstGeom>
          <a:solidFill>
            <a:srgbClr val="F06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3456432"/>
            <a:ext cx="10241280" cy="312420"/>
          </a:xfrm>
          <a:prstGeom prst="rect">
            <a:avLst/>
          </a:prstGeom>
          <a:noFill/>
        </p:spPr>
        <p:txBody>
          <a:bodyPr wrap="square" lIns="0" rIns="0" tIns="0" bIns="0" anchor="t">
            <a:spAutoFit/>
          </a:bodyPr>
          <a:lstStyle/>
          <a:p>
            <a:pPr algn="l">
              <a:lnSpc>
                <a:spcPct val="115000"/>
              </a:lnSpc>
            </a:pPr>
            <a:r>
              <a:rPr sz="1600" b="0" i="0">
                <a:solidFill>
                  <a:srgbClr val="93A79D"/>
                </a:solidFill>
                <a:latin typeface="Inter" pitchFamily="34" charset="0"/>
                <a:cs typeface="Inter" pitchFamily="34" charset="0"/>
              </a:rPr>
              <a:t>Il ne dit pas qui avait le droit d'être là.</a:t>
            </a:r>
          </a:p>
        </p:txBody>
      </p:sp>
      <p:sp>
        <p:nvSpPr>
          <p:cNvPr id="10" name="Rectangle 9"/>
          <p:cNvSpPr/>
          <p:nvPr/>
        </p:nvSpPr>
        <p:spPr>
          <a:xfrm>
            <a:off x="713232" y="3995927"/>
            <a:ext cx="146304" cy="32004"/>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3913631"/>
            <a:ext cx="10241280" cy="312420"/>
          </a:xfrm>
          <a:prstGeom prst="rect">
            <a:avLst/>
          </a:prstGeom>
          <a:noFill/>
        </p:spPr>
        <p:txBody>
          <a:bodyPr wrap="square" lIns="0" rIns="0" tIns="0" bIns="0" anchor="t">
            <a:spAutoFit/>
          </a:bodyPr>
          <a:lstStyle/>
          <a:p>
            <a:pPr algn="l">
              <a:lnSpc>
                <a:spcPct val="115000"/>
              </a:lnSpc>
            </a:pPr>
            <a:r>
              <a:rPr sz="1600" b="0" i="0">
                <a:solidFill>
                  <a:srgbClr val="93A79D"/>
                </a:solidFill>
                <a:latin typeface="Inter" pitchFamily="34" charset="0"/>
                <a:cs typeface="Inter" pitchFamily="34" charset="0"/>
              </a:rPr>
              <a:t>Il ne tranche pas la légitimité foncière.</a:t>
            </a:r>
          </a:p>
        </p:txBody>
      </p:sp>
      <p:sp>
        <p:nvSpPr>
          <p:cNvPr id="12" name="Rectangle 11"/>
          <p:cNvSpPr/>
          <p:nvPr/>
        </p:nvSpPr>
        <p:spPr>
          <a:xfrm>
            <a:off x="713232" y="4453127"/>
            <a:ext cx="146304" cy="32004"/>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4370831"/>
            <a:ext cx="10241280" cy="312420"/>
          </a:xfrm>
          <a:prstGeom prst="rect">
            <a:avLst/>
          </a:prstGeom>
          <a:noFill/>
        </p:spPr>
        <p:txBody>
          <a:bodyPr wrap="square" lIns="0" rIns="0" tIns="0" bIns="0" anchor="t">
            <a:spAutoFit/>
          </a:bodyPr>
          <a:lstStyle/>
          <a:p>
            <a:pPr algn="l">
              <a:lnSpc>
                <a:spcPct val="115000"/>
              </a:lnSpc>
            </a:pPr>
            <a:r>
              <a:rPr sz="1600" b="0" i="0">
                <a:solidFill>
                  <a:srgbClr val="93A79D"/>
                </a:solidFill>
                <a:latin typeface="Inter" pitchFamily="34" charset="0"/>
                <a:cs typeface="Inter" pitchFamily="34" charset="0"/>
              </a:rPr>
              <a:t>Il ne valide pas lui-même ses détections au Bénin.</a:t>
            </a:r>
          </a:p>
        </p:txBody>
      </p:sp>
      <p:sp>
        <p:nvSpPr>
          <p:cNvPr id="14" name="Rectangle 13"/>
          <p:cNvSpPr/>
          <p:nvPr/>
        </p:nvSpPr>
        <p:spPr>
          <a:xfrm>
            <a:off x="713232" y="4910327"/>
            <a:ext cx="146304" cy="3200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828031"/>
            <a:ext cx="10241280" cy="312420"/>
          </a:xfrm>
          <a:prstGeom prst="rect">
            <a:avLst/>
          </a:prstGeom>
          <a:noFill/>
        </p:spPr>
        <p:txBody>
          <a:bodyPr wrap="square" lIns="0" rIns="0" tIns="0" bIns="0" anchor="t">
            <a:spAutoFit/>
          </a:bodyPr>
          <a:lstStyle/>
          <a:p>
            <a:pPr algn="l">
              <a:lnSpc>
                <a:spcPct val="115000"/>
              </a:lnSpc>
            </a:pPr>
            <a:r>
              <a:rPr sz="1600" b="0" i="0">
                <a:solidFill>
                  <a:srgbClr val="E9F2ED"/>
                </a:solidFill>
                <a:latin typeface="Inter" pitchFamily="34" charset="0"/>
                <a:cs typeface="Inter" pitchFamily="34" charset="0"/>
              </a:rPr>
              <a:t>Il informe un arbitrage humain. Rien de plus.</a:t>
            </a:r>
          </a:p>
        </p:txBody>
      </p:sp>
      <p:sp>
        <p:nvSpPr>
          <p:cNvPr id="16" name="Rounded Rectangle 15"/>
          <p:cNvSpPr/>
          <p:nvPr/>
        </p:nvSpPr>
        <p:spPr>
          <a:xfrm>
            <a:off x="713232" y="5358384"/>
            <a:ext cx="10765231" cy="713232"/>
          </a:xfrm>
          <a:prstGeom prst="roundRect">
            <a:avLst>
              <a:gd name="adj" fmla="val 10000"/>
            </a:avLst>
          </a:prstGeom>
          <a:solidFill>
            <a:srgbClr val="11201A"/>
          </a:solidFill>
          <a:ln w="12700">
            <a:solidFill>
              <a:srgbClr val="F5B5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5347411"/>
            <a:ext cx="10765231"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5532120"/>
            <a:ext cx="10106863" cy="515416"/>
          </a:xfrm>
          <a:prstGeom prst="rect">
            <a:avLst/>
          </a:prstGeom>
          <a:noFill/>
        </p:spPr>
        <p:txBody>
          <a:bodyPr wrap="square" lIns="0" rIns="0" tIns="0" bIns="0" anchor="t">
            <a:spAutoFit/>
          </a:bodyPr>
          <a:lstStyle/>
          <a:p>
            <a:pPr algn="l">
              <a:lnSpc>
                <a:spcPct val="122000"/>
              </a:lnSpc>
            </a:pPr>
            <a:r>
              <a:rPr sz="1300" b="0" i="0">
                <a:solidFill>
                  <a:srgbClr val="E9F2ED"/>
                </a:solidFill>
                <a:latin typeface="Inter" pitchFamily="34" charset="0"/>
                <a:cs typeface="Inter" pitchFamily="34" charset="0"/>
              </a:rPr>
              <a:t>Le modèle est entraîné sur de l'imagerie européenne.</a:t>
            </a:r>
          </a:p>
          <a:p>
            <a:pPr algn="l">
              <a:lnSpc>
                <a:spcPct val="122000"/>
              </a:lnSpc>
            </a:pPr>
            <a:r>
              <a:rPr sz="1300" b="0" i="0">
                <a:solidFill>
                  <a:srgbClr val="E9F2ED"/>
                </a:solidFill>
                <a:latin typeface="Inter" pitchFamily="34" charset="0"/>
                <a:cs typeface="Inter" pitchFamily="34" charset="0"/>
              </a:rPr>
              <a:t>C'est précisément pour cela que l'agent communal va vérifier sur le terrain.</a:t>
            </a:r>
          </a:p>
        </p:txBody>
      </p:sp>
      <p:sp>
        <p:nvSpPr>
          <p:cNvPr id="19" name="Rectangle 18"/>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21" name="TextBox 20"/>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6272784"/>
            <a:ext cx="10765231" cy="10972"/>
          </a:xfrm>
          <a:prstGeom prst="rect">
            <a:avLst/>
          </a:prstGeom>
          <a:solidFill>
            <a:srgbClr val="1E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0"/>
            <a:ext cx="5486400" cy="193852"/>
          </a:xfrm>
          <a:prstGeom prst="rect">
            <a:avLst/>
          </a:prstGeom>
          <a:noFill/>
        </p:spPr>
        <p:txBody>
          <a:bodyPr wrap="square" lIns="0" rIns="0" tIns="0" bIns="0" anchor="t">
            <a:spAutoFit/>
          </a:bodyPr>
          <a:lstStyle/>
          <a:p>
            <a:pPr algn="l">
              <a:lnSpc>
                <a:spcPct val="118000"/>
              </a:lnSpc>
            </a:pPr>
            <a:r>
              <a:rPr sz="900" b="0" i="0">
                <a:solidFill>
                  <a:srgbClr val="93A79D"/>
                </a:solidFill>
                <a:latin typeface="Inter" pitchFamily="34" charset="0"/>
                <a:cs typeface="Inter" pitchFamily="34" charset="0"/>
              </a:rPr>
              <a:t>Terra Sentinelle · IndabaX Bénin 2026</a:t>
            </a:r>
          </a:p>
        </p:txBody>
      </p:sp>
      <p:sp>
        <p:nvSpPr>
          <p:cNvPr id="5" name="TextBox 4"/>
          <p:cNvSpPr txBox="1"/>
          <p:nvPr/>
        </p:nvSpPr>
        <p:spPr>
          <a:xfrm>
            <a:off x="10381183" y="6400800"/>
            <a:ext cx="1097280" cy="193852"/>
          </a:xfrm>
          <a:prstGeom prst="rect">
            <a:avLst/>
          </a:prstGeom>
          <a:noFill/>
        </p:spPr>
        <p:txBody>
          <a:bodyPr wrap="square" lIns="0" rIns="0" tIns="0" bIns="0" anchor="t">
            <a:spAutoFit/>
          </a:bodyPr>
          <a:lstStyle/>
          <a:p>
            <a:pPr algn="r">
              <a:lnSpc>
                <a:spcPct val="118000"/>
              </a:lnSpc>
            </a:pPr>
            <a:r>
              <a:rPr sz="900" b="0" i="0">
                <a:solidFill>
                  <a:srgbClr val="93A79D"/>
                </a:solidFill>
                <a:latin typeface="JetBrains Mono" pitchFamily="34" charset="0"/>
                <a:cs typeface="JetBrains Mono" pitchFamily="34" charset="0"/>
              </a:rPr>
              <a:t>15 / 15</a:t>
            </a:r>
          </a:p>
        </p:txBody>
      </p:sp>
      <p:sp>
        <p:nvSpPr>
          <p:cNvPr id="6" name="Rectangle 5"/>
          <p:cNvSpPr/>
          <p:nvPr/>
        </p:nvSpPr>
        <p:spPr>
          <a:xfrm>
            <a:off x="713232" y="608076"/>
            <a:ext cx="50292" cy="15544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66928"/>
            <a:ext cx="8686800" cy="199644"/>
          </a:xfrm>
          <a:prstGeom prst="rect">
            <a:avLst/>
          </a:prstGeom>
          <a:noFill/>
        </p:spPr>
        <p:txBody>
          <a:bodyPr wrap="square" lIns="0" rIns="0" tIns="0" bIns="0" anchor="t">
            <a:spAutoFit/>
          </a:bodyPr>
          <a:lstStyle/>
          <a:p>
            <a:pPr algn="l">
              <a:lnSpc>
                <a:spcPct val="100000"/>
              </a:lnSpc>
            </a:pPr>
            <a:r>
              <a:rPr sz="1100" b="1" i="0">
                <a:solidFill>
                  <a:srgbClr val="34D399"/>
                </a:solidFill>
                <a:latin typeface="Inter" pitchFamily="34" charset="0"/>
                <a:cs typeface="Inter" pitchFamily="34" charset="0"/>
              </a:rPr>
              <a:t>PROTOTYPE ET SUITE</a:t>
            </a:r>
          </a:p>
        </p:txBody>
      </p:sp>
      <p:sp>
        <p:nvSpPr>
          <p:cNvPr id="8" name="TextBox 7"/>
          <p:cNvSpPr txBox="1"/>
          <p:nvPr/>
        </p:nvSpPr>
        <p:spPr>
          <a:xfrm>
            <a:off x="713232" y="932688"/>
            <a:ext cx="10765231" cy="484327"/>
          </a:xfrm>
          <a:prstGeom prst="rect">
            <a:avLst/>
          </a:prstGeom>
          <a:noFill/>
        </p:spPr>
        <p:txBody>
          <a:bodyPr wrap="square" lIns="0" rIns="0" tIns="0" bIns="0" anchor="t">
            <a:spAutoFit/>
          </a:bodyPr>
          <a:lstStyle/>
          <a:p>
            <a:pPr algn="l">
              <a:lnSpc>
                <a:spcPct val="106000"/>
              </a:lnSpc>
            </a:pPr>
            <a:r>
              <a:rPr sz="2800" b="1" i="0">
                <a:solidFill>
                  <a:srgbClr val="E9F2ED"/>
                </a:solidFill>
                <a:latin typeface="Space Grotesk" pitchFamily="34" charset="0"/>
                <a:cs typeface="Space Grotesk" pitchFamily="34" charset="0"/>
              </a:rPr>
              <a:t>Livré, public, et honnête sur ses limites.</a:t>
            </a:r>
          </a:p>
        </p:txBody>
      </p:sp>
      <p:sp>
        <p:nvSpPr>
          <p:cNvPr id="9" name="Rounded Rectangle 8"/>
          <p:cNvSpPr/>
          <p:nvPr/>
        </p:nvSpPr>
        <p:spPr>
          <a:xfrm>
            <a:off x="713232" y="2212848"/>
            <a:ext cx="3405530" cy="2490977"/>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2201875"/>
            <a:ext cx="3405530"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505456"/>
            <a:ext cx="2930042" cy="544068"/>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Ce qui tourne</a:t>
            </a:r>
          </a:p>
          <a:p>
            <a:pPr algn="l">
              <a:lnSpc>
                <a:spcPct val="112000"/>
              </a:lnSpc>
            </a:pPr>
            <a:r>
              <a:rPr sz="1500" b="1" i="0">
                <a:solidFill>
                  <a:srgbClr val="E9F2ED"/>
                </a:solidFill>
                <a:latin typeface="Space Grotesk" pitchFamily="34" charset="0"/>
                <a:cs typeface="Space Grotesk" pitchFamily="34" charset="0"/>
              </a:rPr>
              <a:t>aujourd'hui</a:t>
            </a:r>
          </a:p>
        </p:txBody>
      </p:sp>
      <p:sp>
        <p:nvSpPr>
          <p:cNvPr id="12" name="TextBox 11"/>
          <p:cNvSpPr txBox="1"/>
          <p:nvPr/>
        </p:nvSpPr>
        <p:spPr>
          <a:xfrm>
            <a:off x="950976" y="3195828"/>
            <a:ext cx="2930042" cy="1270254"/>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Modèle entraîné, mesuré</a:t>
            </a:r>
          </a:p>
          <a:p>
            <a:pPr algn="l">
              <a:lnSpc>
                <a:spcPct val="130000"/>
              </a:lnSpc>
            </a:pPr>
            <a:r>
              <a:rPr sz="1250" b="0" i="0">
                <a:solidFill>
                  <a:srgbClr val="93A79D"/>
                </a:solidFill>
                <a:latin typeface="Inter" pitchFamily="34" charset="0"/>
                <a:cs typeface="Inter" pitchFamily="34" charset="0"/>
              </a:rPr>
              <a:t>Inférence sur tuiles réelles</a:t>
            </a:r>
          </a:p>
          <a:p>
            <a:pPr algn="l">
              <a:lnSpc>
                <a:spcPct val="130000"/>
              </a:lnSpc>
            </a:pPr>
            <a:r>
              <a:rPr sz="1250" b="0" i="0">
                <a:solidFill>
                  <a:srgbClr val="93A79D"/>
                </a:solidFill>
                <a:latin typeface="Inter" pitchFamily="34" charset="0"/>
                <a:cs typeface="Inter" pitchFamily="34" charset="0"/>
              </a:rPr>
              <a:t>33 communes, 1 585 km</a:t>
            </a:r>
          </a:p>
          <a:p>
            <a:pPr algn="l">
              <a:lnSpc>
                <a:spcPct val="130000"/>
              </a:lnSpc>
            </a:pPr>
            <a:r>
              <a:rPr sz="1250" b="0" i="0">
                <a:solidFill>
                  <a:srgbClr val="93A79D"/>
                </a:solidFill>
                <a:latin typeface="Inter" pitchFamily="34" charset="0"/>
                <a:cs typeface="Inter" pitchFamily="34" charset="0"/>
              </a:rPr>
              <a:t>Terrain hors connexion</a:t>
            </a:r>
          </a:p>
          <a:p>
            <a:pPr algn="l">
              <a:lnSpc>
                <a:spcPct val="130000"/>
              </a:lnSpc>
            </a:pPr>
            <a:r>
              <a:rPr sz="1250" b="0" i="0">
                <a:solidFill>
                  <a:srgbClr val="93A79D"/>
                </a:solidFill>
                <a:latin typeface="Inter" pitchFamily="34" charset="0"/>
                <a:cs typeface="Inter" pitchFamily="34" charset="0"/>
              </a:rPr>
              <a:t>Itinéraires en 0,94 s</a:t>
            </a:r>
          </a:p>
        </p:txBody>
      </p:sp>
      <p:sp>
        <p:nvSpPr>
          <p:cNvPr id="13" name="Rounded Rectangle 12"/>
          <p:cNvSpPr/>
          <p:nvPr/>
        </p:nvSpPr>
        <p:spPr>
          <a:xfrm>
            <a:off x="4393082" y="2212848"/>
            <a:ext cx="3405530" cy="248716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3082" y="2201875"/>
            <a:ext cx="3405530" cy="45720"/>
          </a:xfrm>
          <a:prstGeom prst="rect">
            <a:avLst/>
          </a:prstGeom>
          <a:solidFill>
            <a:srgbClr val="F5B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0826" y="2505456"/>
            <a:ext cx="2930042" cy="544068"/>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Ce qui reste</a:t>
            </a:r>
          </a:p>
          <a:p>
            <a:pPr algn="l">
              <a:lnSpc>
                <a:spcPct val="112000"/>
              </a:lnSpc>
            </a:pPr>
            <a:r>
              <a:rPr sz="1500" b="1" i="0">
                <a:solidFill>
                  <a:srgbClr val="E9F2ED"/>
                </a:solidFill>
                <a:latin typeface="Space Grotesk" pitchFamily="34" charset="0"/>
                <a:cs typeface="Space Grotesk" pitchFamily="34" charset="0"/>
              </a:rPr>
              <a:t>simulé</a:t>
            </a:r>
          </a:p>
        </p:txBody>
      </p:sp>
      <p:sp>
        <p:nvSpPr>
          <p:cNvPr id="16" name="TextBox 15"/>
          <p:cNvSpPr txBox="1"/>
          <p:nvPr/>
        </p:nvSpPr>
        <p:spPr>
          <a:xfrm>
            <a:off x="4630826" y="3195828"/>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Couloirs reconstitués</a:t>
            </a:r>
          </a:p>
          <a:p>
            <a:pPr algn="l">
              <a:lnSpc>
                <a:spcPct val="130000"/>
              </a:lnSpc>
            </a:pPr>
            <a:r>
              <a:rPr sz="1250" b="0" i="0">
                <a:solidFill>
                  <a:srgbClr val="93A79D"/>
                </a:solidFill>
                <a:latin typeface="Inter" pitchFamily="34" charset="0"/>
                <a:cs typeface="Inter" pitchFamily="34" charset="0"/>
              </a:rPr>
              <a:t>Villages, parcelles, pâturages</a:t>
            </a:r>
          </a:p>
          <a:p>
            <a:pPr algn="l">
              <a:lnSpc>
                <a:spcPct val="130000"/>
              </a:lnSpc>
            </a:pPr>
            <a:r>
              <a:rPr sz="1250" b="0" i="0">
                <a:solidFill>
                  <a:srgbClr val="93A79D"/>
                </a:solidFill>
                <a:latin typeface="Inter" pitchFamily="34" charset="0"/>
                <a:cs typeface="Inter" pitchFamily="34" charset="0"/>
              </a:rPr>
              <a:t>Diffusion vocale fulfulde</a:t>
            </a:r>
          </a:p>
          <a:p>
            <a:pPr algn="l">
              <a:lnSpc>
                <a:spcPct val="130000"/>
              </a:lnSpc>
            </a:pPr>
            <a:r>
              <a:rPr sz="1250" b="0" i="0">
                <a:solidFill>
                  <a:srgbClr val="93A79D"/>
                </a:solidFill>
                <a:latin typeface="Inter" pitchFamily="34" charset="0"/>
                <a:cs typeface="Inter" pitchFamily="34" charset="0"/>
              </a:rPr>
              <a:t>Fusion Sentinel-1 non faite</a:t>
            </a:r>
          </a:p>
        </p:txBody>
      </p:sp>
      <p:sp>
        <p:nvSpPr>
          <p:cNvPr id="17" name="Rounded Rectangle 16"/>
          <p:cNvSpPr/>
          <p:nvPr/>
        </p:nvSpPr>
        <p:spPr>
          <a:xfrm>
            <a:off x="8072932" y="2212848"/>
            <a:ext cx="3405530" cy="2487168"/>
          </a:xfrm>
          <a:prstGeom prst="roundRect">
            <a:avLst>
              <a:gd name="adj" fmla="val 10000"/>
            </a:avLst>
          </a:prstGeom>
          <a:solidFill>
            <a:srgbClr val="11201A"/>
          </a:solidFill>
          <a:ln w="12700">
            <a:solidFill>
              <a:srgbClr val="1E2E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2932" y="2201875"/>
            <a:ext cx="3405530" cy="45720"/>
          </a:xfrm>
          <a:prstGeom prst="rect">
            <a:avLst/>
          </a:prstGeom>
          <a:solidFill>
            <a:srgbClr val="D9B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2505456"/>
            <a:ext cx="2930042" cy="544068"/>
          </a:xfrm>
          <a:prstGeom prst="rect">
            <a:avLst/>
          </a:prstGeom>
          <a:noFill/>
        </p:spPr>
        <p:txBody>
          <a:bodyPr wrap="square" lIns="0" rIns="0" tIns="0" bIns="0" anchor="t">
            <a:spAutoFit/>
          </a:bodyPr>
          <a:lstStyle/>
          <a:p>
            <a:pPr algn="l">
              <a:lnSpc>
                <a:spcPct val="112000"/>
              </a:lnSpc>
            </a:pPr>
            <a:r>
              <a:rPr sz="1500" b="1" i="0">
                <a:solidFill>
                  <a:srgbClr val="E9F2ED"/>
                </a:solidFill>
                <a:latin typeface="Space Grotesk" pitchFamily="34" charset="0"/>
                <a:cs typeface="Space Grotesk" pitchFamily="34" charset="0"/>
              </a:rPr>
              <a:t>Les prochaines</a:t>
            </a:r>
          </a:p>
          <a:p>
            <a:pPr algn="l">
              <a:lnSpc>
                <a:spcPct val="112000"/>
              </a:lnSpc>
            </a:pPr>
            <a:r>
              <a:rPr sz="1500" b="1" i="0">
                <a:solidFill>
                  <a:srgbClr val="E9F2ED"/>
                </a:solidFill>
                <a:latin typeface="Space Grotesk" pitchFamily="34" charset="0"/>
                <a:cs typeface="Space Grotesk" pitchFamily="34" charset="0"/>
              </a:rPr>
              <a:t>étapes</a:t>
            </a:r>
          </a:p>
        </p:txBody>
      </p:sp>
      <p:sp>
        <p:nvSpPr>
          <p:cNvPr id="20" name="TextBox 19"/>
          <p:cNvSpPr txBox="1"/>
          <p:nvPr/>
        </p:nvSpPr>
        <p:spPr>
          <a:xfrm>
            <a:off x="8310676" y="3195828"/>
            <a:ext cx="2930042" cy="1022603"/>
          </a:xfrm>
          <a:prstGeom prst="rect">
            <a:avLst/>
          </a:prstGeom>
          <a:noFill/>
        </p:spPr>
        <p:txBody>
          <a:bodyPr wrap="square" lIns="0" rIns="0" tIns="0" bIns="0" anchor="t">
            <a:spAutoFit/>
          </a:bodyPr>
          <a:lstStyle/>
          <a:p>
            <a:pPr algn="l">
              <a:lnSpc>
                <a:spcPct val="130000"/>
              </a:lnSpc>
            </a:pPr>
            <a:r>
              <a:rPr sz="1250" b="0" i="0">
                <a:solidFill>
                  <a:srgbClr val="93A79D"/>
                </a:solidFill>
                <a:latin typeface="Inter" pitchFamily="34" charset="0"/>
                <a:cs typeface="Inter" pitchFamily="34" charset="0"/>
              </a:rPr>
              <a:t>Annoter des parcelles au Bénin</a:t>
            </a:r>
          </a:p>
          <a:p>
            <a:pPr algn="l">
              <a:lnSpc>
                <a:spcPct val="130000"/>
              </a:lnSpc>
            </a:pPr>
            <a:r>
              <a:rPr sz="1250" b="0" i="0">
                <a:solidFill>
                  <a:srgbClr val="93A79D"/>
                </a:solidFill>
                <a:latin typeface="Inter" pitchFamily="34" charset="0"/>
                <a:cs typeface="Inter" pitchFamily="34" charset="0"/>
              </a:rPr>
              <a:t>Mesurer l'écart de domaine</a:t>
            </a:r>
          </a:p>
          <a:p>
            <a:pPr algn="l">
              <a:lnSpc>
                <a:spcPct val="130000"/>
              </a:lnSpc>
            </a:pPr>
            <a:r>
              <a:rPr sz="1250" b="0" i="0">
                <a:solidFill>
                  <a:srgbClr val="93A79D"/>
                </a:solidFill>
                <a:latin typeface="Inter" pitchFamily="34" charset="0"/>
                <a:cs typeface="Inter" pitchFamily="34" charset="0"/>
              </a:rPr>
              <a:t>Emprise officielle de mairie</a:t>
            </a:r>
          </a:p>
          <a:p>
            <a:pPr algn="l">
              <a:lnSpc>
                <a:spcPct val="130000"/>
              </a:lnSpc>
            </a:pPr>
            <a:r>
              <a:rPr sz="1250" b="0" i="0">
                <a:solidFill>
                  <a:srgbClr val="93A79D"/>
                </a:solidFill>
                <a:latin typeface="Inter" pitchFamily="34" charset="0"/>
                <a:cs typeface="Inter" pitchFamily="34" charset="0"/>
              </a:rPr>
              <a:t>Tester sur une saison réelle</a:t>
            </a:r>
          </a:p>
        </p:txBody>
      </p:sp>
      <p:sp>
        <p:nvSpPr>
          <p:cNvPr id="21" name="Rounded Rectangle 20"/>
          <p:cNvSpPr/>
          <p:nvPr/>
        </p:nvSpPr>
        <p:spPr>
          <a:xfrm>
            <a:off x="713232" y="4846320"/>
            <a:ext cx="10765231" cy="932688"/>
          </a:xfrm>
          <a:prstGeom prst="roundRect">
            <a:avLst>
              <a:gd name="adj" fmla="val 10000"/>
            </a:avLst>
          </a:prstGeom>
          <a:solidFill>
            <a:srgbClr val="11201A"/>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4835347"/>
            <a:ext cx="10765231" cy="4572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5047488"/>
            <a:ext cx="10106863" cy="487680"/>
          </a:xfrm>
          <a:prstGeom prst="rect">
            <a:avLst/>
          </a:prstGeom>
          <a:noFill/>
        </p:spPr>
        <p:txBody>
          <a:bodyPr wrap="square" lIns="0" rIns="0" tIns="0" bIns="0" anchor="t">
            <a:spAutoFit/>
          </a:bodyPr>
          <a:lstStyle/>
          <a:p>
            <a:pPr algn="l">
              <a:lnSpc>
                <a:spcPct val="130000"/>
              </a:lnSpc>
            </a:pPr>
            <a:r>
              <a:rPr sz="1150" b="0" i="0">
                <a:solidFill>
                  <a:srgbClr val="E9F2ED"/>
                </a:solidFill>
                <a:latin typeface="JetBrains Mono" pitchFamily="34" charset="0"/>
                <a:cs typeface="JetBrains Mono" pitchFamily="34" charset="0"/>
              </a:rPr>
              <a:t>Code source : https://github.com/KOBA2008/terra-sentinelle</a:t>
            </a:r>
          </a:p>
          <a:p>
            <a:pPr algn="l">
              <a:lnSpc>
                <a:spcPct val="130000"/>
              </a:lnSpc>
            </a:pPr>
            <a:r>
              <a:rPr sz="1150" b="0" i="0">
                <a:solidFill>
                  <a:srgbClr val="E9F2ED"/>
                </a:solidFill>
                <a:latin typeface="JetBrains Mono" pitchFamily="34" charset="0"/>
                <a:cs typeface="JetBrains Mono" pitchFamily="34" charset="0"/>
              </a:rPr>
              <a:t>Démo : https://terra-sentinelle-5hp8hl4hs-koba-davids-projects.vercel.app</a:t>
            </a:r>
          </a:p>
        </p:txBody>
      </p:sp>
      <p:sp>
        <p:nvSpPr>
          <p:cNvPr id="24" name="TextBox 23"/>
          <p:cNvSpPr txBox="1"/>
          <p:nvPr/>
        </p:nvSpPr>
        <p:spPr>
          <a:xfrm>
            <a:off x="713232" y="5907024"/>
            <a:ext cx="10789920" cy="238810"/>
          </a:xfrm>
          <a:prstGeom prst="rect">
            <a:avLst/>
          </a:prstGeom>
          <a:noFill/>
        </p:spPr>
        <p:txBody>
          <a:bodyPr wrap="square" lIns="0" rIns="0" tIns="0" bIns="0" anchor="t">
            <a:spAutoFit/>
          </a:bodyPr>
          <a:lstStyle/>
          <a:p>
            <a:pPr algn="l">
              <a:lnSpc>
                <a:spcPct val="118000"/>
              </a:lnSpc>
            </a:pPr>
            <a:r>
              <a:rPr sz="1150" b="0" i="1">
                <a:solidFill>
                  <a:srgbClr val="93A79D"/>
                </a:solidFill>
                <a:latin typeface="Inter" pitchFamily="34" charset="0"/>
                <a:cs typeface="Inter" pitchFamily="34" charset="0"/>
              </a:rPr>
              <a:t>Thèmes clair et sombre · responsive dès 360 px · double mode dégradé · inférence hors connexion.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