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suis David KOBA. Terra Sentinelle concourt sur le défi Résilience climatique.</a:t>
            </a:r>
          </a:p>
          <a:p>
            <a:r>
              <a:t>En une phrase : dans le nord du Bénin, les couloirs de transhumance ont une carte, mais cette carte a des années. Nous lui redonnons l'âge de la saison en cours, à partir d'imagerie satellitaire.</a:t>
            </a:r>
          </a:p>
          <a:p>
            <a:r>
              <a:t>Je vais vous montrer pour qui, pourquoi, comment — et ce que le système refuse de faire.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Retenez cette phrase, c'est tout le projet.</a:t>
            </a:r>
          </a:p>
          <a:p>
            <a:r>
              <a:t>Les couloirs ont été délimités une fois : bornes, procès-verbaux, concertation. Un vrai travail.</a:t>
            </a:r>
          </a:p>
          <a:p>
            <a:r>
              <a:t>Mais les champs changent chaque saison — une parcelle se défriche en quelques semaines.</a:t>
            </a:r>
          </a:p>
          <a:p>
            <a:r>
              <a:t>Donc le conflit ne naît pas d'une carte absente. Il naît d'une carte périmée : le troupeau arrive là où le couloir existe sur le papier, et où il y a désormais du coton.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Précisons, parce que le problème est souvent mal posé.</a:t>
            </a:r>
          </a:p>
          <a:p>
            <a:r>
              <a:t>Un : la carte existe. Ce n'est pas un vide cartographique.</a:t>
            </a:r>
          </a:p>
          <a:p>
            <a:r>
              <a:t>Deux : le sol bouge — extension cotonnière, mise en culture du couloir, à chaque saison.</a:t>
            </a:r>
          </a:p>
          <a:p>
            <a:r>
              <a:t>Trois : le comité communal doit arbitrer, mais sans image récente, sur des témoignages contradictoires.</a:t>
            </a:r>
          </a:p>
          <a:p>
            <a:r>
              <a:t>Le manque n'est donc pas spatial, il est temporel. Pas « où est le couloir », mais « à quoi ressemble-t-il cette année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n'avons pas conçu pour « les communes », mais pour une personne.</a:t>
            </a:r>
          </a:p>
          <a:p>
            <a:r>
              <a:t>Moussa Gounou, agent d'élevage à Banikoara. Avant la saison, il reçoit la liste des portions du couloir devenues cultivées. Il part vérifier — et là-bas, pas de réseau. Il confirme ou invalide chaque détection hors ligne ; au retour du réseau tout se synchronise. Le comité arbitre le lendemain.</a:t>
            </a:r>
          </a:p>
          <a:p>
            <a:r>
              <a:t>Derrière lui : le comité, sur le web, et les représentants d'éleveurs, qui reçoivent la décision en vocal.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solution : transformer une carte statique en système de veille actualisé avant chaque saison.</a:t>
            </a:r>
          </a:p>
          <a:p>
            <a:r>
              <a:t>La chaîne. Images Sentinel-2 à 10 mètres. Un modèle identifie les zones mises en culture. On les croise avec l'emprise du couloir — c'est là qu'est notre valeur. On en tire une carte de friction, avec gravité et confiance.</a:t>
            </a:r>
          </a:p>
          <a:p>
            <a:r>
              <a:t>Puis l'humain reprend la main : vérification terrain, arbitrage du comité, diffusion vocale en fulfulde.</a:t>
            </a:r>
          </a:p>
          <a:p>
            <a:r>
              <a:t>La machine est en amont. La décision est au centre, et elle est humaine.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livrable, celui que le comité a sous les yeux.</a:t>
            </a:r>
          </a:p>
          <a:p>
            <a:r>
              <a:t>Pour chaque portion : la surface, un niveau de gravité, un niveau de confiance, un statut.</a:t>
            </a:r>
          </a:p>
          <a:p>
            <a:r>
              <a:t>Regardez la troisième ligne : confiance 0,54, statut incertain. Nous ne la cachons pas — c'est justement celle que Moussa ira voir en premier.</a:t>
            </a:r>
          </a:p>
          <a:p>
            <a:r>
              <a:t>Chaque ligne garde sa source, la date du passage satellite et son statut de validation. Précision : les valeurs affichées sont des données de démonstration.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Pourquoi de l'IA, et pas une simple enquête de terrain ? Trois raisons.</a:t>
            </a:r>
          </a:p>
          <a:p>
            <a:r>
              <a:t>L'échelle : des milliers d'hectares de couloir sur la seule commune de Banikoara. Aucune brigade ne les arpente chaque année.</a:t>
            </a:r>
          </a:p>
          <a:p>
            <a:r>
              <a:t>La cadence : Sentinel-2 repasse tous les cinq jours, gratuitement. Seule source capable de suivre le rythme des champs.</a:t>
            </a:r>
          </a:p>
          <a:p>
            <a:r>
              <a:t>Le signal : distinguer sol nu, jachère et culture demande un modèle appris, pas un seuil.</a:t>
            </a:r>
          </a:p>
          <a:p>
            <a:r>
              <a:t>Retirez l'IA, il ne reste plus de produit.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piège du projet, et notre choix technique.</a:t>
            </a:r>
          </a:p>
          <a:p>
            <a:r>
              <a:t>La saison de culture, ici, c'est la saison des pluies. Donc des nuages. Une image optique sous un nuage, c'est un pixel perdu — au pire moment de l'année.</a:t>
            </a:r>
          </a:p>
          <a:p>
            <a:r>
              <a:t>Deux parades. Un composite médian Sentinel-2 sur plusieurs dates avec masquage des nuages : on garde la médiane des passages dégagés. Puis Sentinel-1, le radar, qui traverse les nuages et prend le relais en saison humide.</a:t>
            </a:r>
          </a:p>
          <a:p>
            <a:r>
              <a:t>Rien d'exotique : deux briques choisies pour une contrainte réelle.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Posons nous-mêmes la question qui viendra : Dynamic World existe déjà. Pourquoi ne pas s'arrêter là ?</a:t>
            </a:r>
          </a:p>
          <a:p>
            <a:r>
              <a:t>D'abord parce que les cartes globales décrochent sur l'agriculture subsaharienne : petites parcelles, cultures associées. C'est documenté.</a:t>
            </a:r>
          </a:p>
          <a:p>
            <a:r>
              <a:t>Ensuite, nous ne les rejetons pas : Dynamic World sert d'a priori, nous adaptons localement et nous mesurons l'écart.</a:t>
            </a:r>
          </a:p>
          <a:p>
            <a:r>
              <a:t>Surtout : notre contribution n'est pas le classifieur, c'est le croisement avec l'emprise du couloir. Une carte de cultures ne dit rien à un comité. Une carte de friction, si.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Tout ce qui est à gauche est libre et vérifié : Sentinel-1 et 2 via Copernicus, Dynamic World, ESA WorldCover, OpenStreetMap Bénin, les limites de HDX, les données de transhumance de l'OIM.</a:t>
            </a:r>
          </a:p>
          <a:p>
            <a:r>
              <a:t>Maintenant ce qui manque, et je préfère le dire moi-même : il n'existe aucun jeu ouvert de polygones de couloirs au Bénin. Le registre de l'ANDF existe, mais fermé.</a:t>
            </a:r>
          </a:p>
          <a:p>
            <a:r>
              <a:t>Donc l'emprise que nous affichons est reconstituée par l'équipe, non officielle, et c'est écrit dans l'interface. Le jour où une mairie fournit la vraie, elle se substitue sans rien changer au reste.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système de décision qui ne parle pas la langue de ceux qu'il concerne ne sert à rien.</a:t>
            </a:r>
          </a:p>
          <a:p>
            <a:r>
              <a:t>Le comité arbitre : maintien, ajustement ou contournement. La décision devient un message vocal en fulfulde, la langue des éleveurs transhumants du nord Bénin, diffusé par les canaux qu'ils utilisent déjà — WhatsApp, radios communautaires — avant le départ des troupeaux.</a:t>
            </a:r>
          </a:p>
          <a:p>
            <a:r>
              <a:t>Le vocal n'est pas un gadget : il contourne la barrière de la langue et celle de l'écrit. C'est aussi pourquoi le projet touche le défi IA et langues locales.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Soyons lucides sur ce que nous fabriquons. Une carte qui montre qui a cultivé dans un couloir, c'est une donnée sensible. Mal diffusée, elle désigne des coupables et alimente le conflit qu'elle prétend éviter.</a:t>
            </a:r>
          </a:p>
          <a:p>
            <a:r>
              <a:t>Trois garde-fous. L'accès est par rôle : agent, comité et autorité ne voient pas la même chose. Les zones sensibles restent invisibles hors du comité. L'hébergement se fait chez l'autorité communale : nous ne centralisons pas le foncier du nord Bénin sur un serveur privé.</a:t>
            </a:r>
          </a:p>
          <a:p>
            <a:r>
              <a:t>Nous énonçons ce risque nous-mêmes plutôt que d'attendre la question.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RALENTIR ICI. LAISSER UN SILENCE APRÈS LA PHRASE.</a:t>
            </a:r>
          </a:p>
          <a:p/>
          <a:p>
            <a:r>
              <a:t>C'est la slide la plus importante de la présentation.</a:t>
            </a:r>
          </a:p>
          <a:p>
            <a:r>
              <a:t>« Terra Sentinelle ne prédit pas les conflits et ne délivre aucune autorisation de passage. »</a:t>
            </a:r>
          </a:p>
          <a:p>
            <a:r>
              <a:t>(silence — deux à trois secondes, regarder le jury)</a:t>
            </a:r>
          </a:p>
          <a:p>
            <a:r>
              <a:t>Le système ne dit pas qui avait le droit d'être là. Il ne tranche pas la légitimité foncière : ni notre rôle, ni notre compétence, ni celle d'un modèle.</a:t>
            </a:r>
          </a:p>
          <a:p>
            <a:r>
              <a:t>Il informe un arbitrage humain. Rien de plus — et c'est déjà beaucoup, puisque aujourd'hui cet arbitrage se fait sans information récente.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Où en sommes-nous vraiment.</a:t>
            </a:r>
          </a:p>
          <a:p>
            <a:r>
              <a:t>Ce qui tourne : l'application web et son API, la carte de friction interactive, la validation terrain hors ligne avec synchronisation, le recalcul d'itinéraire et le journal des décisions.</a:t>
            </a:r>
          </a:p>
          <a:p>
            <a:r>
              <a:t>Ce qui est simulé, je le dis clairement : les données de démonstration, l'emprise reconstituée, les métriques du modèle, la synthèse vocale. Tout cela est signalé dans l'interface, pas seulement ici.</a:t>
            </a:r>
          </a:p>
          <a:p>
            <a:r>
              <a:t>Ensuite : entraîner sur Banikoara, annoter avec les agents, obtenir l'emprise officielle, tester sur une saison réelle.</a:t>
            </a:r>
          </a:p>
          <a:p>
            <a:r>
              <a:t>Merci.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572768"/>
            <a:ext cx="10515600" cy="1188720"/>
          </a:xfrm>
          <a:prstGeom prst="rect">
            <a:avLst/>
          </a:prstGeom>
          <a:noFill/>
        </p:spPr>
        <p:txBody>
          <a:bodyPr wrap="square" lIns="0" rIns="0" tIns="0" bIns="0" anchor="t">
            <a:spAutoFit/>
          </a:bodyPr>
          <a:lstStyle/>
          <a:p>
            <a:pPr algn="l">
              <a:lnSpc>
                <a:spcPct val="100000"/>
              </a:lnSpc>
            </a:pPr>
            <a:r>
              <a:rPr sz="6000" b="1" i="0">
                <a:solidFill>
                  <a:srgbClr val="E9F2ED"/>
                </a:solidFill>
                <a:latin typeface="Space Grotesk" pitchFamily="34" charset="0"/>
                <a:cs typeface="Space Grotesk" pitchFamily="34" charset="0"/>
              </a:rPr>
              <a:t>Terra Sentinelle</a:t>
            </a:r>
          </a:p>
        </p:txBody>
      </p:sp>
      <p:sp>
        <p:nvSpPr>
          <p:cNvPr id="5" name="Rectangle 4"/>
          <p:cNvSpPr/>
          <p:nvPr/>
        </p:nvSpPr>
        <p:spPr>
          <a:xfrm>
            <a:off x="713232" y="2871216"/>
            <a:ext cx="1371600" cy="4114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3163824"/>
            <a:ext cx="9692640" cy="822960"/>
          </a:xfrm>
          <a:prstGeom prst="rect">
            <a:avLst/>
          </a:prstGeom>
          <a:noFill/>
        </p:spPr>
        <p:txBody>
          <a:bodyPr wrap="square" lIns="0" rIns="0" tIns="0" bIns="0" anchor="t">
            <a:spAutoFit/>
          </a:bodyPr>
          <a:lstStyle/>
          <a:p>
            <a:pPr algn="l">
              <a:lnSpc>
                <a:spcPct val="128000"/>
              </a:lnSpc>
            </a:pPr>
            <a:r>
              <a:rPr sz="1900" b="0" i="0">
                <a:solidFill>
                  <a:srgbClr val="93A79D"/>
                </a:solidFill>
                <a:latin typeface="Inter" pitchFamily="34" charset="0"/>
                <a:cs typeface="Inter" pitchFamily="34" charset="0"/>
              </a:rPr>
              <a:t>Rendre aux couloirs de transhumance une carte qui a l'âge de la saison en cours.</a:t>
            </a:r>
          </a:p>
        </p:txBody>
      </p:sp>
      <p:sp>
        <p:nvSpPr>
          <p:cNvPr id="7" name="Rounded Rectangle 6"/>
          <p:cNvSpPr/>
          <p:nvPr/>
        </p:nvSpPr>
        <p:spPr>
          <a:xfrm>
            <a:off x="713232" y="4224528"/>
            <a:ext cx="2788920" cy="420624"/>
          </a:xfrm>
          <a:prstGeom prst="roundRect">
            <a:avLst>
              <a:gd name="adj" fmla="val 45000"/>
            </a:avLst>
          </a:prstGeom>
          <a:no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87552" y="4329684"/>
            <a:ext cx="2377440" cy="274320"/>
          </a:xfrm>
          <a:prstGeom prst="rect">
            <a:avLst/>
          </a:prstGeom>
          <a:noFill/>
        </p:spPr>
        <p:txBody>
          <a:bodyPr wrap="square" lIns="0" rIns="0" tIns="0" bIns="0" anchor="t">
            <a:spAutoFit/>
          </a:bodyPr>
          <a:lstStyle/>
          <a:p>
            <a:pPr algn="l">
              <a:lnSpc>
                <a:spcPct val="118000"/>
              </a:lnSpc>
            </a:pPr>
            <a:r>
              <a:rPr sz="1200" b="1" i="0">
                <a:solidFill>
                  <a:srgbClr val="34D399"/>
                </a:solidFill>
                <a:latin typeface="Inter" pitchFamily="34" charset="0"/>
                <a:cs typeface="Inter" pitchFamily="34" charset="0"/>
              </a:rPr>
              <a:t>Défi : Résilience climatique</a:t>
            </a:r>
          </a:p>
        </p:txBody>
      </p:sp>
      <p:sp>
        <p:nvSpPr>
          <p:cNvPr id="9" name="TextBox 8"/>
          <p:cNvSpPr txBox="1"/>
          <p:nvPr/>
        </p:nvSpPr>
        <p:spPr>
          <a:xfrm>
            <a:off x="713232" y="5074920"/>
            <a:ext cx="7315200" cy="822960"/>
          </a:xfrm>
          <a:prstGeom prst="rect">
            <a:avLst/>
          </a:prstGeom>
          <a:noFill/>
        </p:spPr>
        <p:txBody>
          <a:bodyPr wrap="square" lIns="0" rIns="0" tIns="0" bIns="0" anchor="t">
            <a:spAutoFit/>
          </a:bodyPr>
          <a:lstStyle/>
          <a:p>
            <a:pPr algn="l">
              <a:lnSpc>
                <a:spcPct val="135000"/>
              </a:lnSpc>
            </a:pPr>
            <a:r>
              <a:rPr sz="1300" b="0" i="0">
                <a:solidFill>
                  <a:srgbClr val="93A79D"/>
                </a:solidFill>
                <a:latin typeface="Inter" pitchFamily="34" charset="0"/>
                <a:cs typeface="Inter" pitchFamily="34" charset="0"/>
              </a:rPr>
              <a:t>Équipe KOBA David</a:t>
            </a:r>
          </a:p>
          <a:p>
            <a:pPr algn="l">
              <a:lnSpc>
                <a:spcPct val="135000"/>
              </a:lnSpc>
            </a:pPr>
            <a:r>
              <a:rPr sz="1300" b="0" i="0">
                <a:solidFill>
                  <a:srgbClr val="93A79D"/>
                </a:solidFill>
                <a:latin typeface="Inter" pitchFamily="34" charset="0"/>
                <a:cs typeface="Inter" pitchFamily="34" charset="0"/>
              </a:rPr>
              <a:t>Hackathon Deep Learning · IndabaX Bénin 2026 · Cotonou</a:t>
            </a:r>
          </a:p>
        </p:txBody>
      </p:sp>
      <p:sp>
        <p:nvSpPr>
          <p:cNvPr id="10" name="Rectangle 9"/>
          <p:cNvSpPr/>
          <p:nvPr/>
        </p:nvSpPr>
        <p:spPr>
          <a:xfrm>
            <a:off x="713232" y="6272784"/>
            <a:ext cx="10765231" cy="10972"/>
          </a:xfrm>
          <a:prstGeom prst="rect">
            <a:avLst/>
          </a:prstGeom>
          <a:solidFill>
            <a:srgbClr val="1E2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6400800"/>
            <a:ext cx="5486400" cy="237744"/>
          </a:xfrm>
          <a:prstGeom prst="rect">
            <a:avLst/>
          </a:prstGeom>
          <a:noFill/>
        </p:spPr>
        <p:txBody>
          <a:bodyPr wrap="square" lIns="0" rIns="0" tIns="0" bIns="0" anchor="t">
            <a:spAutoFit/>
          </a:bodyPr>
          <a:lstStyle/>
          <a:p>
            <a:pPr algn="l">
              <a:lnSpc>
                <a:spcPct val="118000"/>
              </a:lnSpc>
            </a:pPr>
            <a:r>
              <a:rPr sz="900" b="0" i="0">
                <a:solidFill>
                  <a:srgbClr val="93A79D"/>
                </a:solidFill>
                <a:latin typeface="Inter" pitchFamily="34" charset="0"/>
                <a:cs typeface="Inter" pitchFamily="34" charset="0"/>
              </a:rPr>
              <a:t>Terra Sentinelle · IndabaX Bénin 2026</a:t>
            </a:r>
          </a:p>
        </p:txBody>
      </p:sp>
      <p:sp>
        <p:nvSpPr>
          <p:cNvPr id="12" name="TextBox 11"/>
          <p:cNvSpPr txBox="1"/>
          <p:nvPr/>
        </p:nvSpPr>
        <p:spPr>
          <a:xfrm>
            <a:off x="10381183" y="6400800"/>
            <a:ext cx="1097280" cy="237744"/>
          </a:xfrm>
          <a:prstGeom prst="rect">
            <a:avLst/>
          </a:prstGeom>
          <a:noFill/>
        </p:spPr>
        <p:txBody>
          <a:bodyPr wrap="square" lIns="0" rIns="0" tIns="0" bIns="0" anchor="t">
            <a:spAutoFit/>
          </a:bodyPr>
          <a:lstStyle/>
          <a:p>
            <a:pPr algn="r">
              <a:lnSpc>
                <a:spcPct val="118000"/>
              </a:lnSpc>
            </a:pPr>
            <a:r>
              <a:rPr sz="900" b="0" i="0">
                <a:solidFill>
                  <a:srgbClr val="93A79D"/>
                </a:solidFill>
                <a:latin typeface="JetBrains Mono" pitchFamily="34" charset="0"/>
                <a:cs typeface="JetBrains Mono" pitchFamily="34" charset="0"/>
              </a:rPr>
              <a:t>01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608076"/>
            <a:ext cx="50292" cy="15544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96112" y="566928"/>
            <a:ext cx="8686800" cy="256032"/>
          </a:xfrm>
          <a:prstGeom prst="rect">
            <a:avLst/>
          </a:prstGeom>
          <a:noFill/>
        </p:spPr>
        <p:txBody>
          <a:bodyPr wrap="square" lIns="0" rIns="0" tIns="0" bIns="0" anchor="t">
            <a:spAutoFit/>
          </a:bodyPr>
          <a:lstStyle/>
          <a:p>
            <a:pPr algn="l">
              <a:lnSpc>
                <a:spcPct val="100000"/>
              </a:lnSpc>
            </a:pPr>
            <a:r>
              <a:rPr sz="1100" b="1" i="0">
                <a:solidFill>
                  <a:srgbClr val="34D399"/>
                </a:solidFill>
                <a:latin typeface="Inter" pitchFamily="34" charset="0"/>
                <a:cs typeface="Inter" pitchFamily="34" charset="0"/>
              </a:rPr>
              <a:t>LE CONSTAT</a:t>
            </a:r>
          </a:p>
        </p:txBody>
      </p:sp>
      <p:sp>
        <p:nvSpPr>
          <p:cNvPr id="5" name="Rectangle 4"/>
          <p:cNvSpPr/>
          <p:nvPr/>
        </p:nvSpPr>
        <p:spPr>
          <a:xfrm>
            <a:off x="713232" y="1143000"/>
            <a:ext cx="54864" cy="32461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16152" y="1188720"/>
            <a:ext cx="10332720" cy="1280160"/>
          </a:xfrm>
          <a:prstGeom prst="rect">
            <a:avLst/>
          </a:prstGeom>
          <a:noFill/>
        </p:spPr>
        <p:txBody>
          <a:bodyPr wrap="square" lIns="0" rIns="0" tIns="0" bIns="0" anchor="t">
            <a:spAutoFit/>
          </a:bodyPr>
          <a:lstStyle/>
          <a:p>
            <a:pPr algn="l">
              <a:lnSpc>
                <a:spcPct val="122000"/>
              </a:lnSpc>
            </a:pPr>
            <a:r>
              <a:rPr sz="2700" b="1" i="0">
                <a:solidFill>
                  <a:srgbClr val="E9F2ED"/>
                </a:solidFill>
                <a:latin typeface="Space Grotesk" pitchFamily="34" charset="0"/>
                <a:cs typeface="Space Grotesk" pitchFamily="34" charset="0"/>
              </a:rPr>
              <a:t>« Les couloirs de transhumance ont été délimités une fois.</a:t>
            </a:r>
          </a:p>
          <a:p>
            <a:pPr algn="l">
              <a:lnSpc>
                <a:spcPct val="122000"/>
              </a:lnSpc>
            </a:pPr>
            <a:r>
              <a:rPr sz="2700" b="1" i="0">
                <a:solidFill>
                  <a:srgbClr val="E9F2ED"/>
                </a:solidFill>
                <a:latin typeface="Space Grotesk" pitchFamily="34" charset="0"/>
                <a:cs typeface="Space Grotesk" pitchFamily="34" charset="0"/>
              </a:rPr>
              <a:t>Les champs, eux, changent chaque saison.</a:t>
            </a:r>
          </a:p>
        </p:txBody>
      </p:sp>
      <p:sp>
        <p:nvSpPr>
          <p:cNvPr id="7" name="TextBox 6"/>
          <p:cNvSpPr txBox="1"/>
          <p:nvPr/>
        </p:nvSpPr>
        <p:spPr>
          <a:xfrm>
            <a:off x="1216152" y="3127248"/>
            <a:ext cx="10332720" cy="1036015"/>
          </a:xfrm>
          <a:prstGeom prst="rect">
            <a:avLst/>
          </a:prstGeom>
          <a:noFill/>
        </p:spPr>
        <p:txBody>
          <a:bodyPr wrap="square" lIns="0" rIns="0" tIns="0" bIns="0" anchor="t">
            <a:spAutoFit/>
          </a:bodyPr>
          <a:lstStyle/>
          <a:p>
            <a:pPr algn="l">
              <a:lnSpc>
                <a:spcPct val="122000"/>
              </a:lnSpc>
            </a:pPr>
            <a:r>
              <a:rPr sz="2700" b="1" i="0">
                <a:solidFill>
                  <a:srgbClr val="34D399"/>
                </a:solidFill>
                <a:latin typeface="Space Grotesk" pitchFamily="34" charset="0"/>
                <a:cs typeface="Space Grotesk" pitchFamily="34" charset="0"/>
              </a:rPr>
              <a:t>Le conflit ne naît pas d'une carte absente,</a:t>
            </a:r>
          </a:p>
          <a:p>
            <a:pPr algn="l">
              <a:lnSpc>
                <a:spcPct val="122000"/>
              </a:lnSpc>
            </a:pPr>
            <a:r>
              <a:rPr sz="2700" b="1" i="0">
                <a:solidFill>
                  <a:srgbClr val="34D399"/>
                </a:solidFill>
                <a:latin typeface="Space Grotesk" pitchFamily="34" charset="0"/>
                <a:cs typeface="Space Grotesk" pitchFamily="34" charset="0"/>
              </a:rPr>
              <a:t>il naît d'une carte périmée. »</a:t>
            </a:r>
          </a:p>
        </p:txBody>
      </p:sp>
      <p:sp>
        <p:nvSpPr>
          <p:cNvPr id="8" name="Rectangle 7"/>
          <p:cNvSpPr/>
          <p:nvPr/>
        </p:nvSpPr>
        <p:spPr>
          <a:xfrm>
            <a:off x="713232" y="6272784"/>
            <a:ext cx="10765231" cy="10972"/>
          </a:xfrm>
          <a:prstGeom prst="rect">
            <a:avLst/>
          </a:prstGeom>
          <a:solidFill>
            <a:srgbClr val="1E2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6400800"/>
            <a:ext cx="5486400" cy="237744"/>
          </a:xfrm>
          <a:prstGeom prst="rect">
            <a:avLst/>
          </a:prstGeom>
          <a:noFill/>
        </p:spPr>
        <p:txBody>
          <a:bodyPr wrap="square" lIns="0" rIns="0" tIns="0" bIns="0" anchor="t">
            <a:spAutoFit/>
          </a:bodyPr>
          <a:lstStyle/>
          <a:p>
            <a:pPr algn="l">
              <a:lnSpc>
                <a:spcPct val="118000"/>
              </a:lnSpc>
            </a:pPr>
            <a:r>
              <a:rPr sz="900" b="0" i="0">
                <a:solidFill>
                  <a:srgbClr val="93A79D"/>
                </a:solidFill>
                <a:latin typeface="Inter" pitchFamily="34" charset="0"/>
                <a:cs typeface="Inter" pitchFamily="34" charset="0"/>
              </a:rPr>
              <a:t>Terra Sentinelle · IndabaX Bénin 2026</a:t>
            </a:r>
          </a:p>
        </p:txBody>
      </p:sp>
      <p:sp>
        <p:nvSpPr>
          <p:cNvPr id="10" name="TextBox 9"/>
          <p:cNvSpPr txBox="1"/>
          <p:nvPr/>
        </p:nvSpPr>
        <p:spPr>
          <a:xfrm>
            <a:off x="10381183" y="6400800"/>
            <a:ext cx="1097280" cy="237744"/>
          </a:xfrm>
          <a:prstGeom prst="rect">
            <a:avLst/>
          </a:prstGeom>
          <a:noFill/>
        </p:spPr>
        <p:txBody>
          <a:bodyPr wrap="square" lIns="0" rIns="0" tIns="0" bIns="0" anchor="t">
            <a:spAutoFit/>
          </a:bodyPr>
          <a:lstStyle/>
          <a:p>
            <a:pPr algn="r">
              <a:lnSpc>
                <a:spcPct val="118000"/>
              </a:lnSpc>
            </a:pPr>
            <a:r>
              <a:rPr sz="900" b="0" i="0">
                <a:solidFill>
                  <a:srgbClr val="93A79D"/>
                </a:solidFill>
                <a:latin typeface="JetBrains Mono" pitchFamily="34" charset="0"/>
                <a:cs typeface="JetBrains Mono" pitchFamily="34" charset="0"/>
              </a:rPr>
              <a:t>02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6272784"/>
            <a:ext cx="10765231" cy="10972"/>
          </a:xfrm>
          <a:prstGeom prst="rect">
            <a:avLst/>
          </a:prstGeom>
          <a:solidFill>
            <a:srgbClr val="1E2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6400800"/>
            <a:ext cx="5486400" cy="237744"/>
          </a:xfrm>
          <a:prstGeom prst="rect">
            <a:avLst/>
          </a:prstGeom>
          <a:noFill/>
        </p:spPr>
        <p:txBody>
          <a:bodyPr wrap="square" lIns="0" rIns="0" tIns="0" bIns="0" anchor="t">
            <a:spAutoFit/>
          </a:bodyPr>
          <a:lstStyle/>
          <a:p>
            <a:pPr algn="l">
              <a:lnSpc>
                <a:spcPct val="118000"/>
              </a:lnSpc>
            </a:pPr>
            <a:r>
              <a:rPr sz="900" b="0" i="0">
                <a:solidFill>
                  <a:srgbClr val="93A79D"/>
                </a:solidFill>
                <a:latin typeface="Inter" pitchFamily="34" charset="0"/>
                <a:cs typeface="Inter" pitchFamily="34" charset="0"/>
              </a:rPr>
              <a:t>Terra Sentinelle · IndabaX Bénin 2026</a:t>
            </a:r>
          </a:p>
        </p:txBody>
      </p:sp>
      <p:sp>
        <p:nvSpPr>
          <p:cNvPr id="5" name="TextBox 4"/>
          <p:cNvSpPr txBox="1"/>
          <p:nvPr/>
        </p:nvSpPr>
        <p:spPr>
          <a:xfrm>
            <a:off x="10381183" y="6400800"/>
            <a:ext cx="1097280" cy="237744"/>
          </a:xfrm>
          <a:prstGeom prst="rect">
            <a:avLst/>
          </a:prstGeom>
          <a:noFill/>
        </p:spPr>
        <p:txBody>
          <a:bodyPr wrap="square" lIns="0" rIns="0" tIns="0" bIns="0" anchor="t">
            <a:spAutoFit/>
          </a:bodyPr>
          <a:lstStyle/>
          <a:p>
            <a:pPr algn="r">
              <a:lnSpc>
                <a:spcPct val="118000"/>
              </a:lnSpc>
            </a:pPr>
            <a:r>
              <a:rPr sz="900" b="0" i="0">
                <a:solidFill>
                  <a:srgbClr val="93A79D"/>
                </a:solidFill>
                <a:latin typeface="JetBrains Mono" pitchFamily="34" charset="0"/>
                <a:cs typeface="JetBrains Mono" pitchFamily="34" charset="0"/>
              </a:rPr>
              <a:t>03 / 14</a:t>
            </a:r>
          </a:p>
        </p:txBody>
      </p:sp>
      <p:sp>
        <p:nvSpPr>
          <p:cNvPr id="6" name="Rectangle 5"/>
          <p:cNvSpPr/>
          <p:nvPr/>
        </p:nvSpPr>
        <p:spPr>
          <a:xfrm>
            <a:off x="713232" y="608076"/>
            <a:ext cx="50292" cy="15544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66928"/>
            <a:ext cx="8686800" cy="256032"/>
          </a:xfrm>
          <a:prstGeom prst="rect">
            <a:avLst/>
          </a:prstGeom>
          <a:noFill/>
        </p:spPr>
        <p:txBody>
          <a:bodyPr wrap="square" lIns="0" rIns="0" tIns="0" bIns="0" anchor="t">
            <a:spAutoFit/>
          </a:bodyPr>
          <a:lstStyle/>
          <a:p>
            <a:pPr algn="l">
              <a:lnSpc>
                <a:spcPct val="100000"/>
              </a:lnSpc>
            </a:pPr>
            <a:r>
              <a:rPr sz="1100" b="1" i="0">
                <a:solidFill>
                  <a:srgbClr val="34D399"/>
                </a:solidFill>
                <a:latin typeface="Inter" pitchFamily="34" charset="0"/>
                <a:cs typeface="Inter" pitchFamily="34" charset="0"/>
              </a:rPr>
              <a:t>LE PROBLÈME</a:t>
            </a:r>
          </a:p>
        </p:txBody>
      </p:sp>
      <p:sp>
        <p:nvSpPr>
          <p:cNvPr id="8" name="TextBox 7"/>
          <p:cNvSpPr txBox="1"/>
          <p:nvPr/>
        </p:nvSpPr>
        <p:spPr>
          <a:xfrm>
            <a:off x="713232" y="932688"/>
            <a:ext cx="10765231" cy="1001268"/>
          </a:xfrm>
          <a:prstGeom prst="rect">
            <a:avLst/>
          </a:prstGeom>
          <a:noFill/>
        </p:spPr>
        <p:txBody>
          <a:bodyPr wrap="square" lIns="0" rIns="0" tIns="0" bIns="0" anchor="t">
            <a:spAutoFit/>
          </a:bodyPr>
          <a:lstStyle/>
          <a:p>
            <a:pPr algn="l">
              <a:lnSpc>
                <a:spcPct val="106000"/>
              </a:lnSpc>
            </a:pPr>
            <a:r>
              <a:rPr sz="3000" b="1" i="0">
                <a:solidFill>
                  <a:srgbClr val="E9F2ED"/>
                </a:solidFill>
                <a:latin typeface="Space Grotesk" pitchFamily="34" charset="0"/>
                <a:cs typeface="Space Grotesk" pitchFamily="34" charset="0"/>
              </a:rPr>
              <a:t>Ce n'est pas un problème spatial.</a:t>
            </a:r>
          </a:p>
          <a:p>
            <a:pPr algn="l">
              <a:lnSpc>
                <a:spcPct val="106000"/>
              </a:lnSpc>
            </a:pPr>
            <a:r>
              <a:rPr sz="3000" b="1" i="0">
                <a:solidFill>
                  <a:srgbClr val="E9F2ED"/>
                </a:solidFill>
                <a:latin typeface="Space Grotesk" pitchFamily="34" charset="0"/>
                <a:cs typeface="Space Grotesk" pitchFamily="34" charset="0"/>
              </a:rPr>
              <a:t>C'est un problème temporel.</a:t>
            </a:r>
          </a:p>
        </p:txBody>
      </p:sp>
      <p:sp>
        <p:nvSpPr>
          <p:cNvPr id="9" name="TextBox 8"/>
          <p:cNvSpPr txBox="1"/>
          <p:nvPr/>
        </p:nvSpPr>
        <p:spPr>
          <a:xfrm>
            <a:off x="713232" y="2304288"/>
            <a:ext cx="10789920" cy="365760"/>
          </a:xfrm>
          <a:prstGeom prst="rect">
            <a:avLst/>
          </a:prstGeom>
          <a:noFill/>
        </p:spPr>
        <p:txBody>
          <a:bodyPr wrap="square" lIns="0" rIns="0" tIns="0" bIns="0" anchor="t">
            <a:spAutoFit/>
          </a:bodyPr>
          <a:lstStyle/>
          <a:p>
            <a:pPr algn="l">
              <a:lnSpc>
                <a:spcPct val="118000"/>
              </a:lnSpc>
            </a:pPr>
            <a:r>
              <a:rPr sz="1300" b="0" i="0">
                <a:solidFill>
                  <a:srgbClr val="D9B48F"/>
                </a:solidFill>
                <a:latin typeface="Inter" pitchFamily="34" charset="0"/>
                <a:cs typeface="Inter" pitchFamily="34" charset="0"/>
              </a:rPr>
              <a:t>Nord du Bénin · conflits agriculteurs–éleveurs</a:t>
            </a:r>
          </a:p>
        </p:txBody>
      </p:sp>
      <p:sp>
        <p:nvSpPr>
          <p:cNvPr id="10" name="Rounded Rectangle 9"/>
          <p:cNvSpPr/>
          <p:nvPr/>
        </p:nvSpPr>
        <p:spPr>
          <a:xfrm>
            <a:off x="713232" y="2880360"/>
            <a:ext cx="3405530" cy="2057400"/>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2869387"/>
            <a:ext cx="3405530" cy="457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3172968"/>
            <a:ext cx="2930042" cy="305104"/>
          </a:xfrm>
          <a:prstGeom prst="rect">
            <a:avLst/>
          </a:prstGeom>
          <a:noFill/>
        </p:spPr>
        <p:txBody>
          <a:bodyPr wrap="square" lIns="0" rIns="0" tIns="0" bIns="0" anchor="t">
            <a:spAutoFit/>
          </a:bodyPr>
          <a:lstStyle/>
          <a:p>
            <a:pPr algn="l">
              <a:lnSpc>
                <a:spcPct val="112000"/>
              </a:lnSpc>
            </a:pPr>
            <a:r>
              <a:rPr sz="1600" b="1" i="0">
                <a:solidFill>
                  <a:srgbClr val="E9F2ED"/>
                </a:solidFill>
                <a:latin typeface="Space Grotesk" pitchFamily="34" charset="0"/>
                <a:cs typeface="Space Grotesk" pitchFamily="34" charset="0"/>
              </a:rPr>
              <a:t>La carte existe</a:t>
            </a:r>
          </a:p>
        </p:txBody>
      </p:sp>
      <p:sp>
        <p:nvSpPr>
          <p:cNvPr id="13" name="TextBox 12"/>
          <p:cNvSpPr txBox="1"/>
          <p:nvPr/>
        </p:nvSpPr>
        <p:spPr>
          <a:xfrm>
            <a:off x="950976" y="3624376"/>
            <a:ext cx="2930042" cy="804672"/>
          </a:xfrm>
          <a:prstGeom prst="rect">
            <a:avLst/>
          </a:prstGeom>
          <a:noFill/>
        </p:spPr>
        <p:txBody>
          <a:bodyPr wrap="square" lIns="0" rIns="0" tIns="0" bIns="0" anchor="t">
            <a:spAutoFit/>
          </a:bodyPr>
          <a:lstStyle/>
          <a:p>
            <a:pPr algn="l">
              <a:lnSpc>
                <a:spcPct val="130000"/>
              </a:lnSpc>
            </a:pPr>
            <a:r>
              <a:rPr sz="1300" b="0" i="0">
                <a:solidFill>
                  <a:srgbClr val="93A79D"/>
                </a:solidFill>
                <a:latin typeface="Inter" pitchFamily="34" charset="0"/>
                <a:cs typeface="Inter" pitchFamily="34" charset="0"/>
              </a:rPr>
              <a:t>Couloirs délimités,</a:t>
            </a:r>
          </a:p>
          <a:p>
            <a:pPr algn="l">
              <a:lnSpc>
                <a:spcPct val="130000"/>
              </a:lnSpc>
            </a:pPr>
            <a:r>
              <a:rPr sz="1300" b="0" i="0">
                <a:solidFill>
                  <a:srgbClr val="93A79D"/>
                </a:solidFill>
                <a:latin typeface="Inter" pitchFamily="34" charset="0"/>
                <a:cs typeface="Inter" pitchFamily="34" charset="0"/>
              </a:rPr>
              <a:t>balisés, actés.</a:t>
            </a:r>
          </a:p>
          <a:p>
            <a:pPr algn="l">
              <a:lnSpc>
                <a:spcPct val="130000"/>
              </a:lnSpc>
            </a:pPr>
            <a:r>
              <a:rPr sz="1300" b="0" i="0">
                <a:solidFill>
                  <a:srgbClr val="93A79D"/>
                </a:solidFill>
                <a:latin typeface="Inter" pitchFamily="34" charset="0"/>
                <a:cs typeface="Inter" pitchFamily="34" charset="0"/>
              </a:rPr>
              <a:t>Une fois.</a:t>
            </a:r>
          </a:p>
        </p:txBody>
      </p:sp>
      <p:sp>
        <p:nvSpPr>
          <p:cNvPr id="14" name="Rounded Rectangle 13"/>
          <p:cNvSpPr/>
          <p:nvPr/>
        </p:nvSpPr>
        <p:spPr>
          <a:xfrm>
            <a:off x="4393082" y="2880360"/>
            <a:ext cx="3405530" cy="2057400"/>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93082" y="2869387"/>
            <a:ext cx="3405530" cy="45720"/>
          </a:xfrm>
          <a:prstGeom prst="rect">
            <a:avLst/>
          </a:prstGeom>
          <a:solidFill>
            <a:srgbClr val="D9B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0826" y="3172968"/>
            <a:ext cx="2930042" cy="305104"/>
          </a:xfrm>
          <a:prstGeom prst="rect">
            <a:avLst/>
          </a:prstGeom>
          <a:noFill/>
        </p:spPr>
        <p:txBody>
          <a:bodyPr wrap="square" lIns="0" rIns="0" tIns="0" bIns="0" anchor="t">
            <a:spAutoFit/>
          </a:bodyPr>
          <a:lstStyle/>
          <a:p>
            <a:pPr algn="l">
              <a:lnSpc>
                <a:spcPct val="112000"/>
              </a:lnSpc>
            </a:pPr>
            <a:r>
              <a:rPr sz="1600" b="1" i="0">
                <a:solidFill>
                  <a:srgbClr val="E9F2ED"/>
                </a:solidFill>
                <a:latin typeface="Space Grotesk" pitchFamily="34" charset="0"/>
                <a:cs typeface="Space Grotesk" pitchFamily="34" charset="0"/>
              </a:rPr>
              <a:t>Le sol a bougé</a:t>
            </a:r>
          </a:p>
        </p:txBody>
      </p:sp>
      <p:sp>
        <p:nvSpPr>
          <p:cNvPr id="17" name="TextBox 16"/>
          <p:cNvSpPr txBox="1"/>
          <p:nvPr/>
        </p:nvSpPr>
        <p:spPr>
          <a:xfrm>
            <a:off x="4630826" y="3624376"/>
            <a:ext cx="2930042" cy="804672"/>
          </a:xfrm>
          <a:prstGeom prst="rect">
            <a:avLst/>
          </a:prstGeom>
          <a:noFill/>
        </p:spPr>
        <p:txBody>
          <a:bodyPr wrap="square" lIns="0" rIns="0" tIns="0" bIns="0" anchor="t">
            <a:spAutoFit/>
          </a:bodyPr>
          <a:lstStyle/>
          <a:p>
            <a:pPr algn="l">
              <a:lnSpc>
                <a:spcPct val="130000"/>
              </a:lnSpc>
            </a:pPr>
            <a:r>
              <a:rPr sz="1300" b="0" i="0">
                <a:solidFill>
                  <a:srgbClr val="93A79D"/>
                </a:solidFill>
                <a:latin typeface="Inter" pitchFamily="34" charset="0"/>
                <a:cs typeface="Inter" pitchFamily="34" charset="0"/>
              </a:rPr>
              <a:t>Mise en culture,</a:t>
            </a:r>
          </a:p>
          <a:p>
            <a:pPr algn="l">
              <a:lnSpc>
                <a:spcPct val="130000"/>
              </a:lnSpc>
            </a:pPr>
            <a:r>
              <a:rPr sz="1300" b="0" i="0">
                <a:solidFill>
                  <a:srgbClr val="93A79D"/>
                </a:solidFill>
                <a:latin typeface="Inter" pitchFamily="34" charset="0"/>
                <a:cs typeface="Inter" pitchFamily="34" charset="0"/>
              </a:rPr>
              <a:t>extension cotonnière,</a:t>
            </a:r>
          </a:p>
          <a:p>
            <a:pPr algn="l">
              <a:lnSpc>
                <a:spcPct val="130000"/>
              </a:lnSpc>
            </a:pPr>
            <a:r>
              <a:rPr sz="1300" b="0" i="0">
                <a:solidFill>
                  <a:srgbClr val="93A79D"/>
                </a:solidFill>
                <a:latin typeface="Inter" pitchFamily="34" charset="0"/>
                <a:cs typeface="Inter" pitchFamily="34" charset="0"/>
              </a:rPr>
              <a:t>chaque saison.</a:t>
            </a:r>
          </a:p>
        </p:txBody>
      </p:sp>
      <p:sp>
        <p:nvSpPr>
          <p:cNvPr id="18" name="Rounded Rectangle 17"/>
          <p:cNvSpPr/>
          <p:nvPr/>
        </p:nvSpPr>
        <p:spPr>
          <a:xfrm>
            <a:off x="8072932" y="2880360"/>
            <a:ext cx="3405530" cy="2057400"/>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2869387"/>
            <a:ext cx="3405530" cy="45720"/>
          </a:xfrm>
          <a:prstGeom prst="rect">
            <a:avLst/>
          </a:prstGeom>
          <a:solidFill>
            <a:srgbClr val="F066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0676" y="3172968"/>
            <a:ext cx="2930042" cy="578205"/>
          </a:xfrm>
          <a:prstGeom prst="rect">
            <a:avLst/>
          </a:prstGeom>
          <a:noFill/>
        </p:spPr>
        <p:txBody>
          <a:bodyPr wrap="square" lIns="0" rIns="0" tIns="0" bIns="0" anchor="t">
            <a:spAutoFit/>
          </a:bodyPr>
          <a:lstStyle/>
          <a:p>
            <a:pPr algn="l">
              <a:lnSpc>
                <a:spcPct val="112000"/>
              </a:lnSpc>
            </a:pPr>
            <a:r>
              <a:rPr sz="1600" b="1" i="0">
                <a:solidFill>
                  <a:srgbClr val="E9F2ED"/>
                </a:solidFill>
                <a:latin typeface="Space Grotesk" pitchFamily="34" charset="0"/>
                <a:cs typeface="Space Grotesk" pitchFamily="34" charset="0"/>
              </a:rPr>
              <a:t>Le comité décide</a:t>
            </a:r>
          </a:p>
          <a:p>
            <a:pPr algn="l">
              <a:lnSpc>
                <a:spcPct val="112000"/>
              </a:lnSpc>
            </a:pPr>
            <a:r>
              <a:rPr sz="1600" b="1" i="0">
                <a:solidFill>
                  <a:srgbClr val="E9F2ED"/>
                </a:solidFill>
                <a:latin typeface="Space Grotesk" pitchFamily="34" charset="0"/>
                <a:cs typeface="Space Grotesk" pitchFamily="34" charset="0"/>
              </a:rPr>
              <a:t>à l'aveugle</a:t>
            </a:r>
          </a:p>
        </p:txBody>
      </p:sp>
      <p:sp>
        <p:nvSpPr>
          <p:cNvPr id="21" name="TextBox 20"/>
          <p:cNvSpPr txBox="1"/>
          <p:nvPr/>
        </p:nvSpPr>
        <p:spPr>
          <a:xfrm>
            <a:off x="8310676" y="3897477"/>
            <a:ext cx="2930042" cy="547116"/>
          </a:xfrm>
          <a:prstGeom prst="rect">
            <a:avLst/>
          </a:prstGeom>
          <a:noFill/>
        </p:spPr>
        <p:txBody>
          <a:bodyPr wrap="square" lIns="0" rIns="0" tIns="0" bIns="0" anchor="t">
            <a:spAutoFit/>
          </a:bodyPr>
          <a:lstStyle/>
          <a:p>
            <a:pPr algn="l">
              <a:lnSpc>
                <a:spcPct val="130000"/>
              </a:lnSpc>
            </a:pPr>
            <a:r>
              <a:rPr sz="1300" b="0" i="0">
                <a:solidFill>
                  <a:srgbClr val="93A79D"/>
                </a:solidFill>
                <a:latin typeface="Inter" pitchFamily="34" charset="0"/>
                <a:cs typeface="Inter" pitchFamily="34" charset="0"/>
              </a:rPr>
              <a:t>Il arbitre sans image</a:t>
            </a:r>
          </a:p>
          <a:p>
            <a:pPr algn="l">
              <a:lnSpc>
                <a:spcPct val="130000"/>
              </a:lnSpc>
            </a:pPr>
            <a:r>
              <a:rPr sz="1300" b="0" i="0">
                <a:solidFill>
                  <a:srgbClr val="93A79D"/>
                </a:solidFill>
                <a:latin typeface="Inter" pitchFamily="34" charset="0"/>
                <a:cs typeface="Inter" pitchFamily="34" charset="0"/>
              </a:rPr>
              <a:t>récente du terrain.</a:t>
            </a:r>
          </a:p>
        </p:txBody>
      </p:sp>
      <p:sp>
        <p:nvSpPr>
          <p:cNvPr id="22" name="TextBox 21"/>
          <p:cNvSpPr txBox="1"/>
          <p:nvPr/>
        </p:nvSpPr>
        <p:spPr>
          <a:xfrm>
            <a:off x="713232" y="5285232"/>
            <a:ext cx="10789920" cy="457200"/>
          </a:xfrm>
          <a:prstGeom prst="rect">
            <a:avLst/>
          </a:prstGeom>
          <a:noFill/>
        </p:spPr>
        <p:txBody>
          <a:bodyPr wrap="square" lIns="0" rIns="0" tIns="0" bIns="0" anchor="t">
            <a:spAutoFit/>
          </a:bodyPr>
          <a:lstStyle/>
          <a:p>
            <a:pPr algn="l">
              <a:lnSpc>
                <a:spcPct val="118000"/>
              </a:lnSpc>
            </a:pPr>
            <a:r>
              <a:rPr sz="1700" b="1" i="0">
                <a:solidFill>
                  <a:srgbClr val="E9F2ED"/>
                </a:solidFill>
                <a:latin typeface="Space Grotesk" pitchFamily="34" charset="0"/>
                <a:cs typeface="Space Grotesk" pitchFamily="34" charset="0"/>
              </a:rPr>
              <a:t>La carte est périmée avant d'être utilisée.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6272784"/>
            <a:ext cx="10765231" cy="10972"/>
          </a:xfrm>
          <a:prstGeom prst="rect">
            <a:avLst/>
          </a:prstGeom>
          <a:solidFill>
            <a:srgbClr val="1E2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6400800"/>
            <a:ext cx="5486400" cy="237744"/>
          </a:xfrm>
          <a:prstGeom prst="rect">
            <a:avLst/>
          </a:prstGeom>
          <a:noFill/>
        </p:spPr>
        <p:txBody>
          <a:bodyPr wrap="square" lIns="0" rIns="0" tIns="0" bIns="0" anchor="t">
            <a:spAutoFit/>
          </a:bodyPr>
          <a:lstStyle/>
          <a:p>
            <a:pPr algn="l">
              <a:lnSpc>
                <a:spcPct val="118000"/>
              </a:lnSpc>
            </a:pPr>
            <a:r>
              <a:rPr sz="900" b="0" i="0">
                <a:solidFill>
                  <a:srgbClr val="93A79D"/>
                </a:solidFill>
                <a:latin typeface="Inter" pitchFamily="34" charset="0"/>
                <a:cs typeface="Inter" pitchFamily="34" charset="0"/>
              </a:rPr>
              <a:t>Terra Sentinelle · IndabaX Bénin 2026</a:t>
            </a:r>
          </a:p>
        </p:txBody>
      </p:sp>
      <p:sp>
        <p:nvSpPr>
          <p:cNvPr id="5" name="TextBox 4"/>
          <p:cNvSpPr txBox="1"/>
          <p:nvPr/>
        </p:nvSpPr>
        <p:spPr>
          <a:xfrm>
            <a:off x="10381183" y="6400800"/>
            <a:ext cx="1097280" cy="237744"/>
          </a:xfrm>
          <a:prstGeom prst="rect">
            <a:avLst/>
          </a:prstGeom>
          <a:noFill/>
        </p:spPr>
        <p:txBody>
          <a:bodyPr wrap="square" lIns="0" rIns="0" tIns="0" bIns="0" anchor="t">
            <a:spAutoFit/>
          </a:bodyPr>
          <a:lstStyle/>
          <a:p>
            <a:pPr algn="r">
              <a:lnSpc>
                <a:spcPct val="118000"/>
              </a:lnSpc>
            </a:pPr>
            <a:r>
              <a:rPr sz="900" b="0" i="0">
                <a:solidFill>
                  <a:srgbClr val="93A79D"/>
                </a:solidFill>
                <a:latin typeface="JetBrains Mono" pitchFamily="34" charset="0"/>
                <a:cs typeface="JetBrains Mono" pitchFamily="34" charset="0"/>
              </a:rPr>
              <a:t>04 / 14</a:t>
            </a:r>
          </a:p>
        </p:txBody>
      </p:sp>
      <p:sp>
        <p:nvSpPr>
          <p:cNvPr id="6" name="Rectangle 5"/>
          <p:cNvSpPr/>
          <p:nvPr/>
        </p:nvSpPr>
        <p:spPr>
          <a:xfrm>
            <a:off x="713232" y="608076"/>
            <a:ext cx="50292" cy="15544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66928"/>
            <a:ext cx="8686800" cy="256032"/>
          </a:xfrm>
          <a:prstGeom prst="rect">
            <a:avLst/>
          </a:prstGeom>
          <a:noFill/>
        </p:spPr>
        <p:txBody>
          <a:bodyPr wrap="square" lIns="0" rIns="0" tIns="0" bIns="0" anchor="t">
            <a:spAutoFit/>
          </a:bodyPr>
          <a:lstStyle/>
          <a:p>
            <a:pPr algn="l">
              <a:lnSpc>
                <a:spcPct val="100000"/>
              </a:lnSpc>
            </a:pPr>
            <a:r>
              <a:rPr sz="1100" b="1" i="0">
                <a:solidFill>
                  <a:srgbClr val="34D399"/>
                </a:solidFill>
                <a:latin typeface="Inter" pitchFamily="34" charset="0"/>
                <a:cs typeface="Inter" pitchFamily="34" charset="0"/>
              </a:rPr>
              <a:t>NOTRE UTILISATEUR</a:t>
            </a:r>
          </a:p>
        </p:txBody>
      </p:sp>
      <p:sp>
        <p:nvSpPr>
          <p:cNvPr id="8" name="TextBox 7"/>
          <p:cNvSpPr txBox="1"/>
          <p:nvPr/>
        </p:nvSpPr>
        <p:spPr>
          <a:xfrm>
            <a:off x="713232" y="932688"/>
            <a:ext cx="10765231" cy="581253"/>
          </a:xfrm>
          <a:prstGeom prst="rect">
            <a:avLst/>
          </a:prstGeom>
          <a:noFill/>
        </p:spPr>
        <p:txBody>
          <a:bodyPr wrap="square" lIns="0" rIns="0" tIns="0" bIns="0" anchor="t">
            <a:spAutoFit/>
          </a:bodyPr>
          <a:lstStyle/>
          <a:p>
            <a:pPr algn="l">
              <a:lnSpc>
                <a:spcPct val="106000"/>
              </a:lnSpc>
            </a:pPr>
            <a:r>
              <a:rPr sz="3400" b="1" i="0">
                <a:solidFill>
                  <a:srgbClr val="E9F2ED"/>
                </a:solidFill>
                <a:latin typeface="Space Grotesk" pitchFamily="34" charset="0"/>
                <a:cs typeface="Space Grotesk" pitchFamily="34" charset="0"/>
              </a:rPr>
              <a:t>Moussa Gounou</a:t>
            </a:r>
          </a:p>
        </p:txBody>
      </p:sp>
      <p:sp>
        <p:nvSpPr>
          <p:cNvPr id="9" name="TextBox 8"/>
          <p:cNvSpPr txBox="1"/>
          <p:nvPr/>
        </p:nvSpPr>
        <p:spPr>
          <a:xfrm>
            <a:off x="713232" y="1810512"/>
            <a:ext cx="7315200" cy="365760"/>
          </a:xfrm>
          <a:prstGeom prst="rect">
            <a:avLst/>
          </a:prstGeom>
          <a:noFill/>
        </p:spPr>
        <p:txBody>
          <a:bodyPr wrap="square" lIns="0" rIns="0" tIns="0" bIns="0" anchor="t">
            <a:spAutoFit/>
          </a:bodyPr>
          <a:lstStyle/>
          <a:p>
            <a:pPr algn="l">
              <a:lnSpc>
                <a:spcPct val="118000"/>
              </a:lnSpc>
            </a:pPr>
            <a:r>
              <a:rPr sz="1500" b="0" i="0">
                <a:solidFill>
                  <a:srgbClr val="D9B48F"/>
                </a:solidFill>
                <a:latin typeface="Inter" pitchFamily="34" charset="0"/>
                <a:cs typeface="Inter" pitchFamily="34" charset="0"/>
              </a:rPr>
              <a:t>Agent d'élevage · mairie de Banikoara (Alibori)</a:t>
            </a:r>
          </a:p>
        </p:txBody>
      </p:sp>
      <p:sp>
        <p:nvSpPr>
          <p:cNvPr id="10" name="Rounded Rectangle 9"/>
          <p:cNvSpPr/>
          <p:nvPr/>
        </p:nvSpPr>
        <p:spPr>
          <a:xfrm>
            <a:off x="713232" y="2395728"/>
            <a:ext cx="5074920" cy="3401568"/>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2384755"/>
            <a:ext cx="5074920" cy="457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2724912"/>
            <a:ext cx="4480560" cy="320040"/>
          </a:xfrm>
          <a:prstGeom prst="rect">
            <a:avLst/>
          </a:prstGeom>
          <a:noFill/>
        </p:spPr>
        <p:txBody>
          <a:bodyPr wrap="square" lIns="0" rIns="0" tIns="0" bIns="0" anchor="t">
            <a:spAutoFit/>
          </a:bodyPr>
          <a:lstStyle/>
          <a:p>
            <a:pPr algn="l">
              <a:lnSpc>
                <a:spcPct val="118000"/>
              </a:lnSpc>
            </a:pPr>
            <a:r>
              <a:rPr sz="1100" b="1" i="0">
                <a:solidFill>
                  <a:srgbClr val="34D399"/>
                </a:solidFill>
                <a:latin typeface="Inter" pitchFamily="34" charset="0"/>
                <a:cs typeface="Inter" pitchFamily="34" charset="0"/>
              </a:rPr>
              <a:t>SON SCÉNARIO, AVANT LA SAISON</a:t>
            </a:r>
          </a:p>
        </p:txBody>
      </p:sp>
      <p:sp>
        <p:nvSpPr>
          <p:cNvPr id="13" name="TextBox 12"/>
          <p:cNvSpPr txBox="1"/>
          <p:nvPr/>
        </p:nvSpPr>
        <p:spPr>
          <a:xfrm>
            <a:off x="1005840" y="3200400"/>
            <a:ext cx="365760" cy="274320"/>
          </a:xfrm>
          <a:prstGeom prst="rect">
            <a:avLst/>
          </a:prstGeom>
          <a:noFill/>
        </p:spPr>
        <p:txBody>
          <a:bodyPr wrap="square" lIns="0" rIns="0" tIns="0" bIns="0" anchor="t">
            <a:spAutoFit/>
          </a:bodyPr>
          <a:lstStyle/>
          <a:p>
            <a:pPr algn="l">
              <a:lnSpc>
                <a:spcPct val="118000"/>
              </a:lnSpc>
            </a:pPr>
            <a:r>
              <a:rPr sz="1200" b="1" i="0">
                <a:solidFill>
                  <a:srgbClr val="34D399"/>
                </a:solidFill>
                <a:latin typeface="JetBrains Mono" pitchFamily="34" charset="0"/>
                <a:cs typeface="JetBrains Mono" pitchFamily="34" charset="0"/>
              </a:rPr>
              <a:t>1</a:t>
            </a:r>
          </a:p>
        </p:txBody>
      </p:sp>
      <p:sp>
        <p:nvSpPr>
          <p:cNvPr id="14" name="TextBox 13"/>
          <p:cNvSpPr txBox="1"/>
          <p:nvPr/>
        </p:nvSpPr>
        <p:spPr>
          <a:xfrm>
            <a:off x="1426464" y="3182112"/>
            <a:ext cx="4114800" cy="384048"/>
          </a:xfrm>
          <a:prstGeom prst="rect">
            <a:avLst/>
          </a:prstGeom>
          <a:noFill/>
        </p:spPr>
        <p:txBody>
          <a:bodyPr wrap="square" lIns="0" rIns="0" tIns="0" bIns="0" anchor="t">
            <a:spAutoFit/>
          </a:bodyPr>
          <a:lstStyle/>
          <a:p>
            <a:pPr algn="l">
              <a:lnSpc>
                <a:spcPct val="120000"/>
              </a:lnSpc>
            </a:pPr>
            <a:r>
              <a:rPr sz="1350" b="0" i="0">
                <a:solidFill>
                  <a:srgbClr val="E9F2ED"/>
                </a:solidFill>
                <a:latin typeface="Inter" pitchFamily="34" charset="0"/>
                <a:cs typeface="Inter" pitchFamily="34" charset="0"/>
              </a:rPr>
              <a:t>Il reçoit la carte de friction du couloir</a:t>
            </a:r>
          </a:p>
        </p:txBody>
      </p:sp>
      <p:sp>
        <p:nvSpPr>
          <p:cNvPr id="15" name="TextBox 14"/>
          <p:cNvSpPr txBox="1"/>
          <p:nvPr/>
        </p:nvSpPr>
        <p:spPr>
          <a:xfrm>
            <a:off x="1005840" y="3749039"/>
            <a:ext cx="365760" cy="274320"/>
          </a:xfrm>
          <a:prstGeom prst="rect">
            <a:avLst/>
          </a:prstGeom>
          <a:noFill/>
        </p:spPr>
        <p:txBody>
          <a:bodyPr wrap="square" lIns="0" rIns="0" tIns="0" bIns="0" anchor="t">
            <a:spAutoFit/>
          </a:bodyPr>
          <a:lstStyle/>
          <a:p>
            <a:pPr algn="l">
              <a:lnSpc>
                <a:spcPct val="118000"/>
              </a:lnSpc>
            </a:pPr>
            <a:r>
              <a:rPr sz="1200" b="1" i="0">
                <a:solidFill>
                  <a:srgbClr val="34D399"/>
                </a:solidFill>
                <a:latin typeface="JetBrains Mono" pitchFamily="34" charset="0"/>
                <a:cs typeface="JetBrains Mono" pitchFamily="34" charset="0"/>
              </a:rPr>
              <a:t>2</a:t>
            </a:r>
          </a:p>
        </p:txBody>
      </p:sp>
      <p:sp>
        <p:nvSpPr>
          <p:cNvPr id="16" name="TextBox 15"/>
          <p:cNvSpPr txBox="1"/>
          <p:nvPr/>
        </p:nvSpPr>
        <p:spPr>
          <a:xfrm>
            <a:off x="1426464" y="3730752"/>
            <a:ext cx="4114800" cy="384048"/>
          </a:xfrm>
          <a:prstGeom prst="rect">
            <a:avLst/>
          </a:prstGeom>
          <a:noFill/>
        </p:spPr>
        <p:txBody>
          <a:bodyPr wrap="square" lIns="0" rIns="0" tIns="0" bIns="0" anchor="t">
            <a:spAutoFit/>
          </a:bodyPr>
          <a:lstStyle/>
          <a:p>
            <a:pPr algn="l">
              <a:lnSpc>
                <a:spcPct val="120000"/>
              </a:lnSpc>
            </a:pPr>
            <a:r>
              <a:rPr sz="1350" b="0" i="0">
                <a:solidFill>
                  <a:srgbClr val="E9F2ED"/>
                </a:solidFill>
                <a:latin typeface="Inter" pitchFamily="34" charset="0"/>
                <a:cs typeface="Inter" pitchFamily="34" charset="0"/>
              </a:rPr>
              <a:t>Il va vérifier sur le terrain, hors réseau</a:t>
            </a:r>
          </a:p>
        </p:txBody>
      </p:sp>
      <p:sp>
        <p:nvSpPr>
          <p:cNvPr id="17" name="TextBox 16"/>
          <p:cNvSpPr txBox="1"/>
          <p:nvPr/>
        </p:nvSpPr>
        <p:spPr>
          <a:xfrm>
            <a:off x="1005840" y="4297680"/>
            <a:ext cx="365760" cy="274320"/>
          </a:xfrm>
          <a:prstGeom prst="rect">
            <a:avLst/>
          </a:prstGeom>
          <a:noFill/>
        </p:spPr>
        <p:txBody>
          <a:bodyPr wrap="square" lIns="0" rIns="0" tIns="0" bIns="0" anchor="t">
            <a:spAutoFit/>
          </a:bodyPr>
          <a:lstStyle/>
          <a:p>
            <a:pPr algn="l">
              <a:lnSpc>
                <a:spcPct val="118000"/>
              </a:lnSpc>
            </a:pPr>
            <a:r>
              <a:rPr sz="1200" b="1" i="0">
                <a:solidFill>
                  <a:srgbClr val="34D399"/>
                </a:solidFill>
                <a:latin typeface="JetBrains Mono" pitchFamily="34" charset="0"/>
                <a:cs typeface="JetBrains Mono" pitchFamily="34" charset="0"/>
              </a:rPr>
              <a:t>3</a:t>
            </a:r>
          </a:p>
        </p:txBody>
      </p:sp>
      <p:sp>
        <p:nvSpPr>
          <p:cNvPr id="18" name="TextBox 17"/>
          <p:cNvSpPr txBox="1"/>
          <p:nvPr/>
        </p:nvSpPr>
        <p:spPr>
          <a:xfrm>
            <a:off x="1426464" y="4279392"/>
            <a:ext cx="4114800" cy="384048"/>
          </a:xfrm>
          <a:prstGeom prst="rect">
            <a:avLst/>
          </a:prstGeom>
          <a:noFill/>
        </p:spPr>
        <p:txBody>
          <a:bodyPr wrap="square" lIns="0" rIns="0" tIns="0" bIns="0" anchor="t">
            <a:spAutoFit/>
          </a:bodyPr>
          <a:lstStyle/>
          <a:p>
            <a:pPr algn="l">
              <a:lnSpc>
                <a:spcPct val="120000"/>
              </a:lnSpc>
            </a:pPr>
            <a:r>
              <a:rPr sz="1350" b="0" i="0">
                <a:solidFill>
                  <a:srgbClr val="E9F2ED"/>
                </a:solidFill>
                <a:latin typeface="Inter" pitchFamily="34" charset="0"/>
                <a:cs typeface="Inter" pitchFamily="34" charset="0"/>
              </a:rPr>
              <a:t>Il confirme ou invalide depuis son téléphone</a:t>
            </a:r>
          </a:p>
        </p:txBody>
      </p:sp>
      <p:sp>
        <p:nvSpPr>
          <p:cNvPr id="19" name="TextBox 18"/>
          <p:cNvSpPr txBox="1"/>
          <p:nvPr/>
        </p:nvSpPr>
        <p:spPr>
          <a:xfrm>
            <a:off x="1005840" y="4846320"/>
            <a:ext cx="365760" cy="274320"/>
          </a:xfrm>
          <a:prstGeom prst="rect">
            <a:avLst/>
          </a:prstGeom>
          <a:noFill/>
        </p:spPr>
        <p:txBody>
          <a:bodyPr wrap="square" lIns="0" rIns="0" tIns="0" bIns="0" anchor="t">
            <a:spAutoFit/>
          </a:bodyPr>
          <a:lstStyle/>
          <a:p>
            <a:pPr algn="l">
              <a:lnSpc>
                <a:spcPct val="118000"/>
              </a:lnSpc>
            </a:pPr>
            <a:r>
              <a:rPr sz="1200" b="1" i="0">
                <a:solidFill>
                  <a:srgbClr val="34D399"/>
                </a:solidFill>
                <a:latin typeface="JetBrains Mono" pitchFamily="34" charset="0"/>
                <a:cs typeface="JetBrains Mono" pitchFamily="34" charset="0"/>
              </a:rPr>
              <a:t>4</a:t>
            </a:r>
          </a:p>
        </p:txBody>
      </p:sp>
      <p:sp>
        <p:nvSpPr>
          <p:cNvPr id="20" name="TextBox 19"/>
          <p:cNvSpPr txBox="1"/>
          <p:nvPr/>
        </p:nvSpPr>
        <p:spPr>
          <a:xfrm>
            <a:off x="1426464" y="4828032"/>
            <a:ext cx="4114800" cy="384048"/>
          </a:xfrm>
          <a:prstGeom prst="rect">
            <a:avLst/>
          </a:prstGeom>
          <a:noFill/>
        </p:spPr>
        <p:txBody>
          <a:bodyPr wrap="square" lIns="0" rIns="0" tIns="0" bIns="0" anchor="t">
            <a:spAutoFit/>
          </a:bodyPr>
          <a:lstStyle/>
          <a:p>
            <a:pPr algn="l">
              <a:lnSpc>
                <a:spcPct val="120000"/>
              </a:lnSpc>
            </a:pPr>
            <a:r>
              <a:rPr sz="1350" b="0" i="0">
                <a:solidFill>
                  <a:srgbClr val="E9F2ED"/>
                </a:solidFill>
                <a:latin typeface="Inter" pitchFamily="34" charset="0"/>
                <a:cs typeface="Inter" pitchFamily="34" charset="0"/>
              </a:rPr>
              <a:t>Au retour du réseau, tout se synchronise</a:t>
            </a:r>
          </a:p>
        </p:txBody>
      </p:sp>
      <p:sp>
        <p:nvSpPr>
          <p:cNvPr id="21" name="TextBox 20"/>
          <p:cNvSpPr txBox="1"/>
          <p:nvPr/>
        </p:nvSpPr>
        <p:spPr>
          <a:xfrm>
            <a:off x="1005840" y="5394960"/>
            <a:ext cx="365760" cy="274320"/>
          </a:xfrm>
          <a:prstGeom prst="rect">
            <a:avLst/>
          </a:prstGeom>
          <a:noFill/>
        </p:spPr>
        <p:txBody>
          <a:bodyPr wrap="square" lIns="0" rIns="0" tIns="0" bIns="0" anchor="t">
            <a:spAutoFit/>
          </a:bodyPr>
          <a:lstStyle/>
          <a:p>
            <a:pPr algn="l">
              <a:lnSpc>
                <a:spcPct val="118000"/>
              </a:lnSpc>
            </a:pPr>
            <a:r>
              <a:rPr sz="1200" b="1" i="0">
                <a:solidFill>
                  <a:srgbClr val="34D399"/>
                </a:solidFill>
                <a:latin typeface="JetBrains Mono" pitchFamily="34" charset="0"/>
                <a:cs typeface="JetBrains Mono" pitchFamily="34" charset="0"/>
              </a:rPr>
              <a:t>5</a:t>
            </a:r>
          </a:p>
        </p:txBody>
      </p:sp>
      <p:sp>
        <p:nvSpPr>
          <p:cNvPr id="22" name="TextBox 21"/>
          <p:cNvSpPr txBox="1"/>
          <p:nvPr/>
        </p:nvSpPr>
        <p:spPr>
          <a:xfrm>
            <a:off x="1426464" y="5376672"/>
            <a:ext cx="4114800" cy="384048"/>
          </a:xfrm>
          <a:prstGeom prst="rect">
            <a:avLst/>
          </a:prstGeom>
          <a:noFill/>
        </p:spPr>
        <p:txBody>
          <a:bodyPr wrap="square" lIns="0" rIns="0" tIns="0" bIns="0" anchor="t">
            <a:spAutoFit/>
          </a:bodyPr>
          <a:lstStyle/>
          <a:p>
            <a:pPr algn="l">
              <a:lnSpc>
                <a:spcPct val="120000"/>
              </a:lnSpc>
            </a:pPr>
            <a:r>
              <a:rPr sz="1350" b="0" i="0">
                <a:solidFill>
                  <a:srgbClr val="E9F2ED"/>
                </a:solidFill>
                <a:latin typeface="Inter" pitchFamily="34" charset="0"/>
                <a:cs typeface="Inter" pitchFamily="34" charset="0"/>
              </a:rPr>
              <a:t>Le comité communal arbitre le lendemain</a:t>
            </a:r>
          </a:p>
        </p:txBody>
      </p:sp>
      <p:sp>
        <p:nvSpPr>
          <p:cNvPr id="23" name="Rounded Rectangle 22"/>
          <p:cNvSpPr/>
          <p:nvPr/>
        </p:nvSpPr>
        <p:spPr>
          <a:xfrm>
            <a:off x="6108192" y="2395728"/>
            <a:ext cx="5370271" cy="1572768"/>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2670048"/>
            <a:ext cx="4206240" cy="320040"/>
          </a:xfrm>
          <a:prstGeom prst="rect">
            <a:avLst/>
          </a:prstGeom>
          <a:noFill/>
        </p:spPr>
        <p:txBody>
          <a:bodyPr wrap="square" lIns="0" rIns="0" tIns="0" bIns="0" anchor="t">
            <a:spAutoFit/>
          </a:bodyPr>
          <a:lstStyle/>
          <a:p>
            <a:pPr algn="l">
              <a:lnSpc>
                <a:spcPct val="118000"/>
              </a:lnSpc>
            </a:pPr>
            <a:r>
              <a:rPr sz="1100" b="1" i="0">
                <a:solidFill>
                  <a:srgbClr val="F5B544"/>
                </a:solidFill>
                <a:latin typeface="Inter" pitchFamily="34" charset="0"/>
                <a:cs typeface="Inter" pitchFamily="34" charset="0"/>
              </a:rPr>
              <a:t>UTILISATEURS SECONDAIRES</a:t>
            </a:r>
          </a:p>
        </p:txBody>
      </p:sp>
      <p:sp>
        <p:nvSpPr>
          <p:cNvPr id="25" name="TextBox 24"/>
          <p:cNvSpPr txBox="1"/>
          <p:nvPr/>
        </p:nvSpPr>
        <p:spPr>
          <a:xfrm>
            <a:off x="6400800" y="3054096"/>
            <a:ext cx="4785055" cy="822960"/>
          </a:xfrm>
          <a:prstGeom prst="rect">
            <a:avLst/>
          </a:prstGeom>
          <a:noFill/>
        </p:spPr>
        <p:txBody>
          <a:bodyPr wrap="square" lIns="0" rIns="0" tIns="0" bIns="0" anchor="t">
            <a:spAutoFit/>
          </a:bodyPr>
          <a:lstStyle/>
          <a:p>
            <a:pPr algn="l">
              <a:lnSpc>
                <a:spcPct val="135000"/>
              </a:lnSpc>
            </a:pPr>
            <a:r>
              <a:rPr sz="1300" b="0" i="0">
                <a:solidFill>
                  <a:srgbClr val="93A79D"/>
                </a:solidFill>
                <a:latin typeface="Inter" pitchFamily="34" charset="0"/>
                <a:cs typeface="Inter" pitchFamily="34" charset="0"/>
              </a:rPr>
              <a:t>Le comité communal de transhumance (web)</a:t>
            </a:r>
          </a:p>
          <a:p>
            <a:pPr algn="l">
              <a:lnSpc>
                <a:spcPct val="135000"/>
              </a:lnSpc>
            </a:pPr>
            <a:r>
              <a:rPr sz="1300" b="0" i="0">
                <a:solidFill>
                  <a:srgbClr val="93A79D"/>
                </a:solidFill>
                <a:latin typeface="Inter" pitchFamily="34" charset="0"/>
                <a:cs typeface="Inter" pitchFamily="34" charset="0"/>
              </a:rPr>
              <a:t>Les représentants d'éleveurs (message vocal)</a:t>
            </a:r>
          </a:p>
        </p:txBody>
      </p:sp>
      <p:sp>
        <p:nvSpPr>
          <p:cNvPr id="26" name="Rounded Rectangle 25"/>
          <p:cNvSpPr/>
          <p:nvPr/>
        </p:nvSpPr>
        <p:spPr>
          <a:xfrm>
            <a:off x="6108192" y="4187952"/>
            <a:ext cx="5370271" cy="1609344"/>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4462272"/>
            <a:ext cx="4206240" cy="320040"/>
          </a:xfrm>
          <a:prstGeom prst="rect">
            <a:avLst/>
          </a:prstGeom>
          <a:noFill/>
        </p:spPr>
        <p:txBody>
          <a:bodyPr wrap="square" lIns="0" rIns="0" tIns="0" bIns="0" anchor="t">
            <a:spAutoFit/>
          </a:bodyPr>
          <a:lstStyle/>
          <a:p>
            <a:pPr algn="l">
              <a:lnSpc>
                <a:spcPct val="118000"/>
              </a:lnSpc>
            </a:pPr>
            <a:r>
              <a:rPr sz="1100" b="1" i="0">
                <a:solidFill>
                  <a:srgbClr val="D9B48F"/>
                </a:solidFill>
                <a:latin typeface="Inter" pitchFamily="34" charset="0"/>
                <a:cs typeface="Inter" pitchFamily="34" charset="0"/>
              </a:rPr>
              <a:t>ZONE DE DÉMONSTRATION</a:t>
            </a:r>
          </a:p>
        </p:txBody>
      </p:sp>
      <p:sp>
        <p:nvSpPr>
          <p:cNvPr id="28" name="TextBox 27"/>
          <p:cNvSpPr txBox="1"/>
          <p:nvPr/>
        </p:nvSpPr>
        <p:spPr>
          <a:xfrm>
            <a:off x="6400800" y="4846320"/>
            <a:ext cx="4785055" cy="822960"/>
          </a:xfrm>
          <a:prstGeom prst="rect">
            <a:avLst/>
          </a:prstGeom>
          <a:noFill/>
        </p:spPr>
        <p:txBody>
          <a:bodyPr wrap="square" lIns="0" rIns="0" tIns="0" bIns="0" anchor="t">
            <a:spAutoFit/>
          </a:bodyPr>
          <a:lstStyle/>
          <a:p>
            <a:pPr algn="l">
              <a:lnSpc>
                <a:spcPct val="135000"/>
              </a:lnSpc>
            </a:pPr>
            <a:r>
              <a:rPr sz="1300" b="0" i="0">
                <a:solidFill>
                  <a:srgbClr val="93A79D"/>
                </a:solidFill>
                <a:latin typeface="Inter" pitchFamily="34" charset="0"/>
                <a:cs typeface="Inter" pitchFamily="34" charset="0"/>
              </a:rPr>
              <a:t>Commune de Banikoara, Alibori, nord Bénin</a:t>
            </a:r>
          </a:p>
          <a:p>
            <a:pPr algn="l">
              <a:lnSpc>
                <a:spcPct val="135000"/>
              </a:lnSpc>
            </a:pPr>
            <a:r>
              <a:rPr sz="1300" b="0" i="0">
                <a:solidFill>
                  <a:srgbClr val="93A79D"/>
                </a:solidFill>
                <a:latin typeface="Inter" pitchFamily="34" charset="0"/>
                <a:cs typeface="Inter" pitchFamily="34" charset="0"/>
              </a:rPr>
              <a:t>11.298 N · 2.438 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6272784"/>
            <a:ext cx="10765231" cy="10972"/>
          </a:xfrm>
          <a:prstGeom prst="rect">
            <a:avLst/>
          </a:prstGeom>
          <a:solidFill>
            <a:srgbClr val="1E2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6400800"/>
            <a:ext cx="5486400" cy="237744"/>
          </a:xfrm>
          <a:prstGeom prst="rect">
            <a:avLst/>
          </a:prstGeom>
          <a:noFill/>
        </p:spPr>
        <p:txBody>
          <a:bodyPr wrap="square" lIns="0" rIns="0" tIns="0" bIns="0" anchor="t">
            <a:spAutoFit/>
          </a:bodyPr>
          <a:lstStyle/>
          <a:p>
            <a:pPr algn="l">
              <a:lnSpc>
                <a:spcPct val="118000"/>
              </a:lnSpc>
            </a:pPr>
            <a:r>
              <a:rPr sz="900" b="0" i="0">
                <a:solidFill>
                  <a:srgbClr val="93A79D"/>
                </a:solidFill>
                <a:latin typeface="Inter" pitchFamily="34" charset="0"/>
                <a:cs typeface="Inter" pitchFamily="34" charset="0"/>
              </a:rPr>
              <a:t>Terra Sentinelle · IndabaX Bénin 2026</a:t>
            </a:r>
          </a:p>
        </p:txBody>
      </p:sp>
      <p:sp>
        <p:nvSpPr>
          <p:cNvPr id="5" name="TextBox 4"/>
          <p:cNvSpPr txBox="1"/>
          <p:nvPr/>
        </p:nvSpPr>
        <p:spPr>
          <a:xfrm>
            <a:off x="10381183" y="6400800"/>
            <a:ext cx="1097280" cy="237744"/>
          </a:xfrm>
          <a:prstGeom prst="rect">
            <a:avLst/>
          </a:prstGeom>
          <a:noFill/>
        </p:spPr>
        <p:txBody>
          <a:bodyPr wrap="square" lIns="0" rIns="0" tIns="0" bIns="0" anchor="t">
            <a:spAutoFit/>
          </a:bodyPr>
          <a:lstStyle/>
          <a:p>
            <a:pPr algn="r">
              <a:lnSpc>
                <a:spcPct val="118000"/>
              </a:lnSpc>
            </a:pPr>
            <a:r>
              <a:rPr sz="900" b="0" i="0">
                <a:solidFill>
                  <a:srgbClr val="93A79D"/>
                </a:solidFill>
                <a:latin typeface="JetBrains Mono" pitchFamily="34" charset="0"/>
                <a:cs typeface="JetBrains Mono" pitchFamily="34" charset="0"/>
              </a:rPr>
              <a:t>05 / 14</a:t>
            </a:r>
          </a:p>
        </p:txBody>
      </p:sp>
      <p:sp>
        <p:nvSpPr>
          <p:cNvPr id="6" name="Rectangle 5"/>
          <p:cNvSpPr/>
          <p:nvPr/>
        </p:nvSpPr>
        <p:spPr>
          <a:xfrm>
            <a:off x="713232" y="608076"/>
            <a:ext cx="50292" cy="15544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66928"/>
            <a:ext cx="8686800" cy="256032"/>
          </a:xfrm>
          <a:prstGeom prst="rect">
            <a:avLst/>
          </a:prstGeom>
          <a:noFill/>
        </p:spPr>
        <p:txBody>
          <a:bodyPr wrap="square" lIns="0" rIns="0" tIns="0" bIns="0" anchor="t">
            <a:spAutoFit/>
          </a:bodyPr>
          <a:lstStyle/>
          <a:p>
            <a:pPr algn="l">
              <a:lnSpc>
                <a:spcPct val="100000"/>
              </a:lnSpc>
            </a:pPr>
            <a:r>
              <a:rPr sz="1100" b="1" i="0">
                <a:solidFill>
                  <a:srgbClr val="34D399"/>
                </a:solidFill>
                <a:latin typeface="Inter" pitchFamily="34" charset="0"/>
                <a:cs typeface="Inter" pitchFamily="34" charset="0"/>
              </a:rPr>
              <a:t>LA SOLUTION</a:t>
            </a:r>
          </a:p>
        </p:txBody>
      </p:sp>
      <p:sp>
        <p:nvSpPr>
          <p:cNvPr id="8" name="TextBox 7"/>
          <p:cNvSpPr txBox="1"/>
          <p:nvPr/>
        </p:nvSpPr>
        <p:spPr>
          <a:xfrm>
            <a:off x="713232" y="932688"/>
            <a:ext cx="10789920" cy="1021994"/>
          </a:xfrm>
          <a:prstGeom prst="rect">
            <a:avLst/>
          </a:prstGeom>
          <a:noFill/>
        </p:spPr>
        <p:txBody>
          <a:bodyPr wrap="square" lIns="0" rIns="0" tIns="0" bIns="0" anchor="t">
            <a:spAutoFit/>
          </a:bodyPr>
          <a:lstStyle/>
          <a:p>
            <a:pPr algn="l">
              <a:lnSpc>
                <a:spcPct val="116000"/>
              </a:lnSpc>
            </a:pPr>
            <a:r>
              <a:rPr sz="2800" b="1" i="0">
                <a:solidFill>
                  <a:srgbClr val="E9F2ED"/>
                </a:solidFill>
                <a:latin typeface="Space Grotesk" pitchFamily="34" charset="0"/>
                <a:cs typeface="Space Grotesk" pitchFamily="34" charset="0"/>
              </a:rPr>
              <a:t>Transformer une carte statique</a:t>
            </a:r>
          </a:p>
          <a:p>
            <a:pPr algn="l">
              <a:lnSpc>
                <a:spcPct val="116000"/>
              </a:lnSpc>
            </a:pPr>
            <a:r>
              <a:rPr sz="2800" b="1" i="0">
                <a:solidFill>
                  <a:srgbClr val="E9F2ED"/>
                </a:solidFill>
                <a:latin typeface="Space Grotesk" pitchFamily="34" charset="0"/>
                <a:cs typeface="Space Grotesk" pitchFamily="34" charset="0"/>
              </a:rPr>
              <a:t>en système de veille actualisé avant chaque saison.</a:t>
            </a:r>
          </a:p>
        </p:txBody>
      </p:sp>
      <p:sp>
        <p:nvSpPr>
          <p:cNvPr id="9" name="Rounded Rectangle 8"/>
          <p:cNvSpPr/>
          <p:nvPr/>
        </p:nvSpPr>
        <p:spPr>
          <a:xfrm>
            <a:off x="713232" y="2606040"/>
            <a:ext cx="2395728" cy="841248"/>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2606040"/>
            <a:ext cx="32004" cy="84124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788920"/>
            <a:ext cx="2011680" cy="274320"/>
          </a:xfrm>
          <a:prstGeom prst="rect">
            <a:avLst/>
          </a:prstGeom>
          <a:noFill/>
        </p:spPr>
        <p:txBody>
          <a:bodyPr wrap="square" lIns="0" rIns="0" tIns="0" bIns="0" anchor="t">
            <a:spAutoFit/>
          </a:bodyPr>
          <a:lstStyle/>
          <a:p>
            <a:pPr algn="l">
              <a:lnSpc>
                <a:spcPct val="118000"/>
              </a:lnSpc>
            </a:pPr>
            <a:r>
              <a:rPr sz="1300" b="1" i="0">
                <a:solidFill>
                  <a:srgbClr val="E9F2ED"/>
                </a:solidFill>
                <a:latin typeface="Space Grotesk" pitchFamily="34" charset="0"/>
                <a:cs typeface="Space Grotesk" pitchFamily="34" charset="0"/>
              </a:rPr>
              <a:t>Sentinel-2</a:t>
            </a:r>
          </a:p>
        </p:txBody>
      </p:sp>
      <p:sp>
        <p:nvSpPr>
          <p:cNvPr id="12" name="TextBox 11"/>
          <p:cNvSpPr txBox="1"/>
          <p:nvPr/>
        </p:nvSpPr>
        <p:spPr>
          <a:xfrm>
            <a:off x="914400" y="3090672"/>
            <a:ext cx="2011680" cy="256032"/>
          </a:xfrm>
          <a:prstGeom prst="rect">
            <a:avLst/>
          </a:prstGeom>
          <a:noFill/>
        </p:spPr>
        <p:txBody>
          <a:bodyPr wrap="square" lIns="0" rIns="0" tIns="0" bIns="0" anchor="t">
            <a:spAutoFit/>
          </a:bodyPr>
          <a:lstStyle/>
          <a:p>
            <a:pPr algn="l">
              <a:lnSpc>
                <a:spcPct val="118000"/>
              </a:lnSpc>
            </a:pPr>
            <a:r>
              <a:rPr sz="1050" b="0" i="0">
                <a:solidFill>
                  <a:srgbClr val="93A79D"/>
                </a:solidFill>
                <a:latin typeface="Inter" pitchFamily="34" charset="0"/>
                <a:cs typeface="Inter" pitchFamily="34" charset="0"/>
              </a:rPr>
              <a:t>images 10 m</a:t>
            </a:r>
          </a:p>
        </p:txBody>
      </p:sp>
      <p:sp>
        <p:nvSpPr>
          <p:cNvPr id="13" name="Right Arrow 12"/>
          <p:cNvSpPr/>
          <p:nvPr/>
        </p:nvSpPr>
        <p:spPr>
          <a:xfrm>
            <a:off x="3191256" y="2976372"/>
            <a:ext cx="219456" cy="100584"/>
          </a:xfrm>
          <a:prstGeom prst="rightArrow">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93008" y="2606040"/>
            <a:ext cx="2395728" cy="841248"/>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93008" y="2606040"/>
            <a:ext cx="32004" cy="84124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94176" y="2788920"/>
            <a:ext cx="2011680" cy="274320"/>
          </a:xfrm>
          <a:prstGeom prst="rect">
            <a:avLst/>
          </a:prstGeom>
          <a:noFill/>
        </p:spPr>
        <p:txBody>
          <a:bodyPr wrap="square" lIns="0" rIns="0" tIns="0" bIns="0" anchor="t">
            <a:spAutoFit/>
          </a:bodyPr>
          <a:lstStyle/>
          <a:p>
            <a:pPr algn="l">
              <a:lnSpc>
                <a:spcPct val="118000"/>
              </a:lnSpc>
            </a:pPr>
            <a:r>
              <a:rPr sz="1300" b="1" i="0">
                <a:solidFill>
                  <a:srgbClr val="E9F2ED"/>
                </a:solidFill>
                <a:latin typeface="Space Grotesk" pitchFamily="34" charset="0"/>
                <a:cs typeface="Space Grotesk" pitchFamily="34" charset="0"/>
              </a:rPr>
              <a:t>Classification</a:t>
            </a:r>
          </a:p>
        </p:txBody>
      </p:sp>
      <p:sp>
        <p:nvSpPr>
          <p:cNvPr id="17" name="TextBox 16"/>
          <p:cNvSpPr txBox="1"/>
          <p:nvPr/>
        </p:nvSpPr>
        <p:spPr>
          <a:xfrm>
            <a:off x="3694176" y="3090672"/>
            <a:ext cx="2011680" cy="256032"/>
          </a:xfrm>
          <a:prstGeom prst="rect">
            <a:avLst/>
          </a:prstGeom>
          <a:noFill/>
        </p:spPr>
        <p:txBody>
          <a:bodyPr wrap="square" lIns="0" rIns="0" tIns="0" bIns="0" anchor="t">
            <a:spAutoFit/>
          </a:bodyPr>
          <a:lstStyle/>
          <a:p>
            <a:pPr algn="l">
              <a:lnSpc>
                <a:spcPct val="118000"/>
              </a:lnSpc>
            </a:pPr>
            <a:r>
              <a:rPr sz="1050" b="0" i="0">
                <a:solidFill>
                  <a:srgbClr val="93A79D"/>
                </a:solidFill>
                <a:latin typeface="Inter" pitchFamily="34" charset="0"/>
                <a:cs typeface="Inter" pitchFamily="34" charset="0"/>
              </a:rPr>
              <a:t>zones en culture</a:t>
            </a:r>
          </a:p>
        </p:txBody>
      </p:sp>
      <p:sp>
        <p:nvSpPr>
          <p:cNvPr id="18" name="Right Arrow 17"/>
          <p:cNvSpPr/>
          <p:nvPr/>
        </p:nvSpPr>
        <p:spPr>
          <a:xfrm>
            <a:off x="5971032" y="2976372"/>
            <a:ext cx="219456" cy="100584"/>
          </a:xfrm>
          <a:prstGeom prst="rightArrow">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72784" y="2606040"/>
            <a:ext cx="2395728" cy="841248"/>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72784" y="2606040"/>
            <a:ext cx="32004" cy="841248"/>
          </a:xfrm>
          <a:prstGeom prst="rect">
            <a:avLst/>
          </a:prstGeom>
          <a:solidFill>
            <a:srgbClr val="F5B5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2" y="2788920"/>
            <a:ext cx="2011680" cy="274320"/>
          </a:xfrm>
          <a:prstGeom prst="rect">
            <a:avLst/>
          </a:prstGeom>
          <a:noFill/>
        </p:spPr>
        <p:txBody>
          <a:bodyPr wrap="square" lIns="0" rIns="0" tIns="0" bIns="0" anchor="t">
            <a:spAutoFit/>
          </a:bodyPr>
          <a:lstStyle/>
          <a:p>
            <a:pPr algn="l">
              <a:lnSpc>
                <a:spcPct val="118000"/>
              </a:lnSpc>
            </a:pPr>
            <a:r>
              <a:rPr sz="1300" b="1" i="0">
                <a:solidFill>
                  <a:srgbClr val="E9F2ED"/>
                </a:solidFill>
                <a:latin typeface="Space Grotesk" pitchFamily="34" charset="0"/>
                <a:cs typeface="Space Grotesk" pitchFamily="34" charset="0"/>
              </a:rPr>
              <a:t>Croisement</a:t>
            </a:r>
          </a:p>
        </p:txBody>
      </p:sp>
      <p:sp>
        <p:nvSpPr>
          <p:cNvPr id="22" name="TextBox 21"/>
          <p:cNvSpPr txBox="1"/>
          <p:nvPr/>
        </p:nvSpPr>
        <p:spPr>
          <a:xfrm>
            <a:off x="6473952" y="3090672"/>
            <a:ext cx="2011680" cy="256032"/>
          </a:xfrm>
          <a:prstGeom prst="rect">
            <a:avLst/>
          </a:prstGeom>
          <a:noFill/>
        </p:spPr>
        <p:txBody>
          <a:bodyPr wrap="square" lIns="0" rIns="0" tIns="0" bIns="0" anchor="t">
            <a:spAutoFit/>
          </a:bodyPr>
          <a:lstStyle/>
          <a:p>
            <a:pPr algn="l">
              <a:lnSpc>
                <a:spcPct val="118000"/>
              </a:lnSpc>
            </a:pPr>
            <a:r>
              <a:rPr sz="1050" b="0" i="0">
                <a:solidFill>
                  <a:srgbClr val="93A79D"/>
                </a:solidFill>
                <a:latin typeface="Inter" pitchFamily="34" charset="0"/>
                <a:cs typeface="Inter" pitchFamily="34" charset="0"/>
              </a:rPr>
              <a:t>emprise du couloir</a:t>
            </a:r>
          </a:p>
        </p:txBody>
      </p:sp>
      <p:sp>
        <p:nvSpPr>
          <p:cNvPr id="23" name="Right Arrow 22"/>
          <p:cNvSpPr/>
          <p:nvPr/>
        </p:nvSpPr>
        <p:spPr>
          <a:xfrm>
            <a:off x="8750808" y="2976372"/>
            <a:ext cx="219456" cy="100584"/>
          </a:xfrm>
          <a:prstGeom prst="rightArrow">
            <a:avLst/>
          </a:prstGeom>
          <a:solidFill>
            <a:srgbClr val="F5B5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52560" y="2606040"/>
            <a:ext cx="2395728" cy="841248"/>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52560" y="2606040"/>
            <a:ext cx="32004" cy="841248"/>
          </a:xfrm>
          <a:prstGeom prst="rect">
            <a:avLst/>
          </a:prstGeom>
          <a:solidFill>
            <a:srgbClr val="F5B5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53728" y="2788920"/>
            <a:ext cx="2011680" cy="274320"/>
          </a:xfrm>
          <a:prstGeom prst="rect">
            <a:avLst/>
          </a:prstGeom>
          <a:noFill/>
        </p:spPr>
        <p:txBody>
          <a:bodyPr wrap="square" lIns="0" rIns="0" tIns="0" bIns="0" anchor="t">
            <a:spAutoFit/>
          </a:bodyPr>
          <a:lstStyle/>
          <a:p>
            <a:pPr algn="l">
              <a:lnSpc>
                <a:spcPct val="118000"/>
              </a:lnSpc>
            </a:pPr>
            <a:r>
              <a:rPr sz="1300" b="1" i="0">
                <a:solidFill>
                  <a:srgbClr val="E9F2ED"/>
                </a:solidFill>
                <a:latin typeface="Space Grotesk" pitchFamily="34" charset="0"/>
                <a:cs typeface="Space Grotesk" pitchFamily="34" charset="0"/>
              </a:rPr>
              <a:t>Carte de friction</a:t>
            </a:r>
          </a:p>
        </p:txBody>
      </p:sp>
      <p:sp>
        <p:nvSpPr>
          <p:cNvPr id="27" name="TextBox 26"/>
          <p:cNvSpPr txBox="1"/>
          <p:nvPr/>
        </p:nvSpPr>
        <p:spPr>
          <a:xfrm>
            <a:off x="9253728" y="3090672"/>
            <a:ext cx="2011680" cy="256032"/>
          </a:xfrm>
          <a:prstGeom prst="rect">
            <a:avLst/>
          </a:prstGeom>
          <a:noFill/>
        </p:spPr>
        <p:txBody>
          <a:bodyPr wrap="square" lIns="0" rIns="0" tIns="0" bIns="0" anchor="t">
            <a:spAutoFit/>
          </a:bodyPr>
          <a:lstStyle/>
          <a:p>
            <a:pPr algn="l">
              <a:lnSpc>
                <a:spcPct val="118000"/>
              </a:lnSpc>
            </a:pPr>
            <a:r>
              <a:rPr sz="1050" b="0" i="0">
                <a:solidFill>
                  <a:srgbClr val="93A79D"/>
                </a:solidFill>
                <a:latin typeface="Inter" pitchFamily="34" charset="0"/>
                <a:cs typeface="Inter" pitchFamily="34" charset="0"/>
              </a:rPr>
              <a:t>gravité + confiance</a:t>
            </a:r>
          </a:p>
        </p:txBody>
      </p:sp>
      <p:sp>
        <p:nvSpPr>
          <p:cNvPr id="28" name="Rectangle 27"/>
          <p:cNvSpPr/>
          <p:nvPr/>
        </p:nvSpPr>
        <p:spPr>
          <a:xfrm>
            <a:off x="10232136" y="3575304"/>
            <a:ext cx="41148" cy="201168"/>
          </a:xfrm>
          <a:prstGeom prst="rect">
            <a:avLst/>
          </a:prstGeom>
          <a:solidFill>
            <a:srgbClr val="F5B5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911095" y="3721608"/>
            <a:ext cx="8339328" cy="18288"/>
          </a:xfrm>
          <a:prstGeom prst="rect">
            <a:avLst/>
          </a:prstGeom>
          <a:solidFill>
            <a:srgbClr val="1E2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own Arrow 29"/>
          <p:cNvSpPr/>
          <p:nvPr/>
        </p:nvSpPr>
        <p:spPr>
          <a:xfrm>
            <a:off x="1828799" y="3721608"/>
            <a:ext cx="164592" cy="384048"/>
          </a:xfrm>
          <a:prstGeom prst="downArrow">
            <a:avLst/>
          </a:prstGeom>
          <a:solidFill>
            <a:srgbClr val="D9B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13232" y="4224528"/>
            <a:ext cx="2395728" cy="841248"/>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13232" y="4224528"/>
            <a:ext cx="32004" cy="841248"/>
          </a:xfrm>
          <a:prstGeom prst="rect">
            <a:avLst/>
          </a:prstGeom>
          <a:solidFill>
            <a:srgbClr val="D9B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4400" y="4407408"/>
            <a:ext cx="2011680" cy="274320"/>
          </a:xfrm>
          <a:prstGeom prst="rect">
            <a:avLst/>
          </a:prstGeom>
          <a:noFill/>
        </p:spPr>
        <p:txBody>
          <a:bodyPr wrap="square" lIns="0" rIns="0" tIns="0" bIns="0" anchor="t">
            <a:spAutoFit/>
          </a:bodyPr>
          <a:lstStyle/>
          <a:p>
            <a:pPr algn="l">
              <a:lnSpc>
                <a:spcPct val="118000"/>
              </a:lnSpc>
            </a:pPr>
            <a:r>
              <a:rPr sz="1300" b="1" i="0">
                <a:solidFill>
                  <a:srgbClr val="E9F2ED"/>
                </a:solidFill>
                <a:latin typeface="Space Grotesk" pitchFamily="34" charset="0"/>
                <a:cs typeface="Space Grotesk" pitchFamily="34" charset="0"/>
              </a:rPr>
              <a:t>Vérification terrain</a:t>
            </a:r>
          </a:p>
        </p:txBody>
      </p:sp>
      <p:sp>
        <p:nvSpPr>
          <p:cNvPr id="34" name="TextBox 33"/>
          <p:cNvSpPr txBox="1"/>
          <p:nvPr/>
        </p:nvSpPr>
        <p:spPr>
          <a:xfrm>
            <a:off x="914400" y="4709160"/>
            <a:ext cx="2011680" cy="256032"/>
          </a:xfrm>
          <a:prstGeom prst="rect">
            <a:avLst/>
          </a:prstGeom>
          <a:noFill/>
        </p:spPr>
        <p:txBody>
          <a:bodyPr wrap="square" lIns="0" rIns="0" tIns="0" bIns="0" anchor="t">
            <a:spAutoFit/>
          </a:bodyPr>
          <a:lstStyle/>
          <a:p>
            <a:pPr algn="l">
              <a:lnSpc>
                <a:spcPct val="118000"/>
              </a:lnSpc>
            </a:pPr>
            <a:r>
              <a:rPr sz="1050" b="0" i="0">
                <a:solidFill>
                  <a:srgbClr val="93A79D"/>
                </a:solidFill>
                <a:latin typeface="Inter" pitchFamily="34" charset="0"/>
                <a:cs typeface="Inter" pitchFamily="34" charset="0"/>
              </a:rPr>
              <a:t>hors ligne</a:t>
            </a:r>
          </a:p>
        </p:txBody>
      </p:sp>
      <p:sp>
        <p:nvSpPr>
          <p:cNvPr id="35" name="Right Arrow 34"/>
          <p:cNvSpPr/>
          <p:nvPr/>
        </p:nvSpPr>
        <p:spPr>
          <a:xfrm>
            <a:off x="3191256" y="4594860"/>
            <a:ext cx="219456" cy="100584"/>
          </a:xfrm>
          <a:prstGeom prst="rightArrow">
            <a:avLst/>
          </a:prstGeom>
          <a:solidFill>
            <a:srgbClr val="D9B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493008" y="4224528"/>
            <a:ext cx="2395728" cy="841248"/>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493008" y="4224528"/>
            <a:ext cx="32004" cy="841248"/>
          </a:xfrm>
          <a:prstGeom prst="rect">
            <a:avLst/>
          </a:prstGeom>
          <a:solidFill>
            <a:srgbClr val="F066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94176" y="4407408"/>
            <a:ext cx="2011680" cy="274320"/>
          </a:xfrm>
          <a:prstGeom prst="rect">
            <a:avLst/>
          </a:prstGeom>
          <a:noFill/>
        </p:spPr>
        <p:txBody>
          <a:bodyPr wrap="square" lIns="0" rIns="0" tIns="0" bIns="0" anchor="t">
            <a:spAutoFit/>
          </a:bodyPr>
          <a:lstStyle/>
          <a:p>
            <a:pPr algn="l">
              <a:lnSpc>
                <a:spcPct val="118000"/>
              </a:lnSpc>
            </a:pPr>
            <a:r>
              <a:rPr sz="1300" b="1" i="0">
                <a:solidFill>
                  <a:srgbClr val="E9F2ED"/>
                </a:solidFill>
                <a:latin typeface="Space Grotesk" pitchFamily="34" charset="0"/>
                <a:cs typeface="Space Grotesk" pitchFamily="34" charset="0"/>
              </a:rPr>
              <a:t>Arbitrage du comité</a:t>
            </a:r>
          </a:p>
        </p:txBody>
      </p:sp>
      <p:sp>
        <p:nvSpPr>
          <p:cNvPr id="39" name="TextBox 38"/>
          <p:cNvSpPr txBox="1"/>
          <p:nvPr/>
        </p:nvSpPr>
        <p:spPr>
          <a:xfrm>
            <a:off x="3694176" y="4709160"/>
            <a:ext cx="2011680" cy="256032"/>
          </a:xfrm>
          <a:prstGeom prst="rect">
            <a:avLst/>
          </a:prstGeom>
          <a:noFill/>
        </p:spPr>
        <p:txBody>
          <a:bodyPr wrap="square" lIns="0" rIns="0" tIns="0" bIns="0" anchor="t">
            <a:spAutoFit/>
          </a:bodyPr>
          <a:lstStyle/>
          <a:p>
            <a:pPr algn="l">
              <a:lnSpc>
                <a:spcPct val="118000"/>
              </a:lnSpc>
            </a:pPr>
            <a:r>
              <a:rPr sz="1050" b="0" i="0">
                <a:solidFill>
                  <a:srgbClr val="93A79D"/>
                </a:solidFill>
                <a:latin typeface="Inter" pitchFamily="34" charset="0"/>
                <a:cs typeface="Inter" pitchFamily="34" charset="0"/>
              </a:rPr>
              <a:t>maintien / ajustement</a:t>
            </a:r>
          </a:p>
        </p:txBody>
      </p:sp>
      <p:sp>
        <p:nvSpPr>
          <p:cNvPr id="40" name="Right Arrow 39"/>
          <p:cNvSpPr/>
          <p:nvPr/>
        </p:nvSpPr>
        <p:spPr>
          <a:xfrm>
            <a:off x="5971032" y="4594860"/>
            <a:ext cx="219456" cy="100584"/>
          </a:xfrm>
          <a:prstGeom prst="rightArrow">
            <a:avLst/>
          </a:prstGeom>
          <a:solidFill>
            <a:srgbClr val="F066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272784" y="4224528"/>
            <a:ext cx="2395728" cy="841248"/>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272784" y="4224528"/>
            <a:ext cx="32004" cy="84124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73952" y="4407408"/>
            <a:ext cx="2011680" cy="274320"/>
          </a:xfrm>
          <a:prstGeom prst="rect">
            <a:avLst/>
          </a:prstGeom>
          <a:noFill/>
        </p:spPr>
        <p:txBody>
          <a:bodyPr wrap="square" lIns="0" rIns="0" tIns="0" bIns="0" anchor="t">
            <a:spAutoFit/>
          </a:bodyPr>
          <a:lstStyle/>
          <a:p>
            <a:pPr algn="l">
              <a:lnSpc>
                <a:spcPct val="118000"/>
              </a:lnSpc>
            </a:pPr>
            <a:r>
              <a:rPr sz="1300" b="1" i="0">
                <a:solidFill>
                  <a:srgbClr val="E9F2ED"/>
                </a:solidFill>
                <a:latin typeface="Space Grotesk" pitchFamily="34" charset="0"/>
                <a:cs typeface="Space Grotesk" pitchFamily="34" charset="0"/>
              </a:rPr>
              <a:t>Diffusion vocale</a:t>
            </a:r>
          </a:p>
        </p:txBody>
      </p:sp>
      <p:sp>
        <p:nvSpPr>
          <p:cNvPr id="44" name="TextBox 43"/>
          <p:cNvSpPr txBox="1"/>
          <p:nvPr/>
        </p:nvSpPr>
        <p:spPr>
          <a:xfrm>
            <a:off x="6473952" y="4709160"/>
            <a:ext cx="2011680" cy="256032"/>
          </a:xfrm>
          <a:prstGeom prst="rect">
            <a:avLst/>
          </a:prstGeom>
          <a:noFill/>
        </p:spPr>
        <p:txBody>
          <a:bodyPr wrap="square" lIns="0" rIns="0" tIns="0" bIns="0" anchor="t">
            <a:spAutoFit/>
          </a:bodyPr>
          <a:lstStyle/>
          <a:p>
            <a:pPr algn="l">
              <a:lnSpc>
                <a:spcPct val="118000"/>
              </a:lnSpc>
            </a:pPr>
            <a:r>
              <a:rPr sz="1050" b="0" i="0">
                <a:solidFill>
                  <a:srgbClr val="93A79D"/>
                </a:solidFill>
                <a:latin typeface="Inter" pitchFamily="34" charset="0"/>
                <a:cs typeface="Inter" pitchFamily="34" charset="0"/>
              </a:rPr>
              <a:t>en fulfulde</a:t>
            </a:r>
          </a:p>
        </p:txBody>
      </p:sp>
      <p:sp>
        <p:nvSpPr>
          <p:cNvPr id="45" name="TextBox 44"/>
          <p:cNvSpPr txBox="1"/>
          <p:nvPr/>
        </p:nvSpPr>
        <p:spPr>
          <a:xfrm>
            <a:off x="713232" y="5394960"/>
            <a:ext cx="10789920" cy="365760"/>
          </a:xfrm>
          <a:prstGeom prst="rect">
            <a:avLst/>
          </a:prstGeom>
          <a:noFill/>
        </p:spPr>
        <p:txBody>
          <a:bodyPr wrap="square" lIns="0" rIns="0" tIns="0" bIns="0" anchor="t">
            <a:spAutoFit/>
          </a:bodyPr>
          <a:lstStyle/>
          <a:p>
            <a:pPr algn="l">
              <a:lnSpc>
                <a:spcPct val="118000"/>
              </a:lnSpc>
            </a:pPr>
            <a:r>
              <a:rPr sz="1250" b="0" i="0">
                <a:solidFill>
                  <a:srgbClr val="93A79D"/>
                </a:solidFill>
                <a:latin typeface="Inter" pitchFamily="34" charset="0"/>
                <a:cs typeface="Inter" pitchFamily="34" charset="0"/>
              </a:rPr>
              <a:t>Machine en amont · décision humaine au centre · restitution dans la langue des éleveurs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6272784"/>
            <a:ext cx="10765231" cy="10972"/>
          </a:xfrm>
          <a:prstGeom prst="rect">
            <a:avLst/>
          </a:prstGeom>
          <a:solidFill>
            <a:srgbClr val="1E2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6400800"/>
            <a:ext cx="5486400" cy="237744"/>
          </a:xfrm>
          <a:prstGeom prst="rect">
            <a:avLst/>
          </a:prstGeom>
          <a:noFill/>
        </p:spPr>
        <p:txBody>
          <a:bodyPr wrap="square" lIns="0" rIns="0" tIns="0" bIns="0" anchor="t">
            <a:spAutoFit/>
          </a:bodyPr>
          <a:lstStyle/>
          <a:p>
            <a:pPr algn="l">
              <a:lnSpc>
                <a:spcPct val="118000"/>
              </a:lnSpc>
            </a:pPr>
            <a:r>
              <a:rPr sz="900" b="0" i="0">
                <a:solidFill>
                  <a:srgbClr val="93A79D"/>
                </a:solidFill>
                <a:latin typeface="Inter" pitchFamily="34" charset="0"/>
                <a:cs typeface="Inter" pitchFamily="34" charset="0"/>
              </a:rPr>
              <a:t>Terra Sentinelle · IndabaX Bénin 2026</a:t>
            </a:r>
          </a:p>
        </p:txBody>
      </p:sp>
      <p:sp>
        <p:nvSpPr>
          <p:cNvPr id="5" name="TextBox 4"/>
          <p:cNvSpPr txBox="1"/>
          <p:nvPr/>
        </p:nvSpPr>
        <p:spPr>
          <a:xfrm>
            <a:off x="10381183" y="6400800"/>
            <a:ext cx="1097280" cy="237744"/>
          </a:xfrm>
          <a:prstGeom prst="rect">
            <a:avLst/>
          </a:prstGeom>
          <a:noFill/>
        </p:spPr>
        <p:txBody>
          <a:bodyPr wrap="square" lIns="0" rIns="0" tIns="0" bIns="0" anchor="t">
            <a:spAutoFit/>
          </a:bodyPr>
          <a:lstStyle/>
          <a:p>
            <a:pPr algn="r">
              <a:lnSpc>
                <a:spcPct val="118000"/>
              </a:lnSpc>
            </a:pPr>
            <a:r>
              <a:rPr sz="900" b="0" i="0">
                <a:solidFill>
                  <a:srgbClr val="93A79D"/>
                </a:solidFill>
                <a:latin typeface="JetBrains Mono" pitchFamily="34" charset="0"/>
                <a:cs typeface="JetBrains Mono" pitchFamily="34" charset="0"/>
              </a:rPr>
              <a:t>06 / 14</a:t>
            </a:r>
          </a:p>
        </p:txBody>
      </p:sp>
      <p:sp>
        <p:nvSpPr>
          <p:cNvPr id="6" name="Rectangle 5"/>
          <p:cNvSpPr/>
          <p:nvPr/>
        </p:nvSpPr>
        <p:spPr>
          <a:xfrm>
            <a:off x="713232" y="608076"/>
            <a:ext cx="50292" cy="15544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66928"/>
            <a:ext cx="8686800" cy="256032"/>
          </a:xfrm>
          <a:prstGeom prst="rect">
            <a:avLst/>
          </a:prstGeom>
          <a:noFill/>
        </p:spPr>
        <p:txBody>
          <a:bodyPr wrap="square" lIns="0" rIns="0" tIns="0" bIns="0" anchor="t">
            <a:spAutoFit/>
          </a:bodyPr>
          <a:lstStyle/>
          <a:p>
            <a:pPr algn="l">
              <a:lnSpc>
                <a:spcPct val="100000"/>
              </a:lnSpc>
            </a:pPr>
            <a:r>
              <a:rPr sz="1100" b="1" i="0">
                <a:solidFill>
                  <a:srgbClr val="34D399"/>
                </a:solidFill>
                <a:latin typeface="Inter" pitchFamily="34" charset="0"/>
                <a:cs typeface="Inter" pitchFamily="34" charset="0"/>
              </a:rPr>
              <a:t>LE LIVRABLE</a:t>
            </a:r>
          </a:p>
        </p:txBody>
      </p:sp>
      <p:sp>
        <p:nvSpPr>
          <p:cNvPr id="8" name="TextBox 7"/>
          <p:cNvSpPr txBox="1"/>
          <p:nvPr/>
        </p:nvSpPr>
        <p:spPr>
          <a:xfrm>
            <a:off x="713232" y="932688"/>
            <a:ext cx="10765231" cy="548944"/>
          </a:xfrm>
          <a:prstGeom prst="rect">
            <a:avLst/>
          </a:prstGeom>
          <a:noFill/>
        </p:spPr>
        <p:txBody>
          <a:bodyPr wrap="square" lIns="0" rIns="0" tIns="0" bIns="0" anchor="t">
            <a:spAutoFit/>
          </a:bodyPr>
          <a:lstStyle/>
          <a:p>
            <a:pPr algn="l">
              <a:lnSpc>
                <a:spcPct val="106000"/>
              </a:lnSpc>
            </a:pPr>
            <a:r>
              <a:rPr sz="3200" b="1" i="0">
                <a:solidFill>
                  <a:srgbClr val="E9F2ED"/>
                </a:solidFill>
                <a:latin typeface="Space Grotesk" pitchFamily="34" charset="0"/>
                <a:cs typeface="Space Grotesk" pitchFamily="34" charset="0"/>
              </a:rPr>
              <a:t>La carte de friction</a:t>
            </a:r>
          </a:p>
        </p:txBody>
      </p:sp>
      <p:sp>
        <p:nvSpPr>
          <p:cNvPr id="9" name="TextBox 8"/>
          <p:cNvSpPr txBox="1"/>
          <p:nvPr/>
        </p:nvSpPr>
        <p:spPr>
          <a:xfrm>
            <a:off x="713232" y="1646224"/>
            <a:ext cx="10216591" cy="305104"/>
          </a:xfrm>
          <a:prstGeom prst="rect">
            <a:avLst/>
          </a:prstGeom>
          <a:noFill/>
        </p:spPr>
        <p:txBody>
          <a:bodyPr wrap="square" lIns="0" rIns="0" tIns="0" bIns="0" anchor="t">
            <a:spAutoFit/>
          </a:bodyPr>
          <a:lstStyle/>
          <a:p>
            <a:pPr algn="l">
              <a:lnSpc>
                <a:spcPct val="128000"/>
              </a:lnSpc>
            </a:pPr>
            <a:r>
              <a:rPr sz="1400" b="0" i="0">
                <a:solidFill>
                  <a:srgbClr val="93A79D"/>
                </a:solidFill>
                <a:latin typeface="Inter" pitchFamily="34" charset="0"/>
                <a:cs typeface="Inter" pitchFamily="34" charset="0"/>
              </a:rPr>
              <a:t>Ce que le comité reçoit avant la saison : les portions devenues cultivées, classées par gravité, avec leur niveau de confiance.</a:t>
            </a:r>
          </a:p>
        </p:txBody>
      </p:sp>
      <p:sp>
        <p:nvSpPr>
          <p:cNvPr id="10" name="TextBox 9"/>
          <p:cNvSpPr txBox="1"/>
          <p:nvPr/>
        </p:nvSpPr>
        <p:spPr>
          <a:xfrm>
            <a:off x="987552" y="2999232"/>
            <a:ext cx="2834640" cy="274320"/>
          </a:xfrm>
          <a:prstGeom prst="rect">
            <a:avLst/>
          </a:prstGeom>
          <a:noFill/>
        </p:spPr>
        <p:txBody>
          <a:bodyPr wrap="square" lIns="0" rIns="0" tIns="0" bIns="0" anchor="t">
            <a:spAutoFit/>
          </a:bodyPr>
          <a:lstStyle/>
          <a:p>
            <a:pPr algn="l">
              <a:lnSpc>
                <a:spcPct val="118000"/>
              </a:lnSpc>
            </a:pPr>
            <a:r>
              <a:rPr sz="1000" b="1" i="0">
                <a:solidFill>
                  <a:srgbClr val="93A79D"/>
                </a:solidFill>
                <a:latin typeface="Inter" pitchFamily="34" charset="0"/>
                <a:cs typeface="Inter" pitchFamily="34" charset="0"/>
              </a:rPr>
              <a:t>SEGMENT</a:t>
            </a:r>
          </a:p>
        </p:txBody>
      </p:sp>
      <p:sp>
        <p:nvSpPr>
          <p:cNvPr id="11" name="TextBox 10"/>
          <p:cNvSpPr txBox="1"/>
          <p:nvPr/>
        </p:nvSpPr>
        <p:spPr>
          <a:xfrm>
            <a:off x="3959352" y="2999232"/>
            <a:ext cx="1371600" cy="274320"/>
          </a:xfrm>
          <a:prstGeom prst="rect">
            <a:avLst/>
          </a:prstGeom>
          <a:noFill/>
        </p:spPr>
        <p:txBody>
          <a:bodyPr wrap="square" lIns="0" rIns="0" tIns="0" bIns="0" anchor="t">
            <a:spAutoFit/>
          </a:bodyPr>
          <a:lstStyle/>
          <a:p>
            <a:pPr algn="l">
              <a:lnSpc>
                <a:spcPct val="118000"/>
              </a:lnSpc>
            </a:pPr>
            <a:r>
              <a:rPr sz="1000" b="1" i="0">
                <a:solidFill>
                  <a:srgbClr val="93A79D"/>
                </a:solidFill>
                <a:latin typeface="Inter" pitchFamily="34" charset="0"/>
                <a:cs typeface="Inter" pitchFamily="34" charset="0"/>
              </a:rPr>
              <a:t>SURFACE</a:t>
            </a:r>
          </a:p>
        </p:txBody>
      </p:sp>
      <p:sp>
        <p:nvSpPr>
          <p:cNvPr id="12" name="TextBox 11"/>
          <p:cNvSpPr txBox="1"/>
          <p:nvPr/>
        </p:nvSpPr>
        <p:spPr>
          <a:xfrm>
            <a:off x="5605272" y="2999232"/>
            <a:ext cx="2377440" cy="274320"/>
          </a:xfrm>
          <a:prstGeom prst="rect">
            <a:avLst/>
          </a:prstGeom>
          <a:noFill/>
        </p:spPr>
        <p:txBody>
          <a:bodyPr wrap="square" lIns="0" rIns="0" tIns="0" bIns="0" anchor="t">
            <a:spAutoFit/>
          </a:bodyPr>
          <a:lstStyle/>
          <a:p>
            <a:pPr algn="l">
              <a:lnSpc>
                <a:spcPct val="118000"/>
              </a:lnSpc>
            </a:pPr>
            <a:r>
              <a:rPr sz="1000" b="1" i="0">
                <a:solidFill>
                  <a:srgbClr val="93A79D"/>
                </a:solidFill>
                <a:latin typeface="Inter" pitchFamily="34" charset="0"/>
                <a:cs typeface="Inter" pitchFamily="34" charset="0"/>
              </a:rPr>
              <a:t>GRAVITÉ</a:t>
            </a:r>
          </a:p>
        </p:txBody>
      </p:sp>
      <p:sp>
        <p:nvSpPr>
          <p:cNvPr id="13" name="TextBox 12"/>
          <p:cNvSpPr txBox="1"/>
          <p:nvPr/>
        </p:nvSpPr>
        <p:spPr>
          <a:xfrm>
            <a:off x="8211311" y="2999232"/>
            <a:ext cx="1463040" cy="274320"/>
          </a:xfrm>
          <a:prstGeom prst="rect">
            <a:avLst/>
          </a:prstGeom>
          <a:noFill/>
        </p:spPr>
        <p:txBody>
          <a:bodyPr wrap="square" lIns="0" rIns="0" tIns="0" bIns="0" anchor="t">
            <a:spAutoFit/>
          </a:bodyPr>
          <a:lstStyle/>
          <a:p>
            <a:pPr algn="l">
              <a:lnSpc>
                <a:spcPct val="118000"/>
              </a:lnSpc>
            </a:pPr>
            <a:r>
              <a:rPr sz="1000" b="1" i="0">
                <a:solidFill>
                  <a:srgbClr val="93A79D"/>
                </a:solidFill>
                <a:latin typeface="Inter" pitchFamily="34" charset="0"/>
                <a:cs typeface="Inter" pitchFamily="34" charset="0"/>
              </a:rPr>
              <a:t>CONFIANCE</a:t>
            </a:r>
          </a:p>
        </p:txBody>
      </p:sp>
      <p:sp>
        <p:nvSpPr>
          <p:cNvPr id="14" name="TextBox 13"/>
          <p:cNvSpPr txBox="1"/>
          <p:nvPr/>
        </p:nvSpPr>
        <p:spPr>
          <a:xfrm>
            <a:off x="9902952" y="2999232"/>
            <a:ext cx="1463040" cy="274320"/>
          </a:xfrm>
          <a:prstGeom prst="rect">
            <a:avLst/>
          </a:prstGeom>
          <a:noFill/>
        </p:spPr>
        <p:txBody>
          <a:bodyPr wrap="square" lIns="0" rIns="0" tIns="0" bIns="0" anchor="t">
            <a:spAutoFit/>
          </a:bodyPr>
          <a:lstStyle/>
          <a:p>
            <a:pPr algn="l">
              <a:lnSpc>
                <a:spcPct val="118000"/>
              </a:lnSpc>
            </a:pPr>
            <a:r>
              <a:rPr sz="1000" b="1" i="0">
                <a:solidFill>
                  <a:srgbClr val="93A79D"/>
                </a:solidFill>
                <a:latin typeface="Inter" pitchFamily="34" charset="0"/>
                <a:cs typeface="Inter" pitchFamily="34" charset="0"/>
              </a:rPr>
              <a:t>STATUT</a:t>
            </a:r>
          </a:p>
        </p:txBody>
      </p:sp>
      <p:sp>
        <p:nvSpPr>
          <p:cNvPr id="15" name="Rectangle 14"/>
          <p:cNvSpPr/>
          <p:nvPr/>
        </p:nvSpPr>
        <p:spPr>
          <a:xfrm>
            <a:off x="713232" y="3310127"/>
            <a:ext cx="10765231" cy="10972"/>
          </a:xfrm>
          <a:prstGeom prst="rect">
            <a:avLst/>
          </a:prstGeom>
          <a:solidFill>
            <a:srgbClr val="1E2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13232" y="3474720"/>
            <a:ext cx="10765231" cy="548640"/>
          </a:xfrm>
          <a:prstGeom prst="roundRect">
            <a:avLst>
              <a:gd name="adj" fmla="val 14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13232" y="3474720"/>
            <a:ext cx="32004" cy="548640"/>
          </a:xfrm>
          <a:prstGeom prst="rect">
            <a:avLst/>
          </a:prstGeom>
          <a:solidFill>
            <a:srgbClr val="F066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 y="3648456"/>
            <a:ext cx="2834640" cy="274320"/>
          </a:xfrm>
          <a:prstGeom prst="rect">
            <a:avLst/>
          </a:prstGeom>
          <a:noFill/>
        </p:spPr>
        <p:txBody>
          <a:bodyPr wrap="square" lIns="0" rIns="0" tIns="0" bIns="0" anchor="t">
            <a:spAutoFit/>
          </a:bodyPr>
          <a:lstStyle/>
          <a:p>
            <a:pPr algn="l">
              <a:lnSpc>
                <a:spcPct val="118000"/>
              </a:lnSpc>
            </a:pPr>
            <a:r>
              <a:rPr sz="1250" b="0" i="0">
                <a:solidFill>
                  <a:srgbClr val="E9F2ED"/>
                </a:solidFill>
                <a:latin typeface="Inter" pitchFamily="34" charset="0"/>
                <a:cs typeface="Inter" pitchFamily="34" charset="0"/>
              </a:rPr>
              <a:t>Couloir central — segment 04</a:t>
            </a:r>
          </a:p>
        </p:txBody>
      </p:sp>
      <p:sp>
        <p:nvSpPr>
          <p:cNvPr id="19" name="TextBox 18"/>
          <p:cNvSpPr txBox="1"/>
          <p:nvPr/>
        </p:nvSpPr>
        <p:spPr>
          <a:xfrm>
            <a:off x="3959352" y="3648456"/>
            <a:ext cx="1371600" cy="274320"/>
          </a:xfrm>
          <a:prstGeom prst="rect">
            <a:avLst/>
          </a:prstGeom>
          <a:noFill/>
        </p:spPr>
        <p:txBody>
          <a:bodyPr wrap="square" lIns="0" rIns="0" tIns="0" bIns="0" anchor="t">
            <a:spAutoFit/>
          </a:bodyPr>
          <a:lstStyle/>
          <a:p>
            <a:pPr algn="l">
              <a:lnSpc>
                <a:spcPct val="118000"/>
              </a:lnSpc>
            </a:pPr>
            <a:r>
              <a:rPr sz="1250" b="0" i="0">
                <a:solidFill>
                  <a:srgbClr val="93A79D"/>
                </a:solidFill>
                <a:latin typeface="JetBrains Mono" pitchFamily="34" charset="0"/>
                <a:cs typeface="JetBrains Mono" pitchFamily="34" charset="0"/>
              </a:rPr>
              <a:t>18,4 ha</a:t>
            </a:r>
          </a:p>
        </p:txBody>
      </p:sp>
      <p:sp>
        <p:nvSpPr>
          <p:cNvPr id="20" name="Oval 19"/>
          <p:cNvSpPr/>
          <p:nvPr/>
        </p:nvSpPr>
        <p:spPr>
          <a:xfrm>
            <a:off x="5605272" y="3689604"/>
            <a:ext cx="118872" cy="118872"/>
          </a:xfrm>
          <a:prstGeom prst="ellipse">
            <a:avLst/>
          </a:prstGeom>
          <a:solidFill>
            <a:srgbClr val="F066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15584" y="3648456"/>
            <a:ext cx="2194560" cy="274320"/>
          </a:xfrm>
          <a:prstGeom prst="rect">
            <a:avLst/>
          </a:prstGeom>
          <a:noFill/>
        </p:spPr>
        <p:txBody>
          <a:bodyPr wrap="square" lIns="0" rIns="0" tIns="0" bIns="0" anchor="t">
            <a:spAutoFit/>
          </a:bodyPr>
          <a:lstStyle/>
          <a:p>
            <a:pPr algn="l">
              <a:lnSpc>
                <a:spcPct val="118000"/>
              </a:lnSpc>
            </a:pPr>
            <a:r>
              <a:rPr sz="1250" b="1" i="0">
                <a:solidFill>
                  <a:srgbClr val="F0665F"/>
                </a:solidFill>
                <a:latin typeface="Inter" pitchFamily="34" charset="0"/>
                <a:cs typeface="Inter" pitchFamily="34" charset="0"/>
              </a:rPr>
              <a:t>Grave</a:t>
            </a:r>
          </a:p>
        </p:txBody>
      </p:sp>
      <p:sp>
        <p:nvSpPr>
          <p:cNvPr id="22" name="TextBox 21"/>
          <p:cNvSpPr txBox="1"/>
          <p:nvPr/>
        </p:nvSpPr>
        <p:spPr>
          <a:xfrm>
            <a:off x="8211311" y="3648456"/>
            <a:ext cx="1463040" cy="274320"/>
          </a:xfrm>
          <a:prstGeom prst="rect">
            <a:avLst/>
          </a:prstGeom>
          <a:noFill/>
        </p:spPr>
        <p:txBody>
          <a:bodyPr wrap="square" lIns="0" rIns="0" tIns="0" bIns="0" anchor="t">
            <a:spAutoFit/>
          </a:bodyPr>
          <a:lstStyle/>
          <a:p>
            <a:pPr algn="l">
              <a:lnSpc>
                <a:spcPct val="118000"/>
              </a:lnSpc>
            </a:pPr>
            <a:r>
              <a:rPr sz="1250" b="0" i="0">
                <a:solidFill>
                  <a:srgbClr val="93A79D"/>
                </a:solidFill>
                <a:latin typeface="JetBrains Mono" pitchFamily="34" charset="0"/>
                <a:cs typeface="JetBrains Mono" pitchFamily="34" charset="0"/>
              </a:rPr>
              <a:t>0.88</a:t>
            </a:r>
          </a:p>
        </p:txBody>
      </p:sp>
      <p:sp>
        <p:nvSpPr>
          <p:cNvPr id="23" name="TextBox 22"/>
          <p:cNvSpPr txBox="1"/>
          <p:nvPr/>
        </p:nvSpPr>
        <p:spPr>
          <a:xfrm>
            <a:off x="9902952" y="3648456"/>
            <a:ext cx="1554480" cy="274320"/>
          </a:xfrm>
          <a:prstGeom prst="rect">
            <a:avLst/>
          </a:prstGeom>
          <a:noFill/>
        </p:spPr>
        <p:txBody>
          <a:bodyPr wrap="square" lIns="0" rIns="0" tIns="0" bIns="0" anchor="t">
            <a:spAutoFit/>
          </a:bodyPr>
          <a:lstStyle/>
          <a:p>
            <a:pPr algn="l">
              <a:lnSpc>
                <a:spcPct val="118000"/>
              </a:lnSpc>
            </a:pPr>
            <a:r>
              <a:rPr sz="1250" b="0" i="0">
                <a:solidFill>
                  <a:srgbClr val="F5B544"/>
                </a:solidFill>
                <a:latin typeface="Inter" pitchFamily="34" charset="0"/>
                <a:cs typeface="Inter" pitchFamily="34" charset="0"/>
              </a:rPr>
              <a:t>à vérifier</a:t>
            </a:r>
          </a:p>
        </p:txBody>
      </p:sp>
      <p:sp>
        <p:nvSpPr>
          <p:cNvPr id="24" name="Rounded Rectangle 23"/>
          <p:cNvSpPr/>
          <p:nvPr/>
        </p:nvSpPr>
        <p:spPr>
          <a:xfrm>
            <a:off x="713232" y="4133087"/>
            <a:ext cx="10765231" cy="548640"/>
          </a:xfrm>
          <a:prstGeom prst="roundRect">
            <a:avLst>
              <a:gd name="adj" fmla="val 14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 y="4133087"/>
            <a:ext cx="32004" cy="548640"/>
          </a:xfrm>
          <a:prstGeom prst="rect">
            <a:avLst/>
          </a:prstGeom>
          <a:solidFill>
            <a:srgbClr val="F5B5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7552" y="4306824"/>
            <a:ext cx="2834640" cy="274320"/>
          </a:xfrm>
          <a:prstGeom prst="rect">
            <a:avLst/>
          </a:prstGeom>
          <a:noFill/>
        </p:spPr>
        <p:txBody>
          <a:bodyPr wrap="square" lIns="0" rIns="0" tIns="0" bIns="0" anchor="t">
            <a:spAutoFit/>
          </a:bodyPr>
          <a:lstStyle/>
          <a:p>
            <a:pPr algn="l">
              <a:lnSpc>
                <a:spcPct val="118000"/>
              </a:lnSpc>
            </a:pPr>
            <a:r>
              <a:rPr sz="1250" b="0" i="0">
                <a:solidFill>
                  <a:srgbClr val="E9F2ED"/>
                </a:solidFill>
                <a:latin typeface="Inter" pitchFamily="34" charset="0"/>
                <a:cs typeface="Inter" pitchFamily="34" charset="0"/>
              </a:rPr>
              <a:t>Couloir central — segment 07</a:t>
            </a:r>
          </a:p>
        </p:txBody>
      </p:sp>
      <p:sp>
        <p:nvSpPr>
          <p:cNvPr id="27" name="TextBox 26"/>
          <p:cNvSpPr txBox="1"/>
          <p:nvPr/>
        </p:nvSpPr>
        <p:spPr>
          <a:xfrm>
            <a:off x="3959352" y="4306824"/>
            <a:ext cx="1371600" cy="274320"/>
          </a:xfrm>
          <a:prstGeom prst="rect">
            <a:avLst/>
          </a:prstGeom>
          <a:noFill/>
        </p:spPr>
        <p:txBody>
          <a:bodyPr wrap="square" lIns="0" rIns="0" tIns="0" bIns="0" anchor="t">
            <a:spAutoFit/>
          </a:bodyPr>
          <a:lstStyle/>
          <a:p>
            <a:pPr algn="l">
              <a:lnSpc>
                <a:spcPct val="118000"/>
              </a:lnSpc>
            </a:pPr>
            <a:r>
              <a:rPr sz="1250" b="0" i="0">
                <a:solidFill>
                  <a:srgbClr val="93A79D"/>
                </a:solidFill>
                <a:latin typeface="JetBrains Mono" pitchFamily="34" charset="0"/>
                <a:cs typeface="JetBrains Mono" pitchFamily="34" charset="0"/>
              </a:rPr>
              <a:t>6,1 ha</a:t>
            </a:r>
          </a:p>
        </p:txBody>
      </p:sp>
      <p:sp>
        <p:nvSpPr>
          <p:cNvPr id="28" name="Oval 27"/>
          <p:cNvSpPr/>
          <p:nvPr/>
        </p:nvSpPr>
        <p:spPr>
          <a:xfrm>
            <a:off x="5605272" y="4347972"/>
            <a:ext cx="118872" cy="118872"/>
          </a:xfrm>
          <a:prstGeom prst="ellipse">
            <a:avLst/>
          </a:prstGeom>
          <a:solidFill>
            <a:srgbClr val="F5B5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15584" y="4306824"/>
            <a:ext cx="2194560" cy="274320"/>
          </a:xfrm>
          <a:prstGeom prst="rect">
            <a:avLst/>
          </a:prstGeom>
          <a:noFill/>
        </p:spPr>
        <p:txBody>
          <a:bodyPr wrap="square" lIns="0" rIns="0" tIns="0" bIns="0" anchor="t">
            <a:spAutoFit/>
          </a:bodyPr>
          <a:lstStyle/>
          <a:p>
            <a:pPr algn="l">
              <a:lnSpc>
                <a:spcPct val="118000"/>
              </a:lnSpc>
            </a:pPr>
            <a:r>
              <a:rPr sz="1250" b="1" i="0">
                <a:solidFill>
                  <a:srgbClr val="F5B544"/>
                </a:solidFill>
                <a:latin typeface="Inter" pitchFamily="34" charset="0"/>
                <a:cs typeface="Inter" pitchFamily="34" charset="0"/>
              </a:rPr>
              <a:t>Moyenne</a:t>
            </a:r>
          </a:p>
        </p:txBody>
      </p:sp>
      <p:sp>
        <p:nvSpPr>
          <p:cNvPr id="30" name="TextBox 29"/>
          <p:cNvSpPr txBox="1"/>
          <p:nvPr/>
        </p:nvSpPr>
        <p:spPr>
          <a:xfrm>
            <a:off x="8211311" y="4306824"/>
            <a:ext cx="1463040" cy="274320"/>
          </a:xfrm>
          <a:prstGeom prst="rect">
            <a:avLst/>
          </a:prstGeom>
          <a:noFill/>
        </p:spPr>
        <p:txBody>
          <a:bodyPr wrap="square" lIns="0" rIns="0" tIns="0" bIns="0" anchor="t">
            <a:spAutoFit/>
          </a:bodyPr>
          <a:lstStyle/>
          <a:p>
            <a:pPr algn="l">
              <a:lnSpc>
                <a:spcPct val="118000"/>
              </a:lnSpc>
            </a:pPr>
            <a:r>
              <a:rPr sz="1250" b="0" i="0">
                <a:solidFill>
                  <a:srgbClr val="93A79D"/>
                </a:solidFill>
                <a:latin typeface="JetBrains Mono" pitchFamily="34" charset="0"/>
                <a:cs typeface="JetBrains Mono" pitchFamily="34" charset="0"/>
              </a:rPr>
              <a:t>0.71</a:t>
            </a:r>
          </a:p>
        </p:txBody>
      </p:sp>
      <p:sp>
        <p:nvSpPr>
          <p:cNvPr id="31" name="TextBox 30"/>
          <p:cNvSpPr txBox="1"/>
          <p:nvPr/>
        </p:nvSpPr>
        <p:spPr>
          <a:xfrm>
            <a:off x="9902952" y="4306824"/>
            <a:ext cx="1554480" cy="274320"/>
          </a:xfrm>
          <a:prstGeom prst="rect">
            <a:avLst/>
          </a:prstGeom>
          <a:noFill/>
        </p:spPr>
        <p:txBody>
          <a:bodyPr wrap="square" lIns="0" rIns="0" tIns="0" bIns="0" anchor="t">
            <a:spAutoFit/>
          </a:bodyPr>
          <a:lstStyle/>
          <a:p>
            <a:pPr algn="l">
              <a:lnSpc>
                <a:spcPct val="118000"/>
              </a:lnSpc>
            </a:pPr>
            <a:r>
              <a:rPr sz="1250" b="0" i="0">
                <a:solidFill>
                  <a:srgbClr val="34D399"/>
                </a:solidFill>
                <a:latin typeface="Inter" pitchFamily="34" charset="0"/>
                <a:cs typeface="Inter" pitchFamily="34" charset="0"/>
              </a:rPr>
              <a:t>confirmé</a:t>
            </a:r>
          </a:p>
        </p:txBody>
      </p:sp>
      <p:sp>
        <p:nvSpPr>
          <p:cNvPr id="32" name="Rounded Rectangle 31"/>
          <p:cNvSpPr/>
          <p:nvPr/>
        </p:nvSpPr>
        <p:spPr>
          <a:xfrm>
            <a:off x="713232" y="4791456"/>
            <a:ext cx="10765231" cy="548640"/>
          </a:xfrm>
          <a:prstGeom prst="roundRect">
            <a:avLst>
              <a:gd name="adj" fmla="val 14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13232" y="4791456"/>
            <a:ext cx="32004" cy="54864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7552" y="4965192"/>
            <a:ext cx="2834640" cy="274320"/>
          </a:xfrm>
          <a:prstGeom prst="rect">
            <a:avLst/>
          </a:prstGeom>
          <a:noFill/>
        </p:spPr>
        <p:txBody>
          <a:bodyPr wrap="square" lIns="0" rIns="0" tIns="0" bIns="0" anchor="t">
            <a:spAutoFit/>
          </a:bodyPr>
          <a:lstStyle/>
          <a:p>
            <a:pPr algn="l">
              <a:lnSpc>
                <a:spcPct val="118000"/>
              </a:lnSpc>
            </a:pPr>
            <a:r>
              <a:rPr sz="1250" b="0" i="0">
                <a:solidFill>
                  <a:srgbClr val="E9F2ED"/>
                </a:solidFill>
                <a:latin typeface="Inter" pitchFamily="34" charset="0"/>
                <a:cs typeface="Inter" pitchFamily="34" charset="0"/>
              </a:rPr>
              <a:t>Dérivation ouest — segment 12</a:t>
            </a:r>
          </a:p>
        </p:txBody>
      </p:sp>
      <p:sp>
        <p:nvSpPr>
          <p:cNvPr id="35" name="TextBox 34"/>
          <p:cNvSpPr txBox="1"/>
          <p:nvPr/>
        </p:nvSpPr>
        <p:spPr>
          <a:xfrm>
            <a:off x="3959352" y="4965192"/>
            <a:ext cx="1371600" cy="274320"/>
          </a:xfrm>
          <a:prstGeom prst="rect">
            <a:avLst/>
          </a:prstGeom>
          <a:noFill/>
        </p:spPr>
        <p:txBody>
          <a:bodyPr wrap="square" lIns="0" rIns="0" tIns="0" bIns="0" anchor="t">
            <a:spAutoFit/>
          </a:bodyPr>
          <a:lstStyle/>
          <a:p>
            <a:pPr algn="l">
              <a:lnSpc>
                <a:spcPct val="118000"/>
              </a:lnSpc>
            </a:pPr>
            <a:r>
              <a:rPr sz="1250" b="0" i="0">
                <a:solidFill>
                  <a:srgbClr val="93A79D"/>
                </a:solidFill>
                <a:latin typeface="JetBrains Mono" pitchFamily="34" charset="0"/>
                <a:cs typeface="JetBrains Mono" pitchFamily="34" charset="0"/>
              </a:rPr>
              <a:t>2,3 ha</a:t>
            </a:r>
          </a:p>
        </p:txBody>
      </p:sp>
      <p:sp>
        <p:nvSpPr>
          <p:cNvPr id="36" name="Oval 35"/>
          <p:cNvSpPr/>
          <p:nvPr/>
        </p:nvSpPr>
        <p:spPr>
          <a:xfrm>
            <a:off x="5605272" y="5006340"/>
            <a:ext cx="118872" cy="118872"/>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815584" y="4965192"/>
            <a:ext cx="2194560" cy="274320"/>
          </a:xfrm>
          <a:prstGeom prst="rect">
            <a:avLst/>
          </a:prstGeom>
          <a:noFill/>
        </p:spPr>
        <p:txBody>
          <a:bodyPr wrap="square" lIns="0" rIns="0" tIns="0" bIns="0" anchor="t">
            <a:spAutoFit/>
          </a:bodyPr>
          <a:lstStyle/>
          <a:p>
            <a:pPr algn="l">
              <a:lnSpc>
                <a:spcPct val="118000"/>
              </a:lnSpc>
            </a:pPr>
            <a:r>
              <a:rPr sz="1250" b="1" i="0">
                <a:solidFill>
                  <a:srgbClr val="34D399"/>
                </a:solidFill>
                <a:latin typeface="Inter" pitchFamily="34" charset="0"/>
                <a:cs typeface="Inter" pitchFamily="34" charset="0"/>
              </a:rPr>
              <a:t>Faible</a:t>
            </a:r>
          </a:p>
        </p:txBody>
      </p:sp>
      <p:sp>
        <p:nvSpPr>
          <p:cNvPr id="38" name="TextBox 37"/>
          <p:cNvSpPr txBox="1"/>
          <p:nvPr/>
        </p:nvSpPr>
        <p:spPr>
          <a:xfrm>
            <a:off x="8211311" y="4965192"/>
            <a:ext cx="1463040" cy="274320"/>
          </a:xfrm>
          <a:prstGeom prst="rect">
            <a:avLst/>
          </a:prstGeom>
          <a:noFill/>
        </p:spPr>
        <p:txBody>
          <a:bodyPr wrap="square" lIns="0" rIns="0" tIns="0" bIns="0" anchor="t">
            <a:spAutoFit/>
          </a:bodyPr>
          <a:lstStyle/>
          <a:p>
            <a:pPr algn="l">
              <a:lnSpc>
                <a:spcPct val="118000"/>
              </a:lnSpc>
            </a:pPr>
            <a:r>
              <a:rPr sz="1250" b="0" i="0">
                <a:solidFill>
                  <a:srgbClr val="93A79D"/>
                </a:solidFill>
                <a:latin typeface="JetBrains Mono" pitchFamily="34" charset="0"/>
                <a:cs typeface="JetBrains Mono" pitchFamily="34" charset="0"/>
              </a:rPr>
              <a:t>0.54</a:t>
            </a:r>
          </a:p>
        </p:txBody>
      </p:sp>
      <p:sp>
        <p:nvSpPr>
          <p:cNvPr id="39" name="TextBox 38"/>
          <p:cNvSpPr txBox="1"/>
          <p:nvPr/>
        </p:nvSpPr>
        <p:spPr>
          <a:xfrm>
            <a:off x="9902952" y="4965192"/>
            <a:ext cx="1554480" cy="274320"/>
          </a:xfrm>
          <a:prstGeom prst="rect">
            <a:avLst/>
          </a:prstGeom>
          <a:noFill/>
        </p:spPr>
        <p:txBody>
          <a:bodyPr wrap="square" lIns="0" rIns="0" tIns="0" bIns="0" anchor="t">
            <a:spAutoFit/>
          </a:bodyPr>
          <a:lstStyle/>
          <a:p>
            <a:pPr algn="l">
              <a:lnSpc>
                <a:spcPct val="118000"/>
              </a:lnSpc>
            </a:pPr>
            <a:r>
              <a:rPr sz="1250" b="0" i="0">
                <a:solidFill>
                  <a:srgbClr val="93A79D"/>
                </a:solidFill>
                <a:latin typeface="Inter" pitchFamily="34" charset="0"/>
                <a:cs typeface="Inter" pitchFamily="34" charset="0"/>
              </a:rPr>
              <a:t>incertain</a:t>
            </a:r>
          </a:p>
        </p:txBody>
      </p:sp>
      <p:sp>
        <p:nvSpPr>
          <p:cNvPr id="40" name="TextBox 39"/>
          <p:cNvSpPr txBox="1"/>
          <p:nvPr/>
        </p:nvSpPr>
        <p:spPr>
          <a:xfrm>
            <a:off x="713232" y="5577840"/>
            <a:ext cx="10789920" cy="365760"/>
          </a:xfrm>
          <a:prstGeom prst="rect">
            <a:avLst/>
          </a:prstGeom>
          <a:noFill/>
        </p:spPr>
        <p:txBody>
          <a:bodyPr wrap="square" lIns="0" rIns="0" tIns="0" bIns="0" anchor="t">
            <a:spAutoFit/>
          </a:bodyPr>
          <a:lstStyle/>
          <a:p>
            <a:pPr algn="l">
              <a:lnSpc>
                <a:spcPct val="118000"/>
              </a:lnSpc>
            </a:pPr>
            <a:r>
              <a:rPr sz="1200" b="0" i="1">
                <a:solidFill>
                  <a:srgbClr val="93A79D"/>
                </a:solidFill>
                <a:latin typeface="Inter" pitchFamily="34" charset="0"/>
                <a:cs typeface="Inter" pitchFamily="34" charset="0"/>
              </a:rPr>
              <a:t>Chaque ligne garde sa source, sa date de passage satellite et son statut de validation.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6272784"/>
            <a:ext cx="10765231" cy="10972"/>
          </a:xfrm>
          <a:prstGeom prst="rect">
            <a:avLst/>
          </a:prstGeom>
          <a:solidFill>
            <a:srgbClr val="1E2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6400800"/>
            <a:ext cx="5486400" cy="237744"/>
          </a:xfrm>
          <a:prstGeom prst="rect">
            <a:avLst/>
          </a:prstGeom>
          <a:noFill/>
        </p:spPr>
        <p:txBody>
          <a:bodyPr wrap="square" lIns="0" rIns="0" tIns="0" bIns="0" anchor="t">
            <a:spAutoFit/>
          </a:bodyPr>
          <a:lstStyle/>
          <a:p>
            <a:pPr algn="l">
              <a:lnSpc>
                <a:spcPct val="118000"/>
              </a:lnSpc>
            </a:pPr>
            <a:r>
              <a:rPr sz="900" b="0" i="0">
                <a:solidFill>
                  <a:srgbClr val="93A79D"/>
                </a:solidFill>
                <a:latin typeface="Inter" pitchFamily="34" charset="0"/>
                <a:cs typeface="Inter" pitchFamily="34" charset="0"/>
              </a:rPr>
              <a:t>Terra Sentinelle · IndabaX Bénin 2026</a:t>
            </a:r>
          </a:p>
        </p:txBody>
      </p:sp>
      <p:sp>
        <p:nvSpPr>
          <p:cNvPr id="5" name="TextBox 4"/>
          <p:cNvSpPr txBox="1"/>
          <p:nvPr/>
        </p:nvSpPr>
        <p:spPr>
          <a:xfrm>
            <a:off x="10381183" y="6400800"/>
            <a:ext cx="1097280" cy="237744"/>
          </a:xfrm>
          <a:prstGeom prst="rect">
            <a:avLst/>
          </a:prstGeom>
          <a:noFill/>
        </p:spPr>
        <p:txBody>
          <a:bodyPr wrap="square" lIns="0" rIns="0" tIns="0" bIns="0" anchor="t">
            <a:spAutoFit/>
          </a:bodyPr>
          <a:lstStyle/>
          <a:p>
            <a:pPr algn="r">
              <a:lnSpc>
                <a:spcPct val="118000"/>
              </a:lnSpc>
            </a:pPr>
            <a:r>
              <a:rPr sz="900" b="0" i="0">
                <a:solidFill>
                  <a:srgbClr val="93A79D"/>
                </a:solidFill>
                <a:latin typeface="JetBrains Mono" pitchFamily="34" charset="0"/>
                <a:cs typeface="JetBrains Mono" pitchFamily="34" charset="0"/>
              </a:rPr>
              <a:t>07 / 14</a:t>
            </a:r>
          </a:p>
        </p:txBody>
      </p:sp>
      <p:sp>
        <p:nvSpPr>
          <p:cNvPr id="6" name="Rectangle 5"/>
          <p:cNvSpPr/>
          <p:nvPr/>
        </p:nvSpPr>
        <p:spPr>
          <a:xfrm>
            <a:off x="713232" y="608076"/>
            <a:ext cx="50292" cy="15544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66928"/>
            <a:ext cx="8686800" cy="256032"/>
          </a:xfrm>
          <a:prstGeom prst="rect">
            <a:avLst/>
          </a:prstGeom>
          <a:noFill/>
        </p:spPr>
        <p:txBody>
          <a:bodyPr wrap="square" lIns="0" rIns="0" tIns="0" bIns="0" anchor="t">
            <a:spAutoFit/>
          </a:bodyPr>
          <a:lstStyle/>
          <a:p>
            <a:pPr algn="l">
              <a:lnSpc>
                <a:spcPct val="100000"/>
              </a:lnSpc>
            </a:pPr>
            <a:r>
              <a:rPr sz="1100" b="1" i="0">
                <a:solidFill>
                  <a:srgbClr val="34D399"/>
                </a:solidFill>
                <a:latin typeface="Inter" pitchFamily="34" charset="0"/>
                <a:cs typeface="Inter" pitchFamily="34" charset="0"/>
              </a:rPr>
              <a:t>POURQUOI L'IA</a:t>
            </a:r>
          </a:p>
        </p:txBody>
      </p:sp>
      <p:sp>
        <p:nvSpPr>
          <p:cNvPr id="8" name="TextBox 7"/>
          <p:cNvSpPr txBox="1"/>
          <p:nvPr/>
        </p:nvSpPr>
        <p:spPr>
          <a:xfrm>
            <a:off x="713232" y="932688"/>
            <a:ext cx="10765231" cy="1001268"/>
          </a:xfrm>
          <a:prstGeom prst="rect">
            <a:avLst/>
          </a:prstGeom>
          <a:noFill/>
        </p:spPr>
        <p:txBody>
          <a:bodyPr wrap="square" lIns="0" rIns="0" tIns="0" bIns="0" anchor="t">
            <a:spAutoFit/>
          </a:bodyPr>
          <a:lstStyle/>
          <a:p>
            <a:pPr algn="l">
              <a:lnSpc>
                <a:spcPct val="106000"/>
              </a:lnSpc>
            </a:pPr>
            <a:r>
              <a:rPr sz="3000" b="1" i="0">
                <a:solidFill>
                  <a:srgbClr val="E9F2ED"/>
                </a:solidFill>
                <a:latin typeface="Space Grotesk" pitchFamily="34" charset="0"/>
                <a:cs typeface="Space Grotesk" pitchFamily="34" charset="0"/>
              </a:rPr>
              <a:t>L'IA n'est pas un ajout.</a:t>
            </a:r>
          </a:p>
          <a:p>
            <a:pPr algn="l">
              <a:lnSpc>
                <a:spcPct val="106000"/>
              </a:lnSpc>
            </a:pPr>
            <a:r>
              <a:rPr sz="3000" b="1" i="0">
                <a:solidFill>
                  <a:srgbClr val="E9F2ED"/>
                </a:solidFill>
                <a:latin typeface="Space Grotesk" pitchFamily="34" charset="0"/>
                <a:cs typeface="Space Grotesk" pitchFamily="34" charset="0"/>
              </a:rPr>
              <a:t>Elle est le mécanisme.</a:t>
            </a:r>
          </a:p>
        </p:txBody>
      </p:sp>
      <p:sp>
        <p:nvSpPr>
          <p:cNvPr id="9" name="TextBox 8"/>
          <p:cNvSpPr txBox="1"/>
          <p:nvPr/>
        </p:nvSpPr>
        <p:spPr>
          <a:xfrm>
            <a:off x="713232" y="2487168"/>
            <a:ext cx="10789920" cy="457200"/>
          </a:xfrm>
          <a:prstGeom prst="rect">
            <a:avLst/>
          </a:prstGeom>
          <a:noFill/>
        </p:spPr>
        <p:txBody>
          <a:bodyPr wrap="square" lIns="0" rIns="0" tIns="0" bIns="0" anchor="t">
            <a:spAutoFit/>
          </a:bodyPr>
          <a:lstStyle/>
          <a:p>
            <a:pPr algn="l">
              <a:lnSpc>
                <a:spcPct val="125000"/>
              </a:lnSpc>
            </a:pPr>
            <a:r>
              <a:rPr sz="1600" b="0" i="0">
                <a:solidFill>
                  <a:srgbClr val="D9B48F"/>
                </a:solidFill>
                <a:latin typeface="Inter" pitchFamily="34" charset="0"/>
                <a:cs typeface="Inter" pitchFamily="34" charset="0"/>
              </a:rPr>
              <a:t>Seule l'imagerie satellite peut rafraîchir la carte d'une commune entière, chaque saison.</a:t>
            </a:r>
          </a:p>
        </p:txBody>
      </p:sp>
      <p:sp>
        <p:nvSpPr>
          <p:cNvPr id="10" name="Rounded Rectangle 9"/>
          <p:cNvSpPr/>
          <p:nvPr/>
        </p:nvSpPr>
        <p:spPr>
          <a:xfrm>
            <a:off x="713232" y="3246120"/>
            <a:ext cx="3405530" cy="2148840"/>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3235147"/>
            <a:ext cx="3405530" cy="45720"/>
          </a:xfrm>
          <a:prstGeom prst="rect">
            <a:avLst/>
          </a:prstGeom>
          <a:solidFill>
            <a:srgbClr val="D9B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3538727"/>
            <a:ext cx="2930042" cy="288036"/>
          </a:xfrm>
          <a:prstGeom prst="rect">
            <a:avLst/>
          </a:prstGeom>
          <a:noFill/>
        </p:spPr>
        <p:txBody>
          <a:bodyPr wrap="square" lIns="0" rIns="0" tIns="0" bIns="0" anchor="t">
            <a:spAutoFit/>
          </a:bodyPr>
          <a:lstStyle/>
          <a:p>
            <a:pPr algn="l">
              <a:lnSpc>
                <a:spcPct val="112000"/>
              </a:lnSpc>
            </a:pPr>
            <a:r>
              <a:rPr sz="1500" b="1" i="0">
                <a:solidFill>
                  <a:srgbClr val="E9F2ED"/>
                </a:solidFill>
                <a:latin typeface="Space Grotesk" pitchFamily="34" charset="0"/>
                <a:cs typeface="Space Grotesk" pitchFamily="34" charset="0"/>
              </a:rPr>
              <a:t>L'échelle</a:t>
            </a:r>
          </a:p>
        </p:txBody>
      </p:sp>
      <p:sp>
        <p:nvSpPr>
          <p:cNvPr id="13" name="TextBox 12"/>
          <p:cNvSpPr txBox="1"/>
          <p:nvPr/>
        </p:nvSpPr>
        <p:spPr>
          <a:xfrm>
            <a:off x="950976" y="3973068"/>
            <a:ext cx="2930042" cy="1022603"/>
          </a:xfrm>
          <a:prstGeom prst="rect">
            <a:avLst/>
          </a:prstGeom>
          <a:noFill/>
        </p:spPr>
        <p:txBody>
          <a:bodyPr wrap="square" lIns="0" rIns="0" tIns="0" bIns="0" anchor="t">
            <a:spAutoFit/>
          </a:bodyPr>
          <a:lstStyle/>
          <a:p>
            <a:pPr algn="l">
              <a:lnSpc>
                <a:spcPct val="130000"/>
              </a:lnSpc>
            </a:pPr>
            <a:r>
              <a:rPr sz="1250" b="0" i="0">
                <a:solidFill>
                  <a:srgbClr val="93A79D"/>
                </a:solidFill>
                <a:latin typeface="Inter" pitchFamily="34" charset="0"/>
                <a:cs typeface="Inter" pitchFamily="34" charset="0"/>
              </a:rPr>
              <a:t>Banikoara : des milliers</a:t>
            </a:r>
          </a:p>
          <a:p>
            <a:pPr algn="l">
              <a:lnSpc>
                <a:spcPct val="130000"/>
              </a:lnSpc>
            </a:pPr>
            <a:r>
              <a:rPr sz="1250" b="0" i="0">
                <a:solidFill>
                  <a:srgbClr val="93A79D"/>
                </a:solidFill>
                <a:latin typeface="Inter" pitchFamily="34" charset="0"/>
                <a:cs typeface="Inter" pitchFamily="34" charset="0"/>
              </a:rPr>
              <a:t>d'hectares de couloir.</a:t>
            </a:r>
          </a:p>
          <a:p>
            <a:pPr algn="l">
              <a:lnSpc>
                <a:spcPct val="130000"/>
              </a:lnSpc>
            </a:pPr>
            <a:r>
              <a:rPr sz="1250" b="0" i="0">
                <a:solidFill>
                  <a:srgbClr val="93A79D"/>
                </a:solidFill>
                <a:latin typeface="Inter" pitchFamily="34" charset="0"/>
                <a:cs typeface="Inter" pitchFamily="34" charset="0"/>
              </a:rPr>
              <a:t>Aucune brigade ne</a:t>
            </a:r>
          </a:p>
          <a:p>
            <a:pPr algn="l">
              <a:lnSpc>
                <a:spcPct val="130000"/>
              </a:lnSpc>
            </a:pPr>
            <a:r>
              <a:rPr sz="1250" b="0" i="0">
                <a:solidFill>
                  <a:srgbClr val="93A79D"/>
                </a:solidFill>
                <a:latin typeface="Inter" pitchFamily="34" charset="0"/>
                <a:cs typeface="Inter" pitchFamily="34" charset="0"/>
              </a:rPr>
              <a:t>l'arpente chaque année.</a:t>
            </a:r>
          </a:p>
        </p:txBody>
      </p:sp>
      <p:sp>
        <p:nvSpPr>
          <p:cNvPr id="14" name="Rounded Rectangle 13"/>
          <p:cNvSpPr/>
          <p:nvPr/>
        </p:nvSpPr>
        <p:spPr>
          <a:xfrm>
            <a:off x="4393082" y="3246120"/>
            <a:ext cx="3405530" cy="2148840"/>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93082" y="3235147"/>
            <a:ext cx="3405530" cy="457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0826" y="3538727"/>
            <a:ext cx="2930042" cy="288036"/>
          </a:xfrm>
          <a:prstGeom prst="rect">
            <a:avLst/>
          </a:prstGeom>
          <a:noFill/>
        </p:spPr>
        <p:txBody>
          <a:bodyPr wrap="square" lIns="0" rIns="0" tIns="0" bIns="0" anchor="t">
            <a:spAutoFit/>
          </a:bodyPr>
          <a:lstStyle/>
          <a:p>
            <a:pPr algn="l">
              <a:lnSpc>
                <a:spcPct val="112000"/>
              </a:lnSpc>
            </a:pPr>
            <a:r>
              <a:rPr sz="1500" b="1" i="0">
                <a:solidFill>
                  <a:srgbClr val="E9F2ED"/>
                </a:solidFill>
                <a:latin typeface="Space Grotesk" pitchFamily="34" charset="0"/>
                <a:cs typeface="Space Grotesk" pitchFamily="34" charset="0"/>
              </a:rPr>
              <a:t>La cadence</a:t>
            </a:r>
          </a:p>
        </p:txBody>
      </p:sp>
      <p:sp>
        <p:nvSpPr>
          <p:cNvPr id="17" name="TextBox 16"/>
          <p:cNvSpPr txBox="1"/>
          <p:nvPr/>
        </p:nvSpPr>
        <p:spPr>
          <a:xfrm>
            <a:off x="4630826" y="3973068"/>
            <a:ext cx="2930042" cy="1022603"/>
          </a:xfrm>
          <a:prstGeom prst="rect">
            <a:avLst/>
          </a:prstGeom>
          <a:noFill/>
        </p:spPr>
        <p:txBody>
          <a:bodyPr wrap="square" lIns="0" rIns="0" tIns="0" bIns="0" anchor="t">
            <a:spAutoFit/>
          </a:bodyPr>
          <a:lstStyle/>
          <a:p>
            <a:pPr algn="l">
              <a:lnSpc>
                <a:spcPct val="130000"/>
              </a:lnSpc>
            </a:pPr>
            <a:r>
              <a:rPr sz="1250" b="0" i="0">
                <a:solidFill>
                  <a:srgbClr val="93A79D"/>
                </a:solidFill>
                <a:latin typeface="Inter" pitchFamily="34" charset="0"/>
                <a:cs typeface="Inter" pitchFamily="34" charset="0"/>
              </a:rPr>
              <a:t>Sentinel-2 repasse</a:t>
            </a:r>
          </a:p>
          <a:p>
            <a:pPr algn="l">
              <a:lnSpc>
                <a:spcPct val="130000"/>
              </a:lnSpc>
            </a:pPr>
            <a:r>
              <a:rPr sz="1250" b="0" i="0">
                <a:solidFill>
                  <a:srgbClr val="93A79D"/>
                </a:solidFill>
                <a:latin typeface="Inter" pitchFamily="34" charset="0"/>
                <a:cs typeface="Inter" pitchFamily="34" charset="0"/>
              </a:rPr>
              <a:t>tous les 5 jours.</a:t>
            </a:r>
          </a:p>
          <a:p>
            <a:pPr algn="l">
              <a:lnSpc>
                <a:spcPct val="130000"/>
              </a:lnSpc>
            </a:pPr>
            <a:r>
              <a:rPr sz="1250" b="0" i="0">
                <a:solidFill>
                  <a:srgbClr val="93A79D"/>
                </a:solidFill>
                <a:latin typeface="Inter" pitchFamily="34" charset="0"/>
                <a:cs typeface="Inter" pitchFamily="34" charset="0"/>
              </a:rPr>
              <a:t>La carte peut suivre</a:t>
            </a:r>
          </a:p>
          <a:p>
            <a:pPr algn="l">
              <a:lnSpc>
                <a:spcPct val="130000"/>
              </a:lnSpc>
            </a:pPr>
            <a:r>
              <a:rPr sz="1250" b="0" i="0">
                <a:solidFill>
                  <a:srgbClr val="93A79D"/>
                </a:solidFill>
                <a:latin typeface="Inter" pitchFamily="34" charset="0"/>
                <a:cs typeface="Inter" pitchFamily="34" charset="0"/>
              </a:rPr>
              <a:t>le rythme des champs.</a:t>
            </a:r>
          </a:p>
        </p:txBody>
      </p:sp>
      <p:sp>
        <p:nvSpPr>
          <p:cNvPr id="18" name="Rounded Rectangle 17"/>
          <p:cNvSpPr/>
          <p:nvPr/>
        </p:nvSpPr>
        <p:spPr>
          <a:xfrm>
            <a:off x="8072932" y="3246120"/>
            <a:ext cx="3405530" cy="2148840"/>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3235147"/>
            <a:ext cx="3405530" cy="45720"/>
          </a:xfrm>
          <a:prstGeom prst="rect">
            <a:avLst/>
          </a:prstGeom>
          <a:solidFill>
            <a:srgbClr val="F5B5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0676" y="3538727"/>
            <a:ext cx="2930042" cy="288036"/>
          </a:xfrm>
          <a:prstGeom prst="rect">
            <a:avLst/>
          </a:prstGeom>
          <a:noFill/>
        </p:spPr>
        <p:txBody>
          <a:bodyPr wrap="square" lIns="0" rIns="0" tIns="0" bIns="0" anchor="t">
            <a:spAutoFit/>
          </a:bodyPr>
          <a:lstStyle/>
          <a:p>
            <a:pPr algn="l">
              <a:lnSpc>
                <a:spcPct val="112000"/>
              </a:lnSpc>
            </a:pPr>
            <a:r>
              <a:rPr sz="1500" b="1" i="0">
                <a:solidFill>
                  <a:srgbClr val="E9F2ED"/>
                </a:solidFill>
                <a:latin typeface="Space Grotesk" pitchFamily="34" charset="0"/>
                <a:cs typeface="Space Grotesk" pitchFamily="34" charset="0"/>
              </a:rPr>
              <a:t>Le signal</a:t>
            </a:r>
          </a:p>
        </p:txBody>
      </p:sp>
      <p:sp>
        <p:nvSpPr>
          <p:cNvPr id="21" name="TextBox 20"/>
          <p:cNvSpPr txBox="1"/>
          <p:nvPr/>
        </p:nvSpPr>
        <p:spPr>
          <a:xfrm>
            <a:off x="8310676" y="3973068"/>
            <a:ext cx="2930042" cy="1022603"/>
          </a:xfrm>
          <a:prstGeom prst="rect">
            <a:avLst/>
          </a:prstGeom>
          <a:noFill/>
        </p:spPr>
        <p:txBody>
          <a:bodyPr wrap="square" lIns="0" rIns="0" tIns="0" bIns="0" anchor="t">
            <a:spAutoFit/>
          </a:bodyPr>
          <a:lstStyle/>
          <a:p>
            <a:pPr algn="l">
              <a:lnSpc>
                <a:spcPct val="130000"/>
              </a:lnSpc>
            </a:pPr>
            <a:r>
              <a:rPr sz="1250" b="0" i="0">
                <a:solidFill>
                  <a:srgbClr val="93A79D"/>
                </a:solidFill>
                <a:latin typeface="Inter" pitchFamily="34" charset="0"/>
                <a:cs typeface="Inter" pitchFamily="34" charset="0"/>
              </a:rPr>
              <a:t>Distinguer sol nu,</a:t>
            </a:r>
          </a:p>
          <a:p>
            <a:pPr algn="l">
              <a:lnSpc>
                <a:spcPct val="130000"/>
              </a:lnSpc>
            </a:pPr>
            <a:r>
              <a:rPr sz="1250" b="0" i="0">
                <a:solidFill>
                  <a:srgbClr val="93A79D"/>
                </a:solidFill>
                <a:latin typeface="Inter" pitchFamily="34" charset="0"/>
                <a:cs typeface="Inter" pitchFamily="34" charset="0"/>
              </a:rPr>
              <a:t>jachère et culture</a:t>
            </a:r>
          </a:p>
          <a:p>
            <a:pPr algn="l">
              <a:lnSpc>
                <a:spcPct val="130000"/>
              </a:lnSpc>
            </a:pPr>
            <a:r>
              <a:rPr sz="1250" b="0" i="0">
                <a:solidFill>
                  <a:srgbClr val="93A79D"/>
                </a:solidFill>
                <a:latin typeface="Inter" pitchFamily="34" charset="0"/>
                <a:cs typeface="Inter" pitchFamily="34" charset="0"/>
              </a:rPr>
              <a:t>demande un modèle,</a:t>
            </a:r>
          </a:p>
          <a:p>
            <a:pPr algn="l">
              <a:lnSpc>
                <a:spcPct val="130000"/>
              </a:lnSpc>
            </a:pPr>
            <a:r>
              <a:rPr sz="1250" b="0" i="0">
                <a:solidFill>
                  <a:srgbClr val="93A79D"/>
                </a:solidFill>
                <a:latin typeface="Inter" pitchFamily="34" charset="0"/>
                <a:cs typeface="Inter" pitchFamily="34" charset="0"/>
              </a:rPr>
              <a:t>pas un seuil.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6272784"/>
            <a:ext cx="10765231" cy="10972"/>
          </a:xfrm>
          <a:prstGeom prst="rect">
            <a:avLst/>
          </a:prstGeom>
          <a:solidFill>
            <a:srgbClr val="1E2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6400800"/>
            <a:ext cx="5486400" cy="237744"/>
          </a:xfrm>
          <a:prstGeom prst="rect">
            <a:avLst/>
          </a:prstGeom>
          <a:noFill/>
        </p:spPr>
        <p:txBody>
          <a:bodyPr wrap="square" lIns="0" rIns="0" tIns="0" bIns="0" anchor="t">
            <a:spAutoFit/>
          </a:bodyPr>
          <a:lstStyle/>
          <a:p>
            <a:pPr algn="l">
              <a:lnSpc>
                <a:spcPct val="118000"/>
              </a:lnSpc>
            </a:pPr>
            <a:r>
              <a:rPr sz="900" b="0" i="0">
                <a:solidFill>
                  <a:srgbClr val="93A79D"/>
                </a:solidFill>
                <a:latin typeface="Inter" pitchFamily="34" charset="0"/>
                <a:cs typeface="Inter" pitchFamily="34" charset="0"/>
              </a:rPr>
              <a:t>Terra Sentinelle · IndabaX Bénin 2026</a:t>
            </a:r>
          </a:p>
        </p:txBody>
      </p:sp>
      <p:sp>
        <p:nvSpPr>
          <p:cNvPr id="5" name="TextBox 4"/>
          <p:cNvSpPr txBox="1"/>
          <p:nvPr/>
        </p:nvSpPr>
        <p:spPr>
          <a:xfrm>
            <a:off x="10381183" y="6400800"/>
            <a:ext cx="1097280" cy="237744"/>
          </a:xfrm>
          <a:prstGeom prst="rect">
            <a:avLst/>
          </a:prstGeom>
          <a:noFill/>
        </p:spPr>
        <p:txBody>
          <a:bodyPr wrap="square" lIns="0" rIns="0" tIns="0" bIns="0" anchor="t">
            <a:spAutoFit/>
          </a:bodyPr>
          <a:lstStyle/>
          <a:p>
            <a:pPr algn="r">
              <a:lnSpc>
                <a:spcPct val="118000"/>
              </a:lnSpc>
            </a:pPr>
            <a:r>
              <a:rPr sz="900" b="0" i="0">
                <a:solidFill>
                  <a:srgbClr val="93A79D"/>
                </a:solidFill>
                <a:latin typeface="JetBrains Mono" pitchFamily="34" charset="0"/>
                <a:cs typeface="JetBrains Mono" pitchFamily="34" charset="0"/>
              </a:rPr>
              <a:t>08 / 14</a:t>
            </a:r>
          </a:p>
        </p:txBody>
      </p:sp>
      <p:sp>
        <p:nvSpPr>
          <p:cNvPr id="6" name="Rectangle 5"/>
          <p:cNvSpPr/>
          <p:nvPr/>
        </p:nvSpPr>
        <p:spPr>
          <a:xfrm>
            <a:off x="713232" y="608076"/>
            <a:ext cx="50292" cy="15544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66928"/>
            <a:ext cx="8686800" cy="256032"/>
          </a:xfrm>
          <a:prstGeom prst="rect">
            <a:avLst/>
          </a:prstGeom>
          <a:noFill/>
        </p:spPr>
        <p:txBody>
          <a:bodyPr wrap="square" lIns="0" rIns="0" tIns="0" bIns="0" anchor="t">
            <a:spAutoFit/>
          </a:bodyPr>
          <a:lstStyle/>
          <a:p>
            <a:pPr algn="l">
              <a:lnSpc>
                <a:spcPct val="100000"/>
              </a:lnSpc>
            </a:pPr>
            <a:r>
              <a:rPr sz="1100" b="1" i="0">
                <a:solidFill>
                  <a:srgbClr val="34D399"/>
                </a:solidFill>
                <a:latin typeface="Inter" pitchFamily="34" charset="0"/>
                <a:cs typeface="Inter" pitchFamily="34" charset="0"/>
              </a:rPr>
              <a:t>CHOIX TECHNIQUE ASSUMÉ</a:t>
            </a:r>
          </a:p>
        </p:txBody>
      </p:sp>
      <p:sp>
        <p:nvSpPr>
          <p:cNvPr id="8" name="TextBox 7"/>
          <p:cNvSpPr txBox="1"/>
          <p:nvPr/>
        </p:nvSpPr>
        <p:spPr>
          <a:xfrm>
            <a:off x="713232" y="932688"/>
            <a:ext cx="10765231" cy="500481"/>
          </a:xfrm>
          <a:prstGeom prst="rect">
            <a:avLst/>
          </a:prstGeom>
          <a:noFill/>
        </p:spPr>
        <p:txBody>
          <a:bodyPr wrap="square" lIns="0" rIns="0" tIns="0" bIns="0" anchor="t">
            <a:spAutoFit/>
          </a:bodyPr>
          <a:lstStyle/>
          <a:p>
            <a:pPr algn="l">
              <a:lnSpc>
                <a:spcPct val="106000"/>
              </a:lnSpc>
            </a:pPr>
            <a:r>
              <a:rPr sz="2900" b="1" i="0">
                <a:solidFill>
                  <a:srgbClr val="E9F2ED"/>
                </a:solidFill>
                <a:latin typeface="Space Grotesk" pitchFamily="34" charset="0"/>
                <a:cs typeface="Space Grotesk" pitchFamily="34" charset="0"/>
              </a:rPr>
              <a:t>La saison de culture est la saison des pluies.</a:t>
            </a:r>
          </a:p>
        </p:txBody>
      </p:sp>
      <p:sp>
        <p:nvSpPr>
          <p:cNvPr id="9" name="TextBox 8"/>
          <p:cNvSpPr txBox="1"/>
          <p:nvPr/>
        </p:nvSpPr>
        <p:spPr>
          <a:xfrm>
            <a:off x="713232" y="1597761"/>
            <a:ext cx="10216591" cy="305104"/>
          </a:xfrm>
          <a:prstGeom prst="rect">
            <a:avLst/>
          </a:prstGeom>
          <a:noFill/>
        </p:spPr>
        <p:txBody>
          <a:bodyPr wrap="square" lIns="0" rIns="0" tIns="0" bIns="0" anchor="t">
            <a:spAutoFit/>
          </a:bodyPr>
          <a:lstStyle/>
          <a:p>
            <a:pPr algn="l">
              <a:lnSpc>
                <a:spcPct val="128000"/>
              </a:lnSpc>
            </a:pPr>
            <a:r>
              <a:rPr sz="1400" b="0" i="0">
                <a:solidFill>
                  <a:srgbClr val="93A79D"/>
                </a:solidFill>
                <a:latin typeface="Inter" pitchFamily="34" charset="0"/>
                <a:cs typeface="Inter" pitchFamily="34" charset="0"/>
              </a:rPr>
              <a:t>Donc la saison des nuages. C'est le premier obstacle réel, et il se traite.</a:t>
            </a:r>
          </a:p>
        </p:txBody>
      </p:sp>
      <p:sp>
        <p:nvSpPr>
          <p:cNvPr id="10" name="Rounded Rectangle 9"/>
          <p:cNvSpPr/>
          <p:nvPr/>
        </p:nvSpPr>
        <p:spPr>
          <a:xfrm>
            <a:off x="713232" y="2670048"/>
            <a:ext cx="5131155" cy="2560320"/>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2659075"/>
            <a:ext cx="5131155" cy="45720"/>
          </a:xfrm>
          <a:prstGeom prst="rect">
            <a:avLst/>
          </a:prstGeom>
          <a:solidFill>
            <a:srgbClr val="F5B5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7552" y="2944368"/>
            <a:ext cx="4582515" cy="274320"/>
          </a:xfrm>
          <a:prstGeom prst="rect">
            <a:avLst/>
          </a:prstGeom>
          <a:noFill/>
        </p:spPr>
        <p:txBody>
          <a:bodyPr wrap="square" lIns="0" rIns="0" tIns="0" bIns="0" anchor="t">
            <a:spAutoFit/>
          </a:bodyPr>
          <a:lstStyle/>
          <a:p>
            <a:pPr algn="l">
              <a:lnSpc>
                <a:spcPct val="118000"/>
              </a:lnSpc>
            </a:pPr>
            <a:r>
              <a:rPr sz="1100" b="1" i="0">
                <a:solidFill>
                  <a:srgbClr val="F5B544"/>
                </a:solidFill>
                <a:latin typeface="Inter" pitchFamily="34" charset="0"/>
                <a:cs typeface="Inter" pitchFamily="34" charset="0"/>
              </a:rPr>
              <a:t>SENTINEL-2 · OPTIQUE 10 m</a:t>
            </a:r>
          </a:p>
        </p:txBody>
      </p:sp>
      <p:sp>
        <p:nvSpPr>
          <p:cNvPr id="13" name="Rounded Rectangle 12"/>
          <p:cNvSpPr/>
          <p:nvPr/>
        </p:nvSpPr>
        <p:spPr>
          <a:xfrm>
            <a:off x="1097280" y="3419856"/>
            <a:ext cx="960120" cy="310896"/>
          </a:xfrm>
          <a:prstGeom prst="roundRect">
            <a:avLst>
              <a:gd name="adj" fmla="val 50000"/>
            </a:avLst>
          </a:prstGeom>
          <a:solidFill>
            <a:srgbClr val="3A48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67712" y="3419856"/>
            <a:ext cx="960120" cy="310896"/>
          </a:xfrm>
          <a:prstGeom prst="roundRect">
            <a:avLst>
              <a:gd name="adj" fmla="val 50000"/>
            </a:avLst>
          </a:prstGeom>
          <a:solidFill>
            <a:srgbClr val="3A48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38144" y="3419856"/>
            <a:ext cx="960120" cy="310896"/>
          </a:xfrm>
          <a:prstGeom prst="roundRect">
            <a:avLst>
              <a:gd name="adj" fmla="val 50000"/>
            </a:avLst>
          </a:prstGeom>
          <a:solidFill>
            <a:srgbClr val="3A48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608576" y="3419856"/>
            <a:ext cx="960120" cy="310896"/>
          </a:xfrm>
          <a:prstGeom prst="roundRect">
            <a:avLst>
              <a:gd name="adj" fmla="val 50000"/>
            </a:avLst>
          </a:prstGeom>
          <a:solidFill>
            <a:srgbClr val="3A48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097280" y="3895344"/>
            <a:ext cx="4363059" cy="18288"/>
          </a:xfrm>
          <a:prstGeom prst="rect">
            <a:avLst/>
          </a:prstGeom>
          <a:solidFill>
            <a:srgbClr val="1E2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wn Arrow 17"/>
          <p:cNvSpPr/>
          <p:nvPr/>
        </p:nvSpPr>
        <p:spPr>
          <a:xfrm>
            <a:off x="1536192" y="3803904"/>
            <a:ext cx="146304" cy="420624"/>
          </a:xfrm>
          <a:prstGeom prst="downArrow">
            <a:avLst/>
          </a:prstGeom>
          <a:solidFill>
            <a:srgbClr val="F066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706624" y="3803904"/>
            <a:ext cx="146304" cy="420624"/>
          </a:xfrm>
          <a:prstGeom prst="downArrow">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3877056" y="3803904"/>
            <a:ext cx="146304" cy="420624"/>
          </a:xfrm>
          <a:prstGeom prst="downArrow">
            <a:avLst/>
          </a:prstGeom>
          <a:solidFill>
            <a:srgbClr val="F066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wn Arrow 20"/>
          <p:cNvSpPr/>
          <p:nvPr/>
        </p:nvSpPr>
        <p:spPr>
          <a:xfrm>
            <a:off x="5047488" y="3803904"/>
            <a:ext cx="146304" cy="420624"/>
          </a:xfrm>
          <a:prstGeom prst="downArrow">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97280" y="4370832"/>
            <a:ext cx="4363059" cy="128016"/>
          </a:xfrm>
          <a:prstGeom prst="rect">
            <a:avLst/>
          </a:prstGeom>
          <a:solidFill>
            <a:srgbClr val="D9B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3218688"/>
            <a:ext cx="2194560" cy="201168"/>
          </a:xfrm>
          <a:prstGeom prst="rect">
            <a:avLst/>
          </a:prstGeom>
          <a:noFill/>
        </p:spPr>
        <p:txBody>
          <a:bodyPr wrap="square" lIns="0" rIns="0" tIns="0" bIns="0" anchor="t">
            <a:spAutoFit/>
          </a:bodyPr>
          <a:lstStyle/>
          <a:p>
            <a:pPr algn="l">
              <a:lnSpc>
                <a:spcPct val="118000"/>
              </a:lnSpc>
            </a:pPr>
            <a:r>
              <a:rPr sz="900" b="0" i="0">
                <a:solidFill>
                  <a:srgbClr val="93A79D"/>
                </a:solidFill>
                <a:latin typeface="Inter" pitchFamily="34" charset="0"/>
                <a:cs typeface="Inter" pitchFamily="34" charset="0"/>
              </a:rPr>
              <a:t>nuages</a:t>
            </a:r>
          </a:p>
        </p:txBody>
      </p:sp>
      <p:sp>
        <p:nvSpPr>
          <p:cNvPr id="24" name="TextBox 23"/>
          <p:cNvSpPr txBox="1"/>
          <p:nvPr/>
        </p:nvSpPr>
        <p:spPr>
          <a:xfrm>
            <a:off x="1097280" y="4535424"/>
            <a:ext cx="2194560" cy="201168"/>
          </a:xfrm>
          <a:prstGeom prst="rect">
            <a:avLst/>
          </a:prstGeom>
          <a:noFill/>
        </p:spPr>
        <p:txBody>
          <a:bodyPr wrap="square" lIns="0" rIns="0" tIns="0" bIns="0" anchor="t">
            <a:spAutoFit/>
          </a:bodyPr>
          <a:lstStyle/>
          <a:p>
            <a:pPr algn="l">
              <a:lnSpc>
                <a:spcPct val="118000"/>
              </a:lnSpc>
            </a:pPr>
            <a:r>
              <a:rPr sz="900" b="0" i="0">
                <a:solidFill>
                  <a:srgbClr val="93A79D"/>
                </a:solidFill>
                <a:latin typeface="Inter" pitchFamily="34" charset="0"/>
                <a:cs typeface="Inter" pitchFamily="34" charset="0"/>
              </a:rPr>
              <a:t>sol</a:t>
            </a:r>
          </a:p>
        </p:txBody>
      </p:sp>
      <p:sp>
        <p:nvSpPr>
          <p:cNvPr id="25" name="TextBox 24"/>
          <p:cNvSpPr txBox="1"/>
          <p:nvPr/>
        </p:nvSpPr>
        <p:spPr>
          <a:xfrm>
            <a:off x="987552" y="4773168"/>
            <a:ext cx="4582515" cy="470154"/>
          </a:xfrm>
          <a:prstGeom prst="rect">
            <a:avLst/>
          </a:prstGeom>
          <a:noFill/>
        </p:spPr>
        <p:txBody>
          <a:bodyPr wrap="square" lIns="0" rIns="0" tIns="0" bIns="0" anchor="t">
            <a:spAutoFit/>
          </a:bodyPr>
          <a:lstStyle/>
          <a:p>
            <a:pPr algn="l">
              <a:lnSpc>
                <a:spcPct val="125000"/>
              </a:lnSpc>
            </a:pPr>
            <a:r>
              <a:rPr sz="1150" b="0" i="0">
                <a:solidFill>
                  <a:srgbClr val="93A79D"/>
                </a:solidFill>
                <a:latin typeface="Inter" pitchFamily="34" charset="0"/>
                <a:cs typeface="Inter" pitchFamily="34" charset="0"/>
              </a:rPr>
              <a:t>Nuage = pixel perdu.</a:t>
            </a:r>
          </a:p>
          <a:p>
            <a:pPr algn="l">
              <a:lnSpc>
                <a:spcPct val="125000"/>
              </a:lnSpc>
            </a:pPr>
            <a:r>
              <a:rPr sz="1150" b="0" i="0">
                <a:solidFill>
                  <a:srgbClr val="93A79D"/>
                </a:solidFill>
                <a:latin typeface="Inter" pitchFamily="34" charset="0"/>
                <a:cs typeface="Inter" pitchFamily="34" charset="0"/>
              </a:rPr>
              <a:t>Parade : composite médian multi-dates + masque nuages.</a:t>
            </a:r>
          </a:p>
        </p:txBody>
      </p:sp>
      <p:sp>
        <p:nvSpPr>
          <p:cNvPr id="26" name="Rounded Rectangle 25"/>
          <p:cNvSpPr/>
          <p:nvPr/>
        </p:nvSpPr>
        <p:spPr>
          <a:xfrm>
            <a:off x="6347307" y="2670048"/>
            <a:ext cx="5131155" cy="2560320"/>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47307" y="2659075"/>
            <a:ext cx="5131155" cy="457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21627" y="2944368"/>
            <a:ext cx="4582515" cy="274320"/>
          </a:xfrm>
          <a:prstGeom prst="rect">
            <a:avLst/>
          </a:prstGeom>
          <a:noFill/>
        </p:spPr>
        <p:txBody>
          <a:bodyPr wrap="square" lIns="0" rIns="0" tIns="0" bIns="0" anchor="t">
            <a:spAutoFit/>
          </a:bodyPr>
          <a:lstStyle/>
          <a:p>
            <a:pPr algn="l">
              <a:lnSpc>
                <a:spcPct val="118000"/>
              </a:lnSpc>
            </a:pPr>
            <a:r>
              <a:rPr sz="1100" b="1" i="0">
                <a:solidFill>
                  <a:srgbClr val="34D399"/>
                </a:solidFill>
                <a:latin typeface="Inter" pitchFamily="34" charset="0"/>
                <a:cs typeface="Inter" pitchFamily="34" charset="0"/>
              </a:rPr>
              <a:t>SENTINEL-1 · RADAR</a:t>
            </a:r>
          </a:p>
        </p:txBody>
      </p:sp>
      <p:sp>
        <p:nvSpPr>
          <p:cNvPr id="29" name="Rounded Rectangle 28"/>
          <p:cNvSpPr/>
          <p:nvPr/>
        </p:nvSpPr>
        <p:spPr>
          <a:xfrm>
            <a:off x="6731355" y="3419856"/>
            <a:ext cx="960120" cy="310896"/>
          </a:xfrm>
          <a:prstGeom prst="roundRect">
            <a:avLst>
              <a:gd name="adj" fmla="val 50000"/>
            </a:avLst>
          </a:prstGeom>
          <a:solidFill>
            <a:srgbClr val="3A48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901787" y="3419856"/>
            <a:ext cx="960120" cy="310896"/>
          </a:xfrm>
          <a:prstGeom prst="roundRect">
            <a:avLst>
              <a:gd name="adj" fmla="val 50000"/>
            </a:avLst>
          </a:prstGeom>
          <a:solidFill>
            <a:srgbClr val="3A48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9072219" y="3419856"/>
            <a:ext cx="960120" cy="310896"/>
          </a:xfrm>
          <a:prstGeom prst="roundRect">
            <a:avLst>
              <a:gd name="adj" fmla="val 50000"/>
            </a:avLst>
          </a:prstGeom>
          <a:solidFill>
            <a:srgbClr val="3A48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242651" y="3419856"/>
            <a:ext cx="960120" cy="310896"/>
          </a:xfrm>
          <a:prstGeom prst="roundRect">
            <a:avLst>
              <a:gd name="adj" fmla="val 50000"/>
            </a:avLst>
          </a:prstGeom>
          <a:solidFill>
            <a:srgbClr val="3A48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own Arrow 32"/>
          <p:cNvSpPr/>
          <p:nvPr/>
        </p:nvSpPr>
        <p:spPr>
          <a:xfrm>
            <a:off x="7170267" y="3803904"/>
            <a:ext cx="146304" cy="420624"/>
          </a:xfrm>
          <a:prstGeom prst="downArrow">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Down Arrow 33"/>
          <p:cNvSpPr/>
          <p:nvPr/>
        </p:nvSpPr>
        <p:spPr>
          <a:xfrm>
            <a:off x="8340699" y="3803904"/>
            <a:ext cx="146304" cy="420624"/>
          </a:xfrm>
          <a:prstGeom prst="downArrow">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own Arrow 34"/>
          <p:cNvSpPr/>
          <p:nvPr/>
        </p:nvSpPr>
        <p:spPr>
          <a:xfrm>
            <a:off x="9511131" y="3803904"/>
            <a:ext cx="146304" cy="420624"/>
          </a:xfrm>
          <a:prstGeom prst="downArrow">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10681563" y="3803904"/>
            <a:ext cx="146304" cy="420624"/>
          </a:xfrm>
          <a:prstGeom prst="downArrow">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731355" y="4370832"/>
            <a:ext cx="4363059" cy="128016"/>
          </a:xfrm>
          <a:prstGeom prst="rect">
            <a:avLst/>
          </a:prstGeom>
          <a:solidFill>
            <a:srgbClr val="D9B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31355" y="3218688"/>
            <a:ext cx="2194560" cy="201168"/>
          </a:xfrm>
          <a:prstGeom prst="rect">
            <a:avLst/>
          </a:prstGeom>
          <a:noFill/>
        </p:spPr>
        <p:txBody>
          <a:bodyPr wrap="square" lIns="0" rIns="0" tIns="0" bIns="0" anchor="t">
            <a:spAutoFit/>
          </a:bodyPr>
          <a:lstStyle/>
          <a:p>
            <a:pPr algn="l">
              <a:lnSpc>
                <a:spcPct val="118000"/>
              </a:lnSpc>
            </a:pPr>
            <a:r>
              <a:rPr sz="900" b="0" i="0">
                <a:solidFill>
                  <a:srgbClr val="93A79D"/>
                </a:solidFill>
                <a:latin typeface="Inter" pitchFamily="34" charset="0"/>
                <a:cs typeface="Inter" pitchFamily="34" charset="0"/>
              </a:rPr>
              <a:t>nuages</a:t>
            </a:r>
          </a:p>
        </p:txBody>
      </p:sp>
      <p:sp>
        <p:nvSpPr>
          <p:cNvPr id="39" name="TextBox 38"/>
          <p:cNvSpPr txBox="1"/>
          <p:nvPr/>
        </p:nvSpPr>
        <p:spPr>
          <a:xfrm>
            <a:off x="6731355" y="4535424"/>
            <a:ext cx="2194560" cy="201168"/>
          </a:xfrm>
          <a:prstGeom prst="rect">
            <a:avLst/>
          </a:prstGeom>
          <a:noFill/>
        </p:spPr>
        <p:txBody>
          <a:bodyPr wrap="square" lIns="0" rIns="0" tIns="0" bIns="0" anchor="t">
            <a:spAutoFit/>
          </a:bodyPr>
          <a:lstStyle/>
          <a:p>
            <a:pPr algn="l">
              <a:lnSpc>
                <a:spcPct val="118000"/>
              </a:lnSpc>
            </a:pPr>
            <a:r>
              <a:rPr sz="900" b="0" i="0">
                <a:solidFill>
                  <a:srgbClr val="93A79D"/>
                </a:solidFill>
                <a:latin typeface="Inter" pitchFamily="34" charset="0"/>
                <a:cs typeface="Inter" pitchFamily="34" charset="0"/>
              </a:rPr>
              <a:t>sol</a:t>
            </a:r>
          </a:p>
        </p:txBody>
      </p:sp>
      <p:sp>
        <p:nvSpPr>
          <p:cNvPr id="40" name="TextBox 39"/>
          <p:cNvSpPr txBox="1"/>
          <p:nvPr/>
        </p:nvSpPr>
        <p:spPr>
          <a:xfrm>
            <a:off x="6621627" y="4773168"/>
            <a:ext cx="4582515" cy="470154"/>
          </a:xfrm>
          <a:prstGeom prst="rect">
            <a:avLst/>
          </a:prstGeom>
          <a:noFill/>
        </p:spPr>
        <p:txBody>
          <a:bodyPr wrap="square" lIns="0" rIns="0" tIns="0" bIns="0" anchor="t">
            <a:spAutoFit/>
          </a:bodyPr>
          <a:lstStyle/>
          <a:p>
            <a:pPr algn="l">
              <a:lnSpc>
                <a:spcPct val="125000"/>
              </a:lnSpc>
            </a:pPr>
            <a:r>
              <a:rPr sz="1150" b="0" i="0">
                <a:solidFill>
                  <a:srgbClr val="93A79D"/>
                </a:solidFill>
                <a:latin typeface="Inter" pitchFamily="34" charset="0"/>
                <a:cs typeface="Inter" pitchFamily="34" charset="0"/>
              </a:rPr>
              <a:t>Le radar traverse les nuages.</a:t>
            </a:r>
          </a:p>
          <a:p>
            <a:pPr algn="l">
              <a:lnSpc>
                <a:spcPct val="125000"/>
              </a:lnSpc>
            </a:pPr>
            <a:r>
              <a:rPr sz="1150" b="0" i="0">
                <a:solidFill>
                  <a:srgbClr val="93A79D"/>
                </a:solidFill>
                <a:latin typeface="Inter" pitchFamily="34" charset="0"/>
                <a:cs typeface="Inter" pitchFamily="34" charset="0"/>
              </a:rPr>
              <a:t>Il prend le relais en pleine saison humide.</a:t>
            </a:r>
          </a:p>
        </p:txBody>
      </p:sp>
      <p:sp>
        <p:nvSpPr>
          <p:cNvPr id="41" name="TextBox 40"/>
          <p:cNvSpPr txBox="1"/>
          <p:nvPr/>
        </p:nvSpPr>
        <p:spPr>
          <a:xfrm>
            <a:off x="713232" y="5358384"/>
            <a:ext cx="10789920" cy="402336"/>
          </a:xfrm>
          <a:prstGeom prst="rect">
            <a:avLst/>
          </a:prstGeom>
          <a:noFill/>
        </p:spPr>
        <p:txBody>
          <a:bodyPr wrap="square" lIns="0" rIns="0" tIns="0" bIns="0" anchor="t">
            <a:spAutoFit/>
          </a:bodyPr>
          <a:lstStyle/>
          <a:p>
            <a:pPr algn="l">
              <a:lnSpc>
                <a:spcPct val="118000"/>
              </a:lnSpc>
            </a:pPr>
            <a:r>
              <a:rPr sz="1350" b="0" i="1">
                <a:solidFill>
                  <a:srgbClr val="34D399"/>
                </a:solidFill>
                <a:latin typeface="Inter" pitchFamily="34" charset="0"/>
                <a:cs typeface="Inter" pitchFamily="34" charset="0"/>
              </a:rPr>
              <a:t>« La pertinence des choix techniques compte davantage que la complexité inutile.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6272784"/>
            <a:ext cx="10765231" cy="10972"/>
          </a:xfrm>
          <a:prstGeom prst="rect">
            <a:avLst/>
          </a:prstGeom>
          <a:solidFill>
            <a:srgbClr val="1E2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6400800"/>
            <a:ext cx="5486400" cy="237744"/>
          </a:xfrm>
          <a:prstGeom prst="rect">
            <a:avLst/>
          </a:prstGeom>
          <a:noFill/>
        </p:spPr>
        <p:txBody>
          <a:bodyPr wrap="square" lIns="0" rIns="0" tIns="0" bIns="0" anchor="t">
            <a:spAutoFit/>
          </a:bodyPr>
          <a:lstStyle/>
          <a:p>
            <a:pPr algn="l">
              <a:lnSpc>
                <a:spcPct val="118000"/>
              </a:lnSpc>
            </a:pPr>
            <a:r>
              <a:rPr sz="900" b="0" i="0">
                <a:solidFill>
                  <a:srgbClr val="93A79D"/>
                </a:solidFill>
                <a:latin typeface="Inter" pitchFamily="34" charset="0"/>
                <a:cs typeface="Inter" pitchFamily="34" charset="0"/>
              </a:rPr>
              <a:t>Terra Sentinelle · IndabaX Bénin 2026</a:t>
            </a:r>
          </a:p>
        </p:txBody>
      </p:sp>
      <p:sp>
        <p:nvSpPr>
          <p:cNvPr id="5" name="TextBox 4"/>
          <p:cNvSpPr txBox="1"/>
          <p:nvPr/>
        </p:nvSpPr>
        <p:spPr>
          <a:xfrm>
            <a:off x="10381183" y="6400800"/>
            <a:ext cx="1097280" cy="237744"/>
          </a:xfrm>
          <a:prstGeom prst="rect">
            <a:avLst/>
          </a:prstGeom>
          <a:noFill/>
        </p:spPr>
        <p:txBody>
          <a:bodyPr wrap="square" lIns="0" rIns="0" tIns="0" bIns="0" anchor="t">
            <a:spAutoFit/>
          </a:bodyPr>
          <a:lstStyle/>
          <a:p>
            <a:pPr algn="r">
              <a:lnSpc>
                <a:spcPct val="118000"/>
              </a:lnSpc>
            </a:pPr>
            <a:r>
              <a:rPr sz="900" b="0" i="0">
                <a:solidFill>
                  <a:srgbClr val="93A79D"/>
                </a:solidFill>
                <a:latin typeface="JetBrains Mono" pitchFamily="34" charset="0"/>
                <a:cs typeface="JetBrains Mono" pitchFamily="34" charset="0"/>
              </a:rPr>
              <a:t>09 / 14</a:t>
            </a:r>
          </a:p>
        </p:txBody>
      </p:sp>
      <p:sp>
        <p:nvSpPr>
          <p:cNvPr id="6" name="Rectangle 5"/>
          <p:cNvSpPr/>
          <p:nvPr/>
        </p:nvSpPr>
        <p:spPr>
          <a:xfrm>
            <a:off x="713232" y="608076"/>
            <a:ext cx="50292" cy="15544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66928"/>
            <a:ext cx="8686800" cy="256032"/>
          </a:xfrm>
          <a:prstGeom prst="rect">
            <a:avLst/>
          </a:prstGeom>
          <a:noFill/>
        </p:spPr>
        <p:txBody>
          <a:bodyPr wrap="square" lIns="0" rIns="0" tIns="0" bIns="0" anchor="t">
            <a:spAutoFit/>
          </a:bodyPr>
          <a:lstStyle/>
          <a:p>
            <a:pPr algn="l">
              <a:lnSpc>
                <a:spcPct val="100000"/>
              </a:lnSpc>
            </a:pPr>
            <a:r>
              <a:rPr sz="1100" b="1" i="0">
                <a:solidFill>
                  <a:srgbClr val="34D399"/>
                </a:solidFill>
                <a:latin typeface="Inter" pitchFamily="34" charset="0"/>
                <a:cs typeface="Inter" pitchFamily="34" charset="0"/>
              </a:rPr>
              <a:t>LA QUESTION QU'ON VA NOUS POSER</a:t>
            </a:r>
          </a:p>
        </p:txBody>
      </p:sp>
      <p:sp>
        <p:nvSpPr>
          <p:cNvPr id="8" name="TextBox 7"/>
          <p:cNvSpPr txBox="1"/>
          <p:nvPr/>
        </p:nvSpPr>
        <p:spPr>
          <a:xfrm>
            <a:off x="713232" y="932688"/>
            <a:ext cx="10765231" cy="516636"/>
          </a:xfrm>
          <a:prstGeom prst="rect">
            <a:avLst/>
          </a:prstGeom>
          <a:noFill/>
        </p:spPr>
        <p:txBody>
          <a:bodyPr wrap="square" lIns="0" rIns="0" tIns="0" bIns="0" anchor="t">
            <a:spAutoFit/>
          </a:bodyPr>
          <a:lstStyle/>
          <a:p>
            <a:pPr algn="l">
              <a:lnSpc>
                <a:spcPct val="106000"/>
              </a:lnSpc>
            </a:pPr>
            <a:r>
              <a:rPr sz="3000" b="1" i="0">
                <a:solidFill>
                  <a:srgbClr val="E9F2ED"/>
                </a:solidFill>
                <a:latin typeface="Space Grotesk" pitchFamily="34" charset="0"/>
                <a:cs typeface="Space Grotesk" pitchFamily="34" charset="0"/>
              </a:rPr>
              <a:t>« Pourquoi pas simplement Dynamic World ? »</a:t>
            </a:r>
          </a:p>
        </p:txBody>
      </p:sp>
      <p:sp>
        <p:nvSpPr>
          <p:cNvPr id="9" name="Rounded Rectangle 8"/>
          <p:cNvSpPr/>
          <p:nvPr/>
        </p:nvSpPr>
        <p:spPr>
          <a:xfrm>
            <a:off x="713232" y="2212848"/>
            <a:ext cx="3405530" cy="2169566"/>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2201875"/>
            <a:ext cx="3405530" cy="45720"/>
          </a:xfrm>
          <a:prstGeom prst="rect">
            <a:avLst/>
          </a:prstGeom>
          <a:solidFill>
            <a:srgbClr val="F5B5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2505456"/>
            <a:ext cx="2930042" cy="509930"/>
          </a:xfrm>
          <a:prstGeom prst="rect">
            <a:avLst/>
          </a:prstGeom>
          <a:noFill/>
        </p:spPr>
        <p:txBody>
          <a:bodyPr wrap="square" lIns="0" rIns="0" tIns="0" bIns="0" anchor="t">
            <a:spAutoFit/>
          </a:bodyPr>
          <a:lstStyle/>
          <a:p>
            <a:pPr algn="l">
              <a:lnSpc>
                <a:spcPct val="112000"/>
              </a:lnSpc>
            </a:pPr>
            <a:r>
              <a:rPr sz="1400" b="1" i="0">
                <a:solidFill>
                  <a:srgbClr val="E9F2ED"/>
                </a:solidFill>
                <a:latin typeface="Space Grotesk" pitchFamily="34" charset="0"/>
                <a:cs typeface="Space Grotesk" pitchFamily="34" charset="0"/>
              </a:rPr>
              <a:t>Les cartes globales</a:t>
            </a:r>
          </a:p>
          <a:p>
            <a:pPr algn="l">
              <a:lnSpc>
                <a:spcPct val="112000"/>
              </a:lnSpc>
            </a:pPr>
            <a:r>
              <a:rPr sz="1400" b="1" i="0">
                <a:solidFill>
                  <a:srgbClr val="E9F2ED"/>
                </a:solidFill>
                <a:latin typeface="Space Grotesk" pitchFamily="34" charset="0"/>
                <a:cs typeface="Space Grotesk" pitchFamily="34" charset="0"/>
              </a:rPr>
              <a:t>décrochent ici</a:t>
            </a:r>
          </a:p>
        </p:txBody>
      </p:sp>
      <p:sp>
        <p:nvSpPr>
          <p:cNvPr id="12" name="TextBox 11"/>
          <p:cNvSpPr txBox="1"/>
          <p:nvPr/>
        </p:nvSpPr>
        <p:spPr>
          <a:xfrm>
            <a:off x="950976" y="3161690"/>
            <a:ext cx="2930042" cy="982980"/>
          </a:xfrm>
          <a:prstGeom prst="rect">
            <a:avLst/>
          </a:prstGeom>
          <a:noFill/>
        </p:spPr>
        <p:txBody>
          <a:bodyPr wrap="square" lIns="0" rIns="0" tIns="0" bIns="0" anchor="t">
            <a:spAutoFit/>
          </a:bodyPr>
          <a:lstStyle/>
          <a:p>
            <a:pPr algn="l">
              <a:lnSpc>
                <a:spcPct val="130000"/>
              </a:lnSpc>
            </a:pPr>
            <a:r>
              <a:rPr sz="1200" b="0" i="0">
                <a:solidFill>
                  <a:srgbClr val="93A79D"/>
                </a:solidFill>
                <a:latin typeface="Inter" pitchFamily="34" charset="0"/>
                <a:cs typeface="Inter" pitchFamily="34" charset="0"/>
              </a:rPr>
              <a:t>Petites parcelles,</a:t>
            </a:r>
          </a:p>
          <a:p>
            <a:pPr algn="l">
              <a:lnSpc>
                <a:spcPct val="130000"/>
              </a:lnSpc>
            </a:pPr>
            <a:r>
              <a:rPr sz="1200" b="0" i="0">
                <a:solidFill>
                  <a:srgbClr val="93A79D"/>
                </a:solidFill>
                <a:latin typeface="Inter" pitchFamily="34" charset="0"/>
                <a:cs typeface="Inter" pitchFamily="34" charset="0"/>
              </a:rPr>
              <a:t>cultures associées :</a:t>
            </a:r>
          </a:p>
          <a:p>
            <a:pPr algn="l">
              <a:lnSpc>
                <a:spcPct val="130000"/>
              </a:lnSpc>
            </a:pPr>
            <a:r>
              <a:rPr sz="1200" b="0" i="0">
                <a:solidFill>
                  <a:srgbClr val="93A79D"/>
                </a:solidFill>
                <a:latin typeface="Inter" pitchFamily="34" charset="0"/>
                <a:cs typeface="Inter" pitchFamily="34" charset="0"/>
              </a:rPr>
              <a:t>l'agriculture subsaharienne</a:t>
            </a:r>
          </a:p>
          <a:p>
            <a:pPr algn="l">
              <a:lnSpc>
                <a:spcPct val="130000"/>
              </a:lnSpc>
            </a:pPr>
            <a:r>
              <a:rPr sz="1200" b="0" i="0">
                <a:solidFill>
                  <a:srgbClr val="93A79D"/>
                </a:solidFill>
                <a:latin typeface="Inter" pitchFamily="34" charset="0"/>
                <a:cs typeface="Inter" pitchFamily="34" charset="0"/>
              </a:rPr>
              <a:t>y est sous-performée.</a:t>
            </a:r>
          </a:p>
        </p:txBody>
      </p:sp>
      <p:sp>
        <p:nvSpPr>
          <p:cNvPr id="13" name="Rounded Rectangle 12"/>
          <p:cNvSpPr/>
          <p:nvPr/>
        </p:nvSpPr>
        <p:spPr>
          <a:xfrm>
            <a:off x="4393082" y="2212848"/>
            <a:ext cx="3405530" cy="1931822"/>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3082" y="2201875"/>
            <a:ext cx="3405530" cy="457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30826" y="2505456"/>
            <a:ext cx="2930042" cy="509930"/>
          </a:xfrm>
          <a:prstGeom prst="rect">
            <a:avLst/>
          </a:prstGeom>
          <a:noFill/>
        </p:spPr>
        <p:txBody>
          <a:bodyPr wrap="square" lIns="0" rIns="0" tIns="0" bIns="0" anchor="t">
            <a:spAutoFit/>
          </a:bodyPr>
          <a:lstStyle/>
          <a:p>
            <a:pPr algn="l">
              <a:lnSpc>
                <a:spcPct val="112000"/>
              </a:lnSpc>
            </a:pPr>
            <a:r>
              <a:rPr sz="1400" b="1" i="0">
                <a:solidFill>
                  <a:srgbClr val="E9F2ED"/>
                </a:solidFill>
                <a:latin typeface="Space Grotesk" pitchFamily="34" charset="0"/>
                <a:cs typeface="Space Grotesk" pitchFamily="34" charset="0"/>
              </a:rPr>
              <a:t>On s'en sert,</a:t>
            </a:r>
          </a:p>
          <a:p>
            <a:pPr algn="l">
              <a:lnSpc>
                <a:spcPct val="112000"/>
              </a:lnSpc>
            </a:pPr>
            <a:r>
              <a:rPr sz="1400" b="1" i="0">
                <a:solidFill>
                  <a:srgbClr val="E9F2ED"/>
                </a:solidFill>
                <a:latin typeface="Space Grotesk" pitchFamily="34" charset="0"/>
                <a:cs typeface="Space Grotesk" pitchFamily="34" charset="0"/>
              </a:rPr>
              <a:t>comme a priori</a:t>
            </a:r>
          </a:p>
        </p:txBody>
      </p:sp>
      <p:sp>
        <p:nvSpPr>
          <p:cNvPr id="16" name="TextBox 15"/>
          <p:cNvSpPr txBox="1"/>
          <p:nvPr/>
        </p:nvSpPr>
        <p:spPr>
          <a:xfrm>
            <a:off x="4630826" y="3161690"/>
            <a:ext cx="2930042" cy="745236"/>
          </a:xfrm>
          <a:prstGeom prst="rect">
            <a:avLst/>
          </a:prstGeom>
          <a:noFill/>
        </p:spPr>
        <p:txBody>
          <a:bodyPr wrap="square" lIns="0" rIns="0" tIns="0" bIns="0" anchor="t">
            <a:spAutoFit/>
          </a:bodyPr>
          <a:lstStyle/>
          <a:p>
            <a:pPr algn="l">
              <a:lnSpc>
                <a:spcPct val="130000"/>
              </a:lnSpc>
            </a:pPr>
            <a:r>
              <a:rPr sz="1200" b="0" i="0">
                <a:solidFill>
                  <a:srgbClr val="93A79D"/>
                </a:solidFill>
                <a:latin typeface="Inter" pitchFamily="34" charset="0"/>
                <a:cs typeface="Inter" pitchFamily="34" charset="0"/>
              </a:rPr>
              <a:t>Dynamic World en entrée,</a:t>
            </a:r>
          </a:p>
          <a:p>
            <a:pPr algn="l">
              <a:lnSpc>
                <a:spcPct val="130000"/>
              </a:lnSpc>
            </a:pPr>
            <a:r>
              <a:rPr sz="1200" b="0" i="0">
                <a:solidFill>
                  <a:srgbClr val="93A79D"/>
                </a:solidFill>
                <a:latin typeface="Inter" pitchFamily="34" charset="0"/>
                <a:cs typeface="Inter" pitchFamily="34" charset="0"/>
              </a:rPr>
              <a:t>adaptation locale,</a:t>
            </a:r>
          </a:p>
          <a:p>
            <a:pPr algn="l">
              <a:lnSpc>
                <a:spcPct val="130000"/>
              </a:lnSpc>
            </a:pPr>
            <a:r>
              <a:rPr sz="1200" b="0" i="0">
                <a:solidFill>
                  <a:srgbClr val="93A79D"/>
                </a:solidFill>
                <a:latin typeface="Inter" pitchFamily="34" charset="0"/>
                <a:cs typeface="Inter" pitchFamily="34" charset="0"/>
              </a:rPr>
              <a:t>écart mesuré.</a:t>
            </a:r>
          </a:p>
        </p:txBody>
      </p:sp>
      <p:sp>
        <p:nvSpPr>
          <p:cNvPr id="17" name="Rounded Rectangle 16"/>
          <p:cNvSpPr/>
          <p:nvPr/>
        </p:nvSpPr>
        <p:spPr>
          <a:xfrm>
            <a:off x="8072932" y="2212848"/>
            <a:ext cx="3405530" cy="1931822"/>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2201875"/>
            <a:ext cx="3405530" cy="45720"/>
          </a:xfrm>
          <a:prstGeom prst="rect">
            <a:avLst/>
          </a:prstGeom>
          <a:solidFill>
            <a:srgbClr val="D9B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0676" y="2505456"/>
            <a:ext cx="2930042" cy="509930"/>
          </a:xfrm>
          <a:prstGeom prst="rect">
            <a:avLst/>
          </a:prstGeom>
          <a:noFill/>
        </p:spPr>
        <p:txBody>
          <a:bodyPr wrap="square" lIns="0" rIns="0" tIns="0" bIns="0" anchor="t">
            <a:spAutoFit/>
          </a:bodyPr>
          <a:lstStyle/>
          <a:p>
            <a:pPr algn="l">
              <a:lnSpc>
                <a:spcPct val="112000"/>
              </a:lnSpc>
            </a:pPr>
            <a:r>
              <a:rPr sz="1400" b="1" i="0">
                <a:solidFill>
                  <a:srgbClr val="E9F2ED"/>
                </a:solidFill>
                <a:latin typeface="Space Grotesk" pitchFamily="34" charset="0"/>
                <a:cs typeface="Space Grotesk" pitchFamily="34" charset="0"/>
              </a:rPr>
              <a:t>Notre apport</a:t>
            </a:r>
          </a:p>
          <a:p>
            <a:pPr algn="l">
              <a:lnSpc>
                <a:spcPct val="112000"/>
              </a:lnSpc>
            </a:pPr>
            <a:r>
              <a:rPr sz="1400" b="1" i="0">
                <a:solidFill>
                  <a:srgbClr val="E9F2ED"/>
                </a:solidFill>
                <a:latin typeface="Space Grotesk" pitchFamily="34" charset="0"/>
                <a:cs typeface="Space Grotesk" pitchFamily="34" charset="0"/>
              </a:rPr>
              <a:t>est ailleurs</a:t>
            </a:r>
          </a:p>
        </p:txBody>
      </p:sp>
      <p:sp>
        <p:nvSpPr>
          <p:cNvPr id="20" name="TextBox 19"/>
          <p:cNvSpPr txBox="1"/>
          <p:nvPr/>
        </p:nvSpPr>
        <p:spPr>
          <a:xfrm>
            <a:off x="8310676" y="3161690"/>
            <a:ext cx="2930042" cy="745236"/>
          </a:xfrm>
          <a:prstGeom prst="rect">
            <a:avLst/>
          </a:prstGeom>
          <a:noFill/>
        </p:spPr>
        <p:txBody>
          <a:bodyPr wrap="square" lIns="0" rIns="0" tIns="0" bIns="0" anchor="t">
            <a:spAutoFit/>
          </a:bodyPr>
          <a:lstStyle/>
          <a:p>
            <a:pPr algn="l">
              <a:lnSpc>
                <a:spcPct val="130000"/>
              </a:lnSpc>
            </a:pPr>
            <a:r>
              <a:rPr sz="1200" b="0" i="0">
                <a:solidFill>
                  <a:srgbClr val="93A79D"/>
                </a:solidFill>
                <a:latin typeface="Inter" pitchFamily="34" charset="0"/>
                <a:cs typeface="Inter" pitchFamily="34" charset="0"/>
              </a:rPr>
              <a:t>Pas le classifieur :</a:t>
            </a:r>
          </a:p>
          <a:p>
            <a:pPr algn="l">
              <a:lnSpc>
                <a:spcPct val="130000"/>
              </a:lnSpc>
            </a:pPr>
            <a:r>
              <a:rPr sz="1200" b="0" i="0">
                <a:solidFill>
                  <a:srgbClr val="93A79D"/>
                </a:solidFill>
                <a:latin typeface="Inter" pitchFamily="34" charset="0"/>
                <a:cs typeface="Inter" pitchFamily="34" charset="0"/>
              </a:rPr>
              <a:t>le croisement avec</a:t>
            </a:r>
          </a:p>
          <a:p>
            <a:pPr algn="l">
              <a:lnSpc>
                <a:spcPct val="130000"/>
              </a:lnSpc>
            </a:pPr>
            <a:r>
              <a:rPr sz="1200" b="0" i="0">
                <a:solidFill>
                  <a:srgbClr val="93A79D"/>
                </a:solidFill>
                <a:latin typeface="Inter" pitchFamily="34" charset="0"/>
                <a:cs typeface="Inter" pitchFamily="34" charset="0"/>
              </a:rPr>
              <a:t>l'emprise du couloir.</a:t>
            </a:r>
          </a:p>
        </p:txBody>
      </p:sp>
      <p:sp>
        <p:nvSpPr>
          <p:cNvPr id="21" name="Rounded Rectangle 20"/>
          <p:cNvSpPr/>
          <p:nvPr/>
        </p:nvSpPr>
        <p:spPr>
          <a:xfrm>
            <a:off x="713232" y="4572000"/>
            <a:ext cx="10765231" cy="1225296"/>
          </a:xfrm>
          <a:prstGeom prst="roundRect">
            <a:avLst>
              <a:gd name="adj" fmla="val 10000"/>
            </a:avLst>
          </a:prstGeom>
          <a:solidFill>
            <a:srgbClr val="11201A"/>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42416" y="4809744"/>
            <a:ext cx="10106863" cy="822960"/>
          </a:xfrm>
          <a:prstGeom prst="rect">
            <a:avLst/>
          </a:prstGeom>
          <a:noFill/>
        </p:spPr>
        <p:txBody>
          <a:bodyPr wrap="square" lIns="0" rIns="0" tIns="0" bIns="0" anchor="t">
            <a:spAutoFit/>
          </a:bodyPr>
          <a:lstStyle/>
          <a:p>
            <a:pPr algn="l">
              <a:lnSpc>
                <a:spcPct val="125000"/>
              </a:lnSpc>
            </a:pPr>
            <a:r>
              <a:rPr sz="1900" b="1" i="0">
                <a:solidFill>
                  <a:srgbClr val="E9F2ED"/>
                </a:solidFill>
                <a:latin typeface="Space Grotesk" pitchFamily="34" charset="0"/>
                <a:cs typeface="Space Grotesk" pitchFamily="34" charset="0"/>
              </a:rPr>
              <a:t>Notre contribution n'est pas le classifieur.</a:t>
            </a:r>
          </a:p>
          <a:p>
            <a:pPr algn="l">
              <a:lnSpc>
                <a:spcPct val="125000"/>
              </a:lnSpc>
            </a:pPr>
            <a:r>
              <a:rPr sz="1900" b="1" i="0">
                <a:solidFill>
                  <a:srgbClr val="E9F2ED"/>
                </a:solidFill>
                <a:latin typeface="Space Grotesk" pitchFamily="34" charset="0"/>
                <a:cs typeface="Space Grotesk" pitchFamily="34" charset="0"/>
              </a:rPr>
              <a:t>C'est le produit de décision remis au comité communal.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6272784"/>
            <a:ext cx="10765231" cy="10972"/>
          </a:xfrm>
          <a:prstGeom prst="rect">
            <a:avLst/>
          </a:prstGeom>
          <a:solidFill>
            <a:srgbClr val="1E2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6400800"/>
            <a:ext cx="5486400" cy="237744"/>
          </a:xfrm>
          <a:prstGeom prst="rect">
            <a:avLst/>
          </a:prstGeom>
          <a:noFill/>
        </p:spPr>
        <p:txBody>
          <a:bodyPr wrap="square" lIns="0" rIns="0" tIns="0" bIns="0" anchor="t">
            <a:spAutoFit/>
          </a:bodyPr>
          <a:lstStyle/>
          <a:p>
            <a:pPr algn="l">
              <a:lnSpc>
                <a:spcPct val="118000"/>
              </a:lnSpc>
            </a:pPr>
            <a:r>
              <a:rPr sz="900" b="0" i="0">
                <a:solidFill>
                  <a:srgbClr val="93A79D"/>
                </a:solidFill>
                <a:latin typeface="Inter" pitchFamily="34" charset="0"/>
                <a:cs typeface="Inter" pitchFamily="34" charset="0"/>
              </a:rPr>
              <a:t>Terra Sentinelle · IndabaX Bénin 2026</a:t>
            </a:r>
          </a:p>
        </p:txBody>
      </p:sp>
      <p:sp>
        <p:nvSpPr>
          <p:cNvPr id="5" name="TextBox 4"/>
          <p:cNvSpPr txBox="1"/>
          <p:nvPr/>
        </p:nvSpPr>
        <p:spPr>
          <a:xfrm>
            <a:off x="10381183" y="6400800"/>
            <a:ext cx="1097280" cy="237744"/>
          </a:xfrm>
          <a:prstGeom prst="rect">
            <a:avLst/>
          </a:prstGeom>
          <a:noFill/>
        </p:spPr>
        <p:txBody>
          <a:bodyPr wrap="square" lIns="0" rIns="0" tIns="0" bIns="0" anchor="t">
            <a:spAutoFit/>
          </a:bodyPr>
          <a:lstStyle/>
          <a:p>
            <a:pPr algn="r">
              <a:lnSpc>
                <a:spcPct val="118000"/>
              </a:lnSpc>
            </a:pPr>
            <a:r>
              <a:rPr sz="900" b="0" i="0">
                <a:solidFill>
                  <a:srgbClr val="93A79D"/>
                </a:solidFill>
                <a:latin typeface="JetBrains Mono" pitchFamily="34" charset="0"/>
                <a:cs typeface="JetBrains Mono" pitchFamily="34" charset="0"/>
              </a:rPr>
              <a:t>10 / 14</a:t>
            </a:r>
          </a:p>
        </p:txBody>
      </p:sp>
      <p:sp>
        <p:nvSpPr>
          <p:cNvPr id="6" name="Rectangle 5"/>
          <p:cNvSpPr/>
          <p:nvPr/>
        </p:nvSpPr>
        <p:spPr>
          <a:xfrm>
            <a:off x="713232" y="608076"/>
            <a:ext cx="50292" cy="15544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66928"/>
            <a:ext cx="8686800" cy="256032"/>
          </a:xfrm>
          <a:prstGeom prst="rect">
            <a:avLst/>
          </a:prstGeom>
          <a:noFill/>
        </p:spPr>
        <p:txBody>
          <a:bodyPr wrap="square" lIns="0" rIns="0" tIns="0" bIns="0" anchor="t">
            <a:spAutoFit/>
          </a:bodyPr>
          <a:lstStyle/>
          <a:p>
            <a:pPr algn="l">
              <a:lnSpc>
                <a:spcPct val="100000"/>
              </a:lnSpc>
            </a:pPr>
            <a:r>
              <a:rPr sz="1100" b="1" i="0">
                <a:solidFill>
                  <a:srgbClr val="34D399"/>
                </a:solidFill>
                <a:latin typeface="Inter" pitchFamily="34" charset="0"/>
                <a:cs typeface="Inter" pitchFamily="34" charset="0"/>
              </a:rPr>
              <a:t>LES DONNÉES</a:t>
            </a:r>
          </a:p>
        </p:txBody>
      </p:sp>
      <p:sp>
        <p:nvSpPr>
          <p:cNvPr id="8" name="TextBox 7"/>
          <p:cNvSpPr txBox="1"/>
          <p:nvPr/>
        </p:nvSpPr>
        <p:spPr>
          <a:xfrm>
            <a:off x="713232" y="932688"/>
            <a:ext cx="10765231" cy="516636"/>
          </a:xfrm>
          <a:prstGeom prst="rect">
            <a:avLst/>
          </a:prstGeom>
          <a:noFill/>
        </p:spPr>
        <p:txBody>
          <a:bodyPr wrap="square" lIns="0" rIns="0" tIns="0" bIns="0" anchor="t">
            <a:spAutoFit/>
          </a:bodyPr>
          <a:lstStyle/>
          <a:p>
            <a:pPr algn="l">
              <a:lnSpc>
                <a:spcPct val="106000"/>
              </a:lnSpc>
            </a:pPr>
            <a:r>
              <a:rPr sz="3000" b="1" i="0">
                <a:solidFill>
                  <a:srgbClr val="E9F2ED"/>
                </a:solidFill>
                <a:latin typeface="Space Grotesk" pitchFamily="34" charset="0"/>
                <a:cs typeface="Space Grotesk" pitchFamily="34" charset="0"/>
              </a:rPr>
              <a:t>Ce que nous utilisons — et ce qui manque.</a:t>
            </a:r>
          </a:p>
        </p:txBody>
      </p:sp>
      <p:sp>
        <p:nvSpPr>
          <p:cNvPr id="9" name="Rounded Rectangle 8"/>
          <p:cNvSpPr/>
          <p:nvPr/>
        </p:nvSpPr>
        <p:spPr>
          <a:xfrm>
            <a:off x="713232" y="2267712"/>
            <a:ext cx="6446520" cy="3310128"/>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2256739"/>
            <a:ext cx="6446520" cy="457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523744"/>
            <a:ext cx="5861304" cy="274320"/>
          </a:xfrm>
          <a:prstGeom prst="rect">
            <a:avLst/>
          </a:prstGeom>
          <a:noFill/>
        </p:spPr>
        <p:txBody>
          <a:bodyPr wrap="square" lIns="0" rIns="0" tIns="0" bIns="0" anchor="t">
            <a:spAutoFit/>
          </a:bodyPr>
          <a:lstStyle/>
          <a:p>
            <a:pPr algn="l">
              <a:lnSpc>
                <a:spcPct val="118000"/>
              </a:lnSpc>
            </a:pPr>
            <a:r>
              <a:rPr sz="1100" b="1" i="0">
                <a:solidFill>
                  <a:srgbClr val="34D399"/>
                </a:solidFill>
                <a:latin typeface="Inter" pitchFamily="34" charset="0"/>
                <a:cs typeface="Inter" pitchFamily="34" charset="0"/>
              </a:rPr>
              <a:t>LIBRE, OUVERT, UTILISÉ</a:t>
            </a:r>
          </a:p>
        </p:txBody>
      </p:sp>
      <p:sp>
        <p:nvSpPr>
          <p:cNvPr id="12" name="Oval 11"/>
          <p:cNvSpPr/>
          <p:nvPr/>
        </p:nvSpPr>
        <p:spPr>
          <a:xfrm>
            <a:off x="1024128" y="3017520"/>
            <a:ext cx="82296" cy="82296"/>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61872" y="2926080"/>
            <a:ext cx="2697480" cy="292608"/>
          </a:xfrm>
          <a:prstGeom prst="rect">
            <a:avLst/>
          </a:prstGeom>
          <a:noFill/>
        </p:spPr>
        <p:txBody>
          <a:bodyPr wrap="square" lIns="0" rIns="0" tIns="0" bIns="0" anchor="t">
            <a:spAutoFit/>
          </a:bodyPr>
          <a:lstStyle/>
          <a:p>
            <a:pPr algn="l">
              <a:lnSpc>
                <a:spcPct val="118000"/>
              </a:lnSpc>
            </a:pPr>
            <a:r>
              <a:rPr sz="1250" b="0" i="0">
                <a:solidFill>
                  <a:srgbClr val="E9F2ED"/>
                </a:solidFill>
                <a:latin typeface="Inter" pitchFamily="34" charset="0"/>
                <a:cs typeface="Inter" pitchFamily="34" charset="0"/>
              </a:rPr>
              <a:t>Sentinel-2</a:t>
            </a:r>
          </a:p>
        </p:txBody>
      </p:sp>
      <p:sp>
        <p:nvSpPr>
          <p:cNvPr id="14" name="TextBox 13"/>
          <p:cNvSpPr txBox="1"/>
          <p:nvPr/>
        </p:nvSpPr>
        <p:spPr>
          <a:xfrm>
            <a:off x="4023360" y="2926080"/>
            <a:ext cx="2843784" cy="292608"/>
          </a:xfrm>
          <a:prstGeom prst="rect">
            <a:avLst/>
          </a:prstGeom>
          <a:noFill/>
        </p:spPr>
        <p:txBody>
          <a:bodyPr wrap="square" lIns="0" rIns="0" tIns="0" bIns="0" anchor="t">
            <a:spAutoFit/>
          </a:bodyPr>
          <a:lstStyle/>
          <a:p>
            <a:pPr algn="l">
              <a:lnSpc>
                <a:spcPct val="118000"/>
              </a:lnSpc>
            </a:pPr>
            <a:r>
              <a:rPr sz="1150" b="0" i="0">
                <a:solidFill>
                  <a:srgbClr val="93A79D"/>
                </a:solidFill>
                <a:latin typeface="Inter" pitchFamily="34" charset="0"/>
                <a:cs typeface="Inter" pitchFamily="34" charset="0"/>
              </a:rPr>
              <a:t>optique 10 m · Copernicus</a:t>
            </a:r>
          </a:p>
        </p:txBody>
      </p:sp>
      <p:sp>
        <p:nvSpPr>
          <p:cNvPr id="15" name="Oval 14"/>
          <p:cNvSpPr/>
          <p:nvPr/>
        </p:nvSpPr>
        <p:spPr>
          <a:xfrm>
            <a:off x="1024128" y="3383280"/>
            <a:ext cx="82296" cy="82296"/>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61872" y="3291840"/>
            <a:ext cx="2697480" cy="292608"/>
          </a:xfrm>
          <a:prstGeom prst="rect">
            <a:avLst/>
          </a:prstGeom>
          <a:noFill/>
        </p:spPr>
        <p:txBody>
          <a:bodyPr wrap="square" lIns="0" rIns="0" tIns="0" bIns="0" anchor="t">
            <a:spAutoFit/>
          </a:bodyPr>
          <a:lstStyle/>
          <a:p>
            <a:pPr algn="l">
              <a:lnSpc>
                <a:spcPct val="118000"/>
              </a:lnSpc>
            </a:pPr>
            <a:r>
              <a:rPr sz="1250" b="0" i="0">
                <a:solidFill>
                  <a:srgbClr val="E9F2ED"/>
                </a:solidFill>
                <a:latin typeface="Inter" pitchFamily="34" charset="0"/>
                <a:cs typeface="Inter" pitchFamily="34" charset="0"/>
              </a:rPr>
              <a:t>Sentinel-1</a:t>
            </a:r>
          </a:p>
        </p:txBody>
      </p:sp>
      <p:sp>
        <p:nvSpPr>
          <p:cNvPr id="17" name="TextBox 16"/>
          <p:cNvSpPr txBox="1"/>
          <p:nvPr/>
        </p:nvSpPr>
        <p:spPr>
          <a:xfrm>
            <a:off x="4023360" y="3291840"/>
            <a:ext cx="2843784" cy="292608"/>
          </a:xfrm>
          <a:prstGeom prst="rect">
            <a:avLst/>
          </a:prstGeom>
          <a:noFill/>
        </p:spPr>
        <p:txBody>
          <a:bodyPr wrap="square" lIns="0" rIns="0" tIns="0" bIns="0" anchor="t">
            <a:spAutoFit/>
          </a:bodyPr>
          <a:lstStyle/>
          <a:p>
            <a:pPr algn="l">
              <a:lnSpc>
                <a:spcPct val="118000"/>
              </a:lnSpc>
            </a:pPr>
            <a:r>
              <a:rPr sz="1150" b="0" i="0">
                <a:solidFill>
                  <a:srgbClr val="93A79D"/>
                </a:solidFill>
                <a:latin typeface="Inter" pitchFamily="34" charset="0"/>
                <a:cs typeface="Inter" pitchFamily="34" charset="0"/>
              </a:rPr>
              <a:t>radar · traverse les nuages</a:t>
            </a:r>
          </a:p>
        </p:txBody>
      </p:sp>
      <p:sp>
        <p:nvSpPr>
          <p:cNvPr id="18" name="Oval 17"/>
          <p:cNvSpPr/>
          <p:nvPr/>
        </p:nvSpPr>
        <p:spPr>
          <a:xfrm>
            <a:off x="1024128" y="3749039"/>
            <a:ext cx="82296" cy="82296"/>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61872" y="3657600"/>
            <a:ext cx="2697480" cy="292608"/>
          </a:xfrm>
          <a:prstGeom prst="rect">
            <a:avLst/>
          </a:prstGeom>
          <a:noFill/>
        </p:spPr>
        <p:txBody>
          <a:bodyPr wrap="square" lIns="0" rIns="0" tIns="0" bIns="0" anchor="t">
            <a:spAutoFit/>
          </a:bodyPr>
          <a:lstStyle/>
          <a:p>
            <a:pPr algn="l">
              <a:lnSpc>
                <a:spcPct val="118000"/>
              </a:lnSpc>
            </a:pPr>
            <a:r>
              <a:rPr sz="1250" b="0" i="0">
                <a:solidFill>
                  <a:srgbClr val="E9F2ED"/>
                </a:solidFill>
                <a:latin typeface="Inter" pitchFamily="34" charset="0"/>
                <a:cs typeface="Inter" pitchFamily="34" charset="0"/>
              </a:rPr>
              <a:t>Dynamic World V1</a:t>
            </a:r>
          </a:p>
        </p:txBody>
      </p:sp>
      <p:sp>
        <p:nvSpPr>
          <p:cNvPr id="20" name="TextBox 19"/>
          <p:cNvSpPr txBox="1"/>
          <p:nvPr/>
        </p:nvSpPr>
        <p:spPr>
          <a:xfrm>
            <a:off x="4023360" y="3657600"/>
            <a:ext cx="2843784" cy="292608"/>
          </a:xfrm>
          <a:prstGeom prst="rect">
            <a:avLst/>
          </a:prstGeom>
          <a:noFill/>
        </p:spPr>
        <p:txBody>
          <a:bodyPr wrap="square" lIns="0" rIns="0" tIns="0" bIns="0" anchor="t">
            <a:spAutoFit/>
          </a:bodyPr>
          <a:lstStyle/>
          <a:p>
            <a:pPr algn="l">
              <a:lnSpc>
                <a:spcPct val="118000"/>
              </a:lnSpc>
            </a:pPr>
            <a:r>
              <a:rPr sz="1150" b="0" i="0">
                <a:solidFill>
                  <a:srgbClr val="93A79D"/>
                </a:solidFill>
                <a:latin typeface="Inter" pitchFamily="34" charset="0"/>
                <a:cs typeface="Inter" pitchFamily="34" charset="0"/>
              </a:rPr>
              <a:t>occupation du sol quasi temps réel</a:t>
            </a:r>
          </a:p>
        </p:txBody>
      </p:sp>
      <p:sp>
        <p:nvSpPr>
          <p:cNvPr id="21" name="Oval 20"/>
          <p:cNvSpPr/>
          <p:nvPr/>
        </p:nvSpPr>
        <p:spPr>
          <a:xfrm>
            <a:off x="1024128" y="4114800"/>
            <a:ext cx="82296" cy="82296"/>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61872" y="4023360"/>
            <a:ext cx="2697480" cy="292608"/>
          </a:xfrm>
          <a:prstGeom prst="rect">
            <a:avLst/>
          </a:prstGeom>
          <a:noFill/>
        </p:spPr>
        <p:txBody>
          <a:bodyPr wrap="square" lIns="0" rIns="0" tIns="0" bIns="0" anchor="t">
            <a:spAutoFit/>
          </a:bodyPr>
          <a:lstStyle/>
          <a:p>
            <a:pPr algn="l">
              <a:lnSpc>
                <a:spcPct val="118000"/>
              </a:lnSpc>
            </a:pPr>
            <a:r>
              <a:rPr sz="1250" b="0" i="0">
                <a:solidFill>
                  <a:srgbClr val="E9F2ED"/>
                </a:solidFill>
                <a:latin typeface="Inter" pitchFamily="34" charset="0"/>
                <a:cs typeface="Inter" pitchFamily="34" charset="0"/>
              </a:rPr>
              <a:t>ESA WorldCover v200</a:t>
            </a:r>
          </a:p>
        </p:txBody>
      </p:sp>
      <p:sp>
        <p:nvSpPr>
          <p:cNvPr id="23" name="TextBox 22"/>
          <p:cNvSpPr txBox="1"/>
          <p:nvPr/>
        </p:nvSpPr>
        <p:spPr>
          <a:xfrm>
            <a:off x="4023360" y="4023360"/>
            <a:ext cx="2843784" cy="292608"/>
          </a:xfrm>
          <a:prstGeom prst="rect">
            <a:avLst/>
          </a:prstGeom>
          <a:noFill/>
        </p:spPr>
        <p:txBody>
          <a:bodyPr wrap="square" lIns="0" rIns="0" tIns="0" bIns="0" anchor="t">
            <a:spAutoFit/>
          </a:bodyPr>
          <a:lstStyle/>
          <a:p>
            <a:pPr algn="l">
              <a:lnSpc>
                <a:spcPct val="118000"/>
              </a:lnSpc>
            </a:pPr>
            <a:r>
              <a:rPr sz="1150" b="0" i="0">
                <a:solidFill>
                  <a:srgbClr val="93A79D"/>
                </a:solidFill>
                <a:latin typeface="Inter" pitchFamily="34" charset="0"/>
                <a:cs typeface="Inter" pitchFamily="34" charset="0"/>
              </a:rPr>
              <a:t>10 m · 11 classes dont cropland</a:t>
            </a:r>
          </a:p>
        </p:txBody>
      </p:sp>
      <p:sp>
        <p:nvSpPr>
          <p:cNvPr id="24" name="Oval 23"/>
          <p:cNvSpPr/>
          <p:nvPr/>
        </p:nvSpPr>
        <p:spPr>
          <a:xfrm>
            <a:off x="1024128" y="4480560"/>
            <a:ext cx="82296" cy="82296"/>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61872" y="4389120"/>
            <a:ext cx="2697480" cy="292608"/>
          </a:xfrm>
          <a:prstGeom prst="rect">
            <a:avLst/>
          </a:prstGeom>
          <a:noFill/>
        </p:spPr>
        <p:txBody>
          <a:bodyPr wrap="square" lIns="0" rIns="0" tIns="0" bIns="0" anchor="t">
            <a:spAutoFit/>
          </a:bodyPr>
          <a:lstStyle/>
          <a:p>
            <a:pPr algn="l">
              <a:lnSpc>
                <a:spcPct val="118000"/>
              </a:lnSpc>
            </a:pPr>
            <a:r>
              <a:rPr sz="1250" b="0" i="0">
                <a:solidFill>
                  <a:srgbClr val="E9F2ED"/>
                </a:solidFill>
                <a:latin typeface="Inter" pitchFamily="34" charset="0"/>
                <a:cs typeface="Inter" pitchFamily="34" charset="0"/>
              </a:rPr>
              <a:t>OpenStreetMap Bénin</a:t>
            </a:r>
          </a:p>
        </p:txBody>
      </p:sp>
      <p:sp>
        <p:nvSpPr>
          <p:cNvPr id="26" name="TextBox 25"/>
          <p:cNvSpPr txBox="1"/>
          <p:nvPr/>
        </p:nvSpPr>
        <p:spPr>
          <a:xfrm>
            <a:off x="4023360" y="4389120"/>
            <a:ext cx="2843784" cy="292608"/>
          </a:xfrm>
          <a:prstGeom prst="rect">
            <a:avLst/>
          </a:prstGeom>
          <a:noFill/>
        </p:spPr>
        <p:txBody>
          <a:bodyPr wrap="square" lIns="0" rIns="0" tIns="0" bIns="0" anchor="t">
            <a:spAutoFit/>
          </a:bodyPr>
          <a:lstStyle/>
          <a:p>
            <a:pPr algn="l">
              <a:lnSpc>
                <a:spcPct val="118000"/>
              </a:lnSpc>
            </a:pPr>
            <a:r>
              <a:rPr sz="1150" b="0" i="0">
                <a:solidFill>
                  <a:srgbClr val="93A79D"/>
                </a:solidFill>
                <a:latin typeface="Inter" pitchFamily="34" charset="0"/>
                <a:cs typeface="Inter" pitchFamily="34" charset="0"/>
              </a:rPr>
              <a:t>Geofabrik</a:t>
            </a:r>
          </a:p>
        </p:txBody>
      </p:sp>
      <p:sp>
        <p:nvSpPr>
          <p:cNvPr id="27" name="Oval 26"/>
          <p:cNvSpPr/>
          <p:nvPr/>
        </p:nvSpPr>
        <p:spPr>
          <a:xfrm>
            <a:off x="1024128" y="4846320"/>
            <a:ext cx="82296" cy="82296"/>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61872" y="4754880"/>
            <a:ext cx="2697480" cy="292608"/>
          </a:xfrm>
          <a:prstGeom prst="rect">
            <a:avLst/>
          </a:prstGeom>
          <a:noFill/>
        </p:spPr>
        <p:txBody>
          <a:bodyPr wrap="square" lIns="0" rIns="0" tIns="0" bIns="0" anchor="t">
            <a:spAutoFit/>
          </a:bodyPr>
          <a:lstStyle/>
          <a:p>
            <a:pPr algn="l">
              <a:lnSpc>
                <a:spcPct val="118000"/>
              </a:lnSpc>
            </a:pPr>
            <a:r>
              <a:rPr sz="1250" b="0" i="0">
                <a:solidFill>
                  <a:srgbClr val="E9F2ED"/>
                </a:solidFill>
                <a:latin typeface="Inter" pitchFamily="34" charset="0"/>
                <a:cs typeface="Inter" pitchFamily="34" charset="0"/>
              </a:rPr>
              <a:t>Limites administratives</a:t>
            </a:r>
          </a:p>
        </p:txBody>
      </p:sp>
      <p:sp>
        <p:nvSpPr>
          <p:cNvPr id="29" name="TextBox 28"/>
          <p:cNvSpPr txBox="1"/>
          <p:nvPr/>
        </p:nvSpPr>
        <p:spPr>
          <a:xfrm>
            <a:off x="4023360" y="4754880"/>
            <a:ext cx="2843784" cy="292608"/>
          </a:xfrm>
          <a:prstGeom prst="rect">
            <a:avLst/>
          </a:prstGeom>
          <a:noFill/>
        </p:spPr>
        <p:txBody>
          <a:bodyPr wrap="square" lIns="0" rIns="0" tIns="0" bIns="0" anchor="t">
            <a:spAutoFit/>
          </a:bodyPr>
          <a:lstStyle/>
          <a:p>
            <a:pPr algn="l">
              <a:lnSpc>
                <a:spcPct val="118000"/>
              </a:lnSpc>
            </a:pPr>
            <a:r>
              <a:rPr sz="1150" b="0" i="0">
                <a:solidFill>
                  <a:srgbClr val="93A79D"/>
                </a:solidFill>
                <a:latin typeface="Inter" pitchFamily="34" charset="0"/>
                <a:cs typeface="Inter" pitchFamily="34" charset="0"/>
              </a:rPr>
              <a:t>HDX</a:t>
            </a:r>
          </a:p>
        </p:txBody>
      </p:sp>
      <p:sp>
        <p:nvSpPr>
          <p:cNvPr id="30" name="Oval 29"/>
          <p:cNvSpPr/>
          <p:nvPr/>
        </p:nvSpPr>
        <p:spPr>
          <a:xfrm>
            <a:off x="1024128" y="5212080"/>
            <a:ext cx="82296" cy="82296"/>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261872" y="5120640"/>
            <a:ext cx="2697480" cy="292608"/>
          </a:xfrm>
          <a:prstGeom prst="rect">
            <a:avLst/>
          </a:prstGeom>
          <a:noFill/>
        </p:spPr>
        <p:txBody>
          <a:bodyPr wrap="square" lIns="0" rIns="0" tIns="0" bIns="0" anchor="t">
            <a:spAutoFit/>
          </a:bodyPr>
          <a:lstStyle/>
          <a:p>
            <a:pPr algn="l">
              <a:lnSpc>
                <a:spcPct val="118000"/>
              </a:lnSpc>
            </a:pPr>
            <a:r>
              <a:rPr sz="1250" b="0" i="0">
                <a:solidFill>
                  <a:srgbClr val="E9F2ED"/>
                </a:solidFill>
                <a:latin typeface="Inter" pitchFamily="34" charset="0"/>
                <a:cs typeface="Inter" pitchFamily="34" charset="0"/>
              </a:rPr>
              <a:t>OIM TTT-DTM</a:t>
            </a:r>
          </a:p>
        </p:txBody>
      </p:sp>
      <p:sp>
        <p:nvSpPr>
          <p:cNvPr id="32" name="TextBox 31"/>
          <p:cNvSpPr txBox="1"/>
          <p:nvPr/>
        </p:nvSpPr>
        <p:spPr>
          <a:xfrm>
            <a:off x="4023360" y="5120640"/>
            <a:ext cx="2843784" cy="292608"/>
          </a:xfrm>
          <a:prstGeom prst="rect">
            <a:avLst/>
          </a:prstGeom>
          <a:noFill/>
        </p:spPr>
        <p:txBody>
          <a:bodyPr wrap="square" lIns="0" rIns="0" tIns="0" bIns="0" anchor="t">
            <a:spAutoFit/>
          </a:bodyPr>
          <a:lstStyle/>
          <a:p>
            <a:pPr algn="l">
              <a:lnSpc>
                <a:spcPct val="118000"/>
              </a:lnSpc>
            </a:pPr>
            <a:r>
              <a:rPr sz="1150" b="0" i="0">
                <a:solidFill>
                  <a:srgbClr val="93A79D"/>
                </a:solidFill>
                <a:latin typeface="Inter" pitchFamily="34" charset="0"/>
                <a:cs typeface="Inter" pitchFamily="34" charset="0"/>
              </a:rPr>
              <a:t>mouvements de transhumance</a:t>
            </a:r>
          </a:p>
        </p:txBody>
      </p:sp>
      <p:sp>
        <p:nvSpPr>
          <p:cNvPr id="33" name="Rounded Rectangle 32"/>
          <p:cNvSpPr/>
          <p:nvPr/>
        </p:nvSpPr>
        <p:spPr>
          <a:xfrm>
            <a:off x="7525512" y="2267712"/>
            <a:ext cx="3952951" cy="1664208"/>
          </a:xfrm>
          <a:prstGeom prst="roundRect">
            <a:avLst>
              <a:gd name="adj" fmla="val 10000"/>
            </a:avLst>
          </a:prstGeom>
          <a:solidFill>
            <a:srgbClr val="11201A"/>
          </a:solidFill>
          <a:ln w="12700">
            <a:solidFill>
              <a:srgbClr val="F5B5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525512" y="2256739"/>
            <a:ext cx="3952951" cy="45720"/>
          </a:xfrm>
          <a:prstGeom prst="rect">
            <a:avLst/>
          </a:prstGeom>
          <a:solidFill>
            <a:srgbClr val="F5B5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818120" y="2523744"/>
            <a:ext cx="3367735" cy="274320"/>
          </a:xfrm>
          <a:prstGeom prst="rect">
            <a:avLst/>
          </a:prstGeom>
          <a:noFill/>
        </p:spPr>
        <p:txBody>
          <a:bodyPr wrap="square" lIns="0" rIns="0" tIns="0" bIns="0" anchor="t">
            <a:spAutoFit/>
          </a:bodyPr>
          <a:lstStyle/>
          <a:p>
            <a:pPr algn="l">
              <a:lnSpc>
                <a:spcPct val="118000"/>
              </a:lnSpc>
            </a:pPr>
            <a:r>
              <a:rPr sz="1100" b="1" i="0">
                <a:solidFill>
                  <a:srgbClr val="F5B544"/>
                </a:solidFill>
                <a:latin typeface="Inter" pitchFamily="34" charset="0"/>
                <a:cs typeface="Inter" pitchFamily="34" charset="0"/>
              </a:rPr>
              <a:t>CE QUI MANQUE</a:t>
            </a:r>
          </a:p>
        </p:txBody>
      </p:sp>
      <p:sp>
        <p:nvSpPr>
          <p:cNvPr id="36" name="TextBox 35"/>
          <p:cNvSpPr txBox="1"/>
          <p:nvPr/>
        </p:nvSpPr>
        <p:spPr>
          <a:xfrm>
            <a:off x="7818120" y="2889504"/>
            <a:ext cx="3367735" cy="914400"/>
          </a:xfrm>
          <a:prstGeom prst="rect">
            <a:avLst/>
          </a:prstGeom>
          <a:noFill/>
        </p:spPr>
        <p:txBody>
          <a:bodyPr wrap="square" lIns="0" rIns="0" tIns="0" bIns="0" anchor="t">
            <a:spAutoFit/>
          </a:bodyPr>
          <a:lstStyle/>
          <a:p>
            <a:pPr algn="l">
              <a:lnSpc>
                <a:spcPct val="132000"/>
              </a:lnSpc>
            </a:pPr>
            <a:r>
              <a:rPr sz="1250" b="0" i="0">
                <a:solidFill>
                  <a:srgbClr val="93A79D"/>
                </a:solidFill>
                <a:latin typeface="Inter" pitchFamily="34" charset="0"/>
                <a:cs typeface="Inter" pitchFamily="34" charset="0"/>
              </a:rPr>
              <a:t>Aucun jeu ouvert de polygones</a:t>
            </a:r>
          </a:p>
          <a:p>
            <a:pPr algn="l">
              <a:lnSpc>
                <a:spcPct val="132000"/>
              </a:lnSpc>
            </a:pPr>
            <a:r>
              <a:rPr sz="1250" b="0" i="0">
                <a:solidFill>
                  <a:srgbClr val="93A79D"/>
                </a:solidFill>
                <a:latin typeface="Inter" pitchFamily="34" charset="0"/>
                <a:cs typeface="Inter" pitchFamily="34" charset="0"/>
              </a:rPr>
              <a:t>de couloirs au Bénin.</a:t>
            </a:r>
          </a:p>
          <a:p>
            <a:pPr algn="l">
              <a:lnSpc>
                <a:spcPct val="132000"/>
              </a:lnSpc>
            </a:pPr>
            <a:r>
              <a:rPr sz="1250" b="0" i="0">
                <a:solidFill>
                  <a:srgbClr val="93A79D"/>
                </a:solidFill>
                <a:latin typeface="Inter" pitchFamily="34" charset="0"/>
                <a:cs typeface="Inter" pitchFamily="34" charset="0"/>
              </a:rPr>
              <a:t>Le PFR de l'ANDF existe, mais fermé.</a:t>
            </a:r>
          </a:p>
        </p:txBody>
      </p:sp>
      <p:sp>
        <p:nvSpPr>
          <p:cNvPr id="37" name="Rounded Rectangle 36"/>
          <p:cNvSpPr/>
          <p:nvPr/>
        </p:nvSpPr>
        <p:spPr>
          <a:xfrm>
            <a:off x="7525512" y="4133087"/>
            <a:ext cx="3952951" cy="1444752"/>
          </a:xfrm>
          <a:prstGeom prst="roundRect">
            <a:avLst>
              <a:gd name="adj" fmla="val 10000"/>
            </a:avLst>
          </a:prstGeom>
          <a:solidFill>
            <a:srgbClr val="11201A"/>
          </a:solidFill>
          <a:ln w="12700">
            <a:solidFill>
              <a:srgbClr val="D9B4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525512" y="4122115"/>
            <a:ext cx="3952951" cy="45720"/>
          </a:xfrm>
          <a:prstGeom prst="rect">
            <a:avLst/>
          </a:prstGeom>
          <a:solidFill>
            <a:srgbClr val="D9B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818120" y="4389120"/>
            <a:ext cx="3367735" cy="274320"/>
          </a:xfrm>
          <a:prstGeom prst="rect">
            <a:avLst/>
          </a:prstGeom>
          <a:noFill/>
        </p:spPr>
        <p:txBody>
          <a:bodyPr wrap="square" lIns="0" rIns="0" tIns="0" bIns="0" anchor="t">
            <a:spAutoFit/>
          </a:bodyPr>
          <a:lstStyle/>
          <a:p>
            <a:pPr algn="l">
              <a:lnSpc>
                <a:spcPct val="118000"/>
              </a:lnSpc>
            </a:pPr>
            <a:r>
              <a:rPr sz="1100" b="1" i="0">
                <a:solidFill>
                  <a:srgbClr val="D9B48F"/>
                </a:solidFill>
                <a:latin typeface="Inter" pitchFamily="34" charset="0"/>
                <a:cs typeface="Inter" pitchFamily="34" charset="0"/>
              </a:rPr>
              <a:t>CE QUE NOUS FAISONS</a:t>
            </a:r>
          </a:p>
        </p:txBody>
      </p:sp>
      <p:sp>
        <p:nvSpPr>
          <p:cNvPr id="40" name="TextBox 39"/>
          <p:cNvSpPr txBox="1"/>
          <p:nvPr/>
        </p:nvSpPr>
        <p:spPr>
          <a:xfrm>
            <a:off x="7818120" y="4754880"/>
            <a:ext cx="3367735" cy="786384"/>
          </a:xfrm>
          <a:prstGeom prst="rect">
            <a:avLst/>
          </a:prstGeom>
          <a:noFill/>
        </p:spPr>
        <p:txBody>
          <a:bodyPr wrap="square" lIns="0" rIns="0" tIns="0" bIns="0" anchor="t">
            <a:spAutoFit/>
          </a:bodyPr>
          <a:lstStyle/>
          <a:p>
            <a:pPr algn="l">
              <a:lnSpc>
                <a:spcPct val="132000"/>
              </a:lnSpc>
            </a:pPr>
            <a:r>
              <a:rPr sz="1250" b="0" i="0">
                <a:solidFill>
                  <a:srgbClr val="E9F2ED"/>
                </a:solidFill>
                <a:latin typeface="Inter" pitchFamily="34" charset="0"/>
                <a:cs typeface="Inter" pitchFamily="34" charset="0"/>
              </a:rPr>
              <a:t>L'emprise du couloir est reconstituée</a:t>
            </a:r>
          </a:p>
          <a:p>
            <a:pPr algn="l">
              <a:lnSpc>
                <a:spcPct val="132000"/>
              </a:lnSpc>
            </a:pPr>
            <a:r>
              <a:rPr sz="1250" b="0" i="0">
                <a:solidFill>
                  <a:srgbClr val="E9F2ED"/>
                </a:solidFill>
                <a:latin typeface="Inter" pitchFamily="34" charset="0"/>
                <a:cs typeface="Inter" pitchFamily="34" charset="0"/>
              </a:rPr>
              <a:t>par l'équipe. Non officielle.</a:t>
            </a:r>
          </a:p>
          <a:p>
            <a:pPr algn="l">
              <a:lnSpc>
                <a:spcPct val="132000"/>
              </a:lnSpc>
            </a:pPr>
            <a:r>
              <a:rPr sz="1250" b="0" i="0">
                <a:solidFill>
                  <a:srgbClr val="E9F2ED"/>
                </a:solidFill>
                <a:latin typeface="Inter" pitchFamily="34" charset="0"/>
                <a:cs typeface="Inter" pitchFamily="34" charset="0"/>
              </a:rPr>
              <a:t>Écrit dans l'interface.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6272784"/>
            <a:ext cx="10765231" cy="10972"/>
          </a:xfrm>
          <a:prstGeom prst="rect">
            <a:avLst/>
          </a:prstGeom>
          <a:solidFill>
            <a:srgbClr val="1E2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6400800"/>
            <a:ext cx="5486400" cy="237744"/>
          </a:xfrm>
          <a:prstGeom prst="rect">
            <a:avLst/>
          </a:prstGeom>
          <a:noFill/>
        </p:spPr>
        <p:txBody>
          <a:bodyPr wrap="square" lIns="0" rIns="0" tIns="0" bIns="0" anchor="t">
            <a:spAutoFit/>
          </a:bodyPr>
          <a:lstStyle/>
          <a:p>
            <a:pPr algn="l">
              <a:lnSpc>
                <a:spcPct val="118000"/>
              </a:lnSpc>
            </a:pPr>
            <a:r>
              <a:rPr sz="900" b="0" i="0">
                <a:solidFill>
                  <a:srgbClr val="93A79D"/>
                </a:solidFill>
                <a:latin typeface="Inter" pitchFamily="34" charset="0"/>
                <a:cs typeface="Inter" pitchFamily="34" charset="0"/>
              </a:rPr>
              <a:t>Terra Sentinelle · IndabaX Bénin 2026</a:t>
            </a:r>
          </a:p>
        </p:txBody>
      </p:sp>
      <p:sp>
        <p:nvSpPr>
          <p:cNvPr id="5" name="TextBox 4"/>
          <p:cNvSpPr txBox="1"/>
          <p:nvPr/>
        </p:nvSpPr>
        <p:spPr>
          <a:xfrm>
            <a:off x="10381183" y="6400800"/>
            <a:ext cx="1097280" cy="237744"/>
          </a:xfrm>
          <a:prstGeom prst="rect">
            <a:avLst/>
          </a:prstGeom>
          <a:noFill/>
        </p:spPr>
        <p:txBody>
          <a:bodyPr wrap="square" lIns="0" rIns="0" tIns="0" bIns="0" anchor="t">
            <a:spAutoFit/>
          </a:bodyPr>
          <a:lstStyle/>
          <a:p>
            <a:pPr algn="r">
              <a:lnSpc>
                <a:spcPct val="118000"/>
              </a:lnSpc>
            </a:pPr>
            <a:r>
              <a:rPr sz="900" b="0" i="0">
                <a:solidFill>
                  <a:srgbClr val="93A79D"/>
                </a:solidFill>
                <a:latin typeface="JetBrains Mono" pitchFamily="34" charset="0"/>
                <a:cs typeface="JetBrains Mono" pitchFamily="34" charset="0"/>
              </a:rPr>
              <a:t>11 / 14</a:t>
            </a:r>
          </a:p>
        </p:txBody>
      </p:sp>
      <p:sp>
        <p:nvSpPr>
          <p:cNvPr id="6" name="Rectangle 5"/>
          <p:cNvSpPr/>
          <p:nvPr/>
        </p:nvSpPr>
        <p:spPr>
          <a:xfrm>
            <a:off x="713232" y="608076"/>
            <a:ext cx="50292" cy="15544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66928"/>
            <a:ext cx="8686800" cy="256032"/>
          </a:xfrm>
          <a:prstGeom prst="rect">
            <a:avLst/>
          </a:prstGeom>
          <a:noFill/>
        </p:spPr>
        <p:txBody>
          <a:bodyPr wrap="square" lIns="0" rIns="0" tIns="0" bIns="0" anchor="t">
            <a:spAutoFit/>
          </a:bodyPr>
          <a:lstStyle/>
          <a:p>
            <a:pPr algn="l">
              <a:lnSpc>
                <a:spcPct val="100000"/>
              </a:lnSpc>
            </a:pPr>
            <a:r>
              <a:rPr sz="1100" b="1" i="0">
                <a:solidFill>
                  <a:srgbClr val="34D399"/>
                </a:solidFill>
                <a:latin typeface="Inter" pitchFamily="34" charset="0"/>
                <a:cs typeface="Inter" pitchFamily="34" charset="0"/>
              </a:rPr>
              <a:t>IA ET LANGUES LOCALES</a:t>
            </a:r>
          </a:p>
        </p:txBody>
      </p:sp>
      <p:sp>
        <p:nvSpPr>
          <p:cNvPr id="8" name="TextBox 7"/>
          <p:cNvSpPr txBox="1"/>
          <p:nvPr/>
        </p:nvSpPr>
        <p:spPr>
          <a:xfrm>
            <a:off x="713232" y="932688"/>
            <a:ext cx="10765231" cy="516636"/>
          </a:xfrm>
          <a:prstGeom prst="rect">
            <a:avLst/>
          </a:prstGeom>
          <a:noFill/>
        </p:spPr>
        <p:txBody>
          <a:bodyPr wrap="square" lIns="0" rIns="0" tIns="0" bIns="0" anchor="t">
            <a:spAutoFit/>
          </a:bodyPr>
          <a:lstStyle/>
          <a:p>
            <a:pPr algn="l">
              <a:lnSpc>
                <a:spcPct val="106000"/>
              </a:lnSpc>
            </a:pPr>
            <a:r>
              <a:rPr sz="3000" b="1" i="0">
                <a:solidFill>
                  <a:srgbClr val="E9F2ED"/>
                </a:solidFill>
                <a:latin typeface="Space Grotesk" pitchFamily="34" charset="0"/>
                <a:cs typeface="Space Grotesk" pitchFamily="34" charset="0"/>
              </a:rPr>
              <a:t>L'éleveur dans la boucle.</a:t>
            </a:r>
          </a:p>
        </p:txBody>
      </p:sp>
      <p:sp>
        <p:nvSpPr>
          <p:cNvPr id="9" name="TextBox 8"/>
          <p:cNvSpPr txBox="1"/>
          <p:nvPr/>
        </p:nvSpPr>
        <p:spPr>
          <a:xfrm>
            <a:off x="713232" y="1613916"/>
            <a:ext cx="10216591" cy="305104"/>
          </a:xfrm>
          <a:prstGeom prst="rect">
            <a:avLst/>
          </a:prstGeom>
          <a:noFill/>
        </p:spPr>
        <p:txBody>
          <a:bodyPr wrap="square" lIns="0" rIns="0" tIns="0" bIns="0" anchor="t">
            <a:spAutoFit/>
          </a:bodyPr>
          <a:lstStyle/>
          <a:p>
            <a:pPr algn="l">
              <a:lnSpc>
                <a:spcPct val="128000"/>
              </a:lnSpc>
            </a:pPr>
            <a:r>
              <a:rPr sz="1400" b="0" i="0">
                <a:solidFill>
                  <a:srgbClr val="93A79D"/>
                </a:solidFill>
                <a:latin typeface="Inter" pitchFamily="34" charset="0"/>
                <a:cs typeface="Inter" pitchFamily="34" charset="0"/>
              </a:rPr>
              <a:t>Une décision que son destinataire ne peut pas lire n'est pas une décision diffusée.</a:t>
            </a:r>
          </a:p>
        </p:txBody>
      </p:sp>
      <p:sp>
        <p:nvSpPr>
          <p:cNvPr id="10" name="Rounded Rectangle 9"/>
          <p:cNvSpPr/>
          <p:nvPr/>
        </p:nvSpPr>
        <p:spPr>
          <a:xfrm>
            <a:off x="713232" y="2788920"/>
            <a:ext cx="2487168" cy="1417320"/>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2777947"/>
            <a:ext cx="2487168" cy="457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063239"/>
            <a:ext cx="2048256" cy="566928"/>
          </a:xfrm>
          <a:prstGeom prst="rect">
            <a:avLst/>
          </a:prstGeom>
          <a:noFill/>
        </p:spPr>
        <p:txBody>
          <a:bodyPr wrap="square" lIns="0" rIns="0" tIns="0" bIns="0" anchor="t">
            <a:spAutoFit/>
          </a:bodyPr>
          <a:lstStyle/>
          <a:p>
            <a:pPr algn="l">
              <a:lnSpc>
                <a:spcPct val="110000"/>
              </a:lnSpc>
            </a:pPr>
            <a:r>
              <a:rPr sz="1400" b="1" i="0">
                <a:solidFill>
                  <a:srgbClr val="E9F2ED"/>
                </a:solidFill>
                <a:latin typeface="Space Grotesk" pitchFamily="34" charset="0"/>
                <a:cs typeface="Space Grotesk" pitchFamily="34" charset="0"/>
              </a:rPr>
              <a:t>Comité</a:t>
            </a:r>
          </a:p>
        </p:txBody>
      </p:sp>
      <p:sp>
        <p:nvSpPr>
          <p:cNvPr id="13" name="TextBox 12"/>
          <p:cNvSpPr txBox="1"/>
          <p:nvPr/>
        </p:nvSpPr>
        <p:spPr>
          <a:xfrm>
            <a:off x="932688" y="3666744"/>
            <a:ext cx="2048256" cy="475488"/>
          </a:xfrm>
          <a:prstGeom prst="rect">
            <a:avLst/>
          </a:prstGeom>
          <a:noFill/>
        </p:spPr>
        <p:txBody>
          <a:bodyPr wrap="square" lIns="0" rIns="0" tIns="0" bIns="0" anchor="t">
            <a:spAutoFit/>
          </a:bodyPr>
          <a:lstStyle/>
          <a:p>
            <a:pPr algn="l">
              <a:lnSpc>
                <a:spcPct val="125000"/>
              </a:lnSpc>
            </a:pPr>
            <a:r>
              <a:rPr sz="1100" b="0" i="0">
                <a:solidFill>
                  <a:srgbClr val="93A79D"/>
                </a:solidFill>
                <a:latin typeface="Inter" pitchFamily="34" charset="0"/>
                <a:cs typeface="Inter" pitchFamily="34" charset="0"/>
              </a:rPr>
              <a:t>maintien · ajustement</a:t>
            </a:r>
          </a:p>
          <a:p>
            <a:pPr algn="l">
              <a:lnSpc>
                <a:spcPct val="125000"/>
              </a:lnSpc>
            </a:pPr>
            <a:r>
              <a:rPr sz="1100" b="0" i="0">
                <a:solidFill>
                  <a:srgbClr val="93A79D"/>
                </a:solidFill>
                <a:latin typeface="Inter" pitchFamily="34" charset="0"/>
                <a:cs typeface="Inter" pitchFamily="34" charset="0"/>
              </a:rPr>
              <a:t>contournement</a:t>
            </a:r>
          </a:p>
        </p:txBody>
      </p:sp>
      <p:sp>
        <p:nvSpPr>
          <p:cNvPr id="14" name="Right Arrow 13"/>
          <p:cNvSpPr/>
          <p:nvPr/>
        </p:nvSpPr>
        <p:spPr>
          <a:xfrm>
            <a:off x="3300984" y="3447287"/>
            <a:ext cx="274320" cy="100584"/>
          </a:xfrm>
          <a:prstGeom prst="rightArrow">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675888" y="2788920"/>
            <a:ext cx="2487168" cy="1417320"/>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75888" y="2777947"/>
            <a:ext cx="2487168" cy="45720"/>
          </a:xfrm>
          <a:prstGeom prst="rect">
            <a:avLst/>
          </a:prstGeom>
          <a:solidFill>
            <a:srgbClr val="F5B5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895344" y="3063239"/>
            <a:ext cx="2048256" cy="566928"/>
          </a:xfrm>
          <a:prstGeom prst="rect">
            <a:avLst/>
          </a:prstGeom>
          <a:noFill/>
        </p:spPr>
        <p:txBody>
          <a:bodyPr wrap="square" lIns="0" rIns="0" tIns="0" bIns="0" anchor="t">
            <a:spAutoFit/>
          </a:bodyPr>
          <a:lstStyle/>
          <a:p>
            <a:pPr algn="l">
              <a:lnSpc>
                <a:spcPct val="110000"/>
              </a:lnSpc>
            </a:pPr>
            <a:r>
              <a:rPr sz="1400" b="1" i="0">
                <a:solidFill>
                  <a:srgbClr val="E9F2ED"/>
                </a:solidFill>
                <a:latin typeface="Space Grotesk" pitchFamily="34" charset="0"/>
                <a:cs typeface="Space Grotesk" pitchFamily="34" charset="0"/>
              </a:rPr>
              <a:t>Message vocal</a:t>
            </a:r>
          </a:p>
        </p:txBody>
      </p:sp>
      <p:sp>
        <p:nvSpPr>
          <p:cNvPr id="18" name="TextBox 17"/>
          <p:cNvSpPr txBox="1"/>
          <p:nvPr/>
        </p:nvSpPr>
        <p:spPr>
          <a:xfrm>
            <a:off x="3895344" y="3666744"/>
            <a:ext cx="2048256" cy="475488"/>
          </a:xfrm>
          <a:prstGeom prst="rect">
            <a:avLst/>
          </a:prstGeom>
          <a:noFill/>
        </p:spPr>
        <p:txBody>
          <a:bodyPr wrap="square" lIns="0" rIns="0" tIns="0" bIns="0" anchor="t">
            <a:spAutoFit/>
          </a:bodyPr>
          <a:lstStyle/>
          <a:p>
            <a:pPr algn="l">
              <a:lnSpc>
                <a:spcPct val="125000"/>
              </a:lnSpc>
            </a:pPr>
            <a:r>
              <a:rPr sz="1100" b="0" i="0">
                <a:solidFill>
                  <a:srgbClr val="93A79D"/>
                </a:solidFill>
                <a:latin typeface="Inter" pitchFamily="34" charset="0"/>
                <a:cs typeface="Inter" pitchFamily="34" charset="0"/>
              </a:rPr>
              <a:t>synthèse en fulfulde</a:t>
            </a:r>
          </a:p>
        </p:txBody>
      </p:sp>
      <p:sp>
        <p:nvSpPr>
          <p:cNvPr id="19" name="Right Arrow 18"/>
          <p:cNvSpPr/>
          <p:nvPr/>
        </p:nvSpPr>
        <p:spPr>
          <a:xfrm>
            <a:off x="6263640" y="3447287"/>
            <a:ext cx="274320" cy="100584"/>
          </a:xfrm>
          <a:prstGeom prst="rightArrow">
            <a:avLst/>
          </a:prstGeom>
          <a:solidFill>
            <a:srgbClr val="F5B5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638544" y="2788920"/>
            <a:ext cx="2487168" cy="1417320"/>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38544" y="2777947"/>
            <a:ext cx="2487168" cy="45720"/>
          </a:xfrm>
          <a:prstGeom prst="rect">
            <a:avLst/>
          </a:prstGeom>
          <a:solidFill>
            <a:srgbClr val="D9B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0" y="3063239"/>
            <a:ext cx="2048256" cy="566928"/>
          </a:xfrm>
          <a:prstGeom prst="rect">
            <a:avLst/>
          </a:prstGeom>
          <a:noFill/>
        </p:spPr>
        <p:txBody>
          <a:bodyPr wrap="square" lIns="0" rIns="0" tIns="0" bIns="0" anchor="t">
            <a:spAutoFit/>
          </a:bodyPr>
          <a:lstStyle/>
          <a:p>
            <a:pPr algn="l">
              <a:lnSpc>
                <a:spcPct val="110000"/>
              </a:lnSpc>
            </a:pPr>
            <a:r>
              <a:rPr sz="1400" b="1" i="0">
                <a:solidFill>
                  <a:srgbClr val="E9F2ED"/>
                </a:solidFill>
                <a:latin typeface="Space Grotesk" pitchFamily="34" charset="0"/>
                <a:cs typeface="Space Grotesk" pitchFamily="34" charset="0"/>
              </a:rPr>
              <a:t>WhatsApp / radio</a:t>
            </a:r>
          </a:p>
        </p:txBody>
      </p:sp>
      <p:sp>
        <p:nvSpPr>
          <p:cNvPr id="23" name="TextBox 22"/>
          <p:cNvSpPr txBox="1"/>
          <p:nvPr/>
        </p:nvSpPr>
        <p:spPr>
          <a:xfrm>
            <a:off x="6858000" y="3666744"/>
            <a:ext cx="2048256" cy="475488"/>
          </a:xfrm>
          <a:prstGeom prst="rect">
            <a:avLst/>
          </a:prstGeom>
          <a:noFill/>
        </p:spPr>
        <p:txBody>
          <a:bodyPr wrap="square" lIns="0" rIns="0" tIns="0" bIns="0" anchor="t">
            <a:spAutoFit/>
          </a:bodyPr>
          <a:lstStyle/>
          <a:p>
            <a:pPr algn="l">
              <a:lnSpc>
                <a:spcPct val="125000"/>
              </a:lnSpc>
            </a:pPr>
            <a:r>
              <a:rPr sz="1100" b="0" i="0">
                <a:solidFill>
                  <a:srgbClr val="93A79D"/>
                </a:solidFill>
                <a:latin typeface="Inter" pitchFamily="34" charset="0"/>
                <a:cs typeface="Inter" pitchFamily="34" charset="0"/>
              </a:rPr>
              <a:t>canaux déjà utilisés</a:t>
            </a:r>
          </a:p>
        </p:txBody>
      </p:sp>
      <p:sp>
        <p:nvSpPr>
          <p:cNvPr id="24" name="Right Arrow 23"/>
          <p:cNvSpPr/>
          <p:nvPr/>
        </p:nvSpPr>
        <p:spPr>
          <a:xfrm>
            <a:off x="9226296" y="3447287"/>
            <a:ext cx="274320" cy="100584"/>
          </a:xfrm>
          <a:prstGeom prst="rightArrow">
            <a:avLst/>
          </a:prstGeom>
          <a:solidFill>
            <a:srgbClr val="D9B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601200" y="2788920"/>
            <a:ext cx="2487168" cy="1417320"/>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601200" y="2777947"/>
            <a:ext cx="2487168" cy="457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20656" y="3063239"/>
            <a:ext cx="2048256" cy="566928"/>
          </a:xfrm>
          <a:prstGeom prst="rect">
            <a:avLst/>
          </a:prstGeom>
          <a:noFill/>
        </p:spPr>
        <p:txBody>
          <a:bodyPr wrap="square" lIns="0" rIns="0" tIns="0" bIns="0" anchor="t">
            <a:spAutoFit/>
          </a:bodyPr>
          <a:lstStyle/>
          <a:p>
            <a:pPr algn="l">
              <a:lnSpc>
                <a:spcPct val="110000"/>
              </a:lnSpc>
            </a:pPr>
            <a:r>
              <a:rPr sz="1400" b="1" i="0">
                <a:solidFill>
                  <a:srgbClr val="E9F2ED"/>
                </a:solidFill>
                <a:latin typeface="Space Grotesk" pitchFamily="34" charset="0"/>
                <a:cs typeface="Space Grotesk" pitchFamily="34" charset="0"/>
              </a:rPr>
              <a:t>Représentants</a:t>
            </a:r>
          </a:p>
          <a:p>
            <a:pPr algn="l">
              <a:lnSpc>
                <a:spcPct val="110000"/>
              </a:lnSpc>
            </a:pPr>
            <a:r>
              <a:rPr sz="1400" b="1" i="0">
                <a:solidFill>
                  <a:srgbClr val="E9F2ED"/>
                </a:solidFill>
                <a:latin typeface="Space Grotesk" pitchFamily="34" charset="0"/>
                <a:cs typeface="Space Grotesk" pitchFamily="34" charset="0"/>
              </a:rPr>
              <a:t>d'éleveurs</a:t>
            </a:r>
          </a:p>
        </p:txBody>
      </p:sp>
      <p:sp>
        <p:nvSpPr>
          <p:cNvPr id="28" name="TextBox 27"/>
          <p:cNvSpPr txBox="1"/>
          <p:nvPr/>
        </p:nvSpPr>
        <p:spPr>
          <a:xfrm>
            <a:off x="9820656" y="3666744"/>
            <a:ext cx="2048256" cy="475488"/>
          </a:xfrm>
          <a:prstGeom prst="rect">
            <a:avLst/>
          </a:prstGeom>
          <a:noFill/>
        </p:spPr>
        <p:txBody>
          <a:bodyPr wrap="square" lIns="0" rIns="0" tIns="0" bIns="0" anchor="t">
            <a:spAutoFit/>
          </a:bodyPr>
          <a:lstStyle/>
          <a:p>
            <a:pPr algn="l">
              <a:lnSpc>
                <a:spcPct val="125000"/>
              </a:lnSpc>
            </a:pPr>
            <a:r>
              <a:rPr sz="1100" b="0" i="0">
                <a:solidFill>
                  <a:srgbClr val="93A79D"/>
                </a:solidFill>
                <a:latin typeface="Inter" pitchFamily="34" charset="0"/>
                <a:cs typeface="Inter" pitchFamily="34" charset="0"/>
              </a:rPr>
              <a:t>avant le départ</a:t>
            </a:r>
          </a:p>
        </p:txBody>
      </p:sp>
      <p:sp>
        <p:nvSpPr>
          <p:cNvPr id="29" name="TextBox 28"/>
          <p:cNvSpPr txBox="1"/>
          <p:nvPr/>
        </p:nvSpPr>
        <p:spPr>
          <a:xfrm>
            <a:off x="713232" y="4626864"/>
            <a:ext cx="10789920" cy="822960"/>
          </a:xfrm>
          <a:prstGeom prst="rect">
            <a:avLst/>
          </a:prstGeom>
          <a:noFill/>
        </p:spPr>
        <p:txBody>
          <a:bodyPr wrap="square" lIns="0" rIns="0" tIns="0" bIns="0" anchor="t">
            <a:spAutoFit/>
          </a:bodyPr>
          <a:lstStyle/>
          <a:p>
            <a:pPr algn="l">
              <a:lnSpc>
                <a:spcPct val="135000"/>
              </a:lnSpc>
            </a:pPr>
            <a:r>
              <a:rPr sz="1500" b="0" i="0">
                <a:solidFill>
                  <a:srgbClr val="E9F2ED"/>
                </a:solidFill>
                <a:latin typeface="Inter" pitchFamily="34" charset="0"/>
                <a:cs typeface="Inter" pitchFamily="34" charset="0"/>
              </a:rPr>
              <a:t>Le fulfulde est la langue des éleveurs transhumants du nord Bénin.</a:t>
            </a:r>
          </a:p>
          <a:p>
            <a:pPr algn="l">
              <a:lnSpc>
                <a:spcPct val="135000"/>
              </a:lnSpc>
            </a:pPr>
            <a:r>
              <a:rPr sz="1500" b="0" i="0">
                <a:solidFill>
                  <a:srgbClr val="E9F2ED"/>
                </a:solidFill>
                <a:latin typeface="Inter" pitchFamily="34" charset="0"/>
                <a:cs typeface="Inter" pitchFamily="34" charset="0"/>
              </a:rPr>
              <a:t>La décision circule dans la langue où elle sera appliquée.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6272784"/>
            <a:ext cx="10765231" cy="10972"/>
          </a:xfrm>
          <a:prstGeom prst="rect">
            <a:avLst/>
          </a:prstGeom>
          <a:solidFill>
            <a:srgbClr val="1E2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6400800"/>
            <a:ext cx="5486400" cy="237744"/>
          </a:xfrm>
          <a:prstGeom prst="rect">
            <a:avLst/>
          </a:prstGeom>
          <a:noFill/>
        </p:spPr>
        <p:txBody>
          <a:bodyPr wrap="square" lIns="0" rIns="0" tIns="0" bIns="0" anchor="t">
            <a:spAutoFit/>
          </a:bodyPr>
          <a:lstStyle/>
          <a:p>
            <a:pPr algn="l">
              <a:lnSpc>
                <a:spcPct val="118000"/>
              </a:lnSpc>
            </a:pPr>
            <a:r>
              <a:rPr sz="900" b="0" i="0">
                <a:solidFill>
                  <a:srgbClr val="93A79D"/>
                </a:solidFill>
                <a:latin typeface="Inter" pitchFamily="34" charset="0"/>
                <a:cs typeface="Inter" pitchFamily="34" charset="0"/>
              </a:rPr>
              <a:t>Terra Sentinelle · IndabaX Bénin 2026</a:t>
            </a:r>
          </a:p>
        </p:txBody>
      </p:sp>
      <p:sp>
        <p:nvSpPr>
          <p:cNvPr id="5" name="TextBox 4"/>
          <p:cNvSpPr txBox="1"/>
          <p:nvPr/>
        </p:nvSpPr>
        <p:spPr>
          <a:xfrm>
            <a:off x="10381183" y="6400800"/>
            <a:ext cx="1097280" cy="237744"/>
          </a:xfrm>
          <a:prstGeom prst="rect">
            <a:avLst/>
          </a:prstGeom>
          <a:noFill/>
        </p:spPr>
        <p:txBody>
          <a:bodyPr wrap="square" lIns="0" rIns="0" tIns="0" bIns="0" anchor="t">
            <a:spAutoFit/>
          </a:bodyPr>
          <a:lstStyle/>
          <a:p>
            <a:pPr algn="r">
              <a:lnSpc>
                <a:spcPct val="118000"/>
              </a:lnSpc>
            </a:pPr>
            <a:r>
              <a:rPr sz="900" b="0" i="0">
                <a:solidFill>
                  <a:srgbClr val="93A79D"/>
                </a:solidFill>
                <a:latin typeface="JetBrains Mono" pitchFamily="34" charset="0"/>
                <a:cs typeface="JetBrains Mono" pitchFamily="34" charset="0"/>
              </a:rPr>
              <a:t>12 / 14</a:t>
            </a:r>
          </a:p>
        </p:txBody>
      </p:sp>
      <p:sp>
        <p:nvSpPr>
          <p:cNvPr id="6" name="Rectangle 5"/>
          <p:cNvSpPr/>
          <p:nvPr/>
        </p:nvSpPr>
        <p:spPr>
          <a:xfrm>
            <a:off x="713232" y="608076"/>
            <a:ext cx="50292" cy="15544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66928"/>
            <a:ext cx="8686800" cy="256032"/>
          </a:xfrm>
          <a:prstGeom prst="rect">
            <a:avLst/>
          </a:prstGeom>
          <a:noFill/>
        </p:spPr>
        <p:txBody>
          <a:bodyPr wrap="square" lIns="0" rIns="0" tIns="0" bIns="0" anchor="t">
            <a:spAutoFit/>
          </a:bodyPr>
          <a:lstStyle/>
          <a:p>
            <a:pPr algn="l">
              <a:lnSpc>
                <a:spcPct val="100000"/>
              </a:lnSpc>
            </a:pPr>
            <a:r>
              <a:rPr sz="1100" b="1" i="0">
                <a:solidFill>
                  <a:srgbClr val="34D399"/>
                </a:solidFill>
                <a:latin typeface="Inter" pitchFamily="34" charset="0"/>
                <a:cs typeface="Inter" pitchFamily="34" charset="0"/>
              </a:rPr>
              <a:t>GOUVERNANCE ET RISQUE</a:t>
            </a:r>
          </a:p>
        </p:txBody>
      </p:sp>
      <p:sp>
        <p:nvSpPr>
          <p:cNvPr id="8" name="TextBox 7"/>
          <p:cNvSpPr txBox="1"/>
          <p:nvPr/>
        </p:nvSpPr>
        <p:spPr>
          <a:xfrm>
            <a:off x="713232" y="932688"/>
            <a:ext cx="10765231" cy="484327"/>
          </a:xfrm>
          <a:prstGeom prst="rect">
            <a:avLst/>
          </a:prstGeom>
          <a:noFill/>
        </p:spPr>
        <p:txBody>
          <a:bodyPr wrap="square" lIns="0" rIns="0" tIns="0" bIns="0" anchor="t">
            <a:spAutoFit/>
          </a:bodyPr>
          <a:lstStyle/>
          <a:p>
            <a:pPr algn="l">
              <a:lnSpc>
                <a:spcPct val="106000"/>
              </a:lnSpc>
            </a:pPr>
            <a:r>
              <a:rPr sz="2800" b="1" i="0">
                <a:solidFill>
                  <a:srgbClr val="E9F2ED"/>
                </a:solidFill>
                <a:latin typeface="Space Grotesk" pitchFamily="34" charset="0"/>
                <a:cs typeface="Space Grotesk" pitchFamily="34" charset="0"/>
              </a:rPr>
              <a:t>Une carte de conflit foncier est une donnée sensible.</a:t>
            </a:r>
          </a:p>
        </p:txBody>
      </p:sp>
      <p:sp>
        <p:nvSpPr>
          <p:cNvPr id="9" name="TextBox 8"/>
          <p:cNvSpPr txBox="1"/>
          <p:nvPr/>
        </p:nvSpPr>
        <p:spPr>
          <a:xfrm>
            <a:off x="713232" y="1581607"/>
            <a:ext cx="10216591" cy="305104"/>
          </a:xfrm>
          <a:prstGeom prst="rect">
            <a:avLst/>
          </a:prstGeom>
          <a:noFill/>
        </p:spPr>
        <p:txBody>
          <a:bodyPr wrap="square" lIns="0" rIns="0" tIns="0" bIns="0" anchor="t">
            <a:spAutoFit/>
          </a:bodyPr>
          <a:lstStyle/>
          <a:p>
            <a:pPr algn="l">
              <a:lnSpc>
                <a:spcPct val="128000"/>
              </a:lnSpc>
            </a:pPr>
            <a:r>
              <a:rPr sz="1400" b="0" i="0">
                <a:solidFill>
                  <a:srgbClr val="93A79D"/>
                </a:solidFill>
                <a:latin typeface="Inter" pitchFamily="34" charset="0"/>
                <a:cs typeface="Inter" pitchFamily="34" charset="0"/>
              </a:rPr>
              <a:t>Nous le disons avant qu'on nous le demande.</a:t>
            </a:r>
          </a:p>
        </p:txBody>
      </p:sp>
      <p:sp>
        <p:nvSpPr>
          <p:cNvPr id="10" name="Rounded Rectangle 9"/>
          <p:cNvSpPr/>
          <p:nvPr/>
        </p:nvSpPr>
        <p:spPr>
          <a:xfrm>
            <a:off x="713232" y="2761488"/>
            <a:ext cx="3405530" cy="2148840"/>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2750515"/>
            <a:ext cx="3405530" cy="457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3054096"/>
            <a:ext cx="2930042" cy="288036"/>
          </a:xfrm>
          <a:prstGeom prst="rect">
            <a:avLst/>
          </a:prstGeom>
          <a:noFill/>
        </p:spPr>
        <p:txBody>
          <a:bodyPr wrap="square" lIns="0" rIns="0" tIns="0" bIns="0" anchor="t">
            <a:spAutoFit/>
          </a:bodyPr>
          <a:lstStyle/>
          <a:p>
            <a:pPr algn="l">
              <a:lnSpc>
                <a:spcPct val="112000"/>
              </a:lnSpc>
            </a:pPr>
            <a:r>
              <a:rPr sz="1500" b="1" i="0">
                <a:solidFill>
                  <a:srgbClr val="E9F2ED"/>
                </a:solidFill>
                <a:latin typeface="Space Grotesk" pitchFamily="34" charset="0"/>
                <a:cs typeface="Space Grotesk" pitchFamily="34" charset="0"/>
              </a:rPr>
              <a:t>Accès par rôle</a:t>
            </a:r>
          </a:p>
        </p:txBody>
      </p:sp>
      <p:sp>
        <p:nvSpPr>
          <p:cNvPr id="13" name="TextBox 12"/>
          <p:cNvSpPr txBox="1"/>
          <p:nvPr/>
        </p:nvSpPr>
        <p:spPr>
          <a:xfrm>
            <a:off x="950976" y="3488436"/>
            <a:ext cx="2930042" cy="774954"/>
          </a:xfrm>
          <a:prstGeom prst="rect">
            <a:avLst/>
          </a:prstGeom>
          <a:noFill/>
        </p:spPr>
        <p:txBody>
          <a:bodyPr wrap="square" lIns="0" rIns="0" tIns="0" bIns="0" anchor="t">
            <a:spAutoFit/>
          </a:bodyPr>
          <a:lstStyle/>
          <a:p>
            <a:pPr algn="l">
              <a:lnSpc>
                <a:spcPct val="130000"/>
              </a:lnSpc>
            </a:pPr>
            <a:r>
              <a:rPr sz="1250" b="0" i="0">
                <a:solidFill>
                  <a:srgbClr val="93A79D"/>
                </a:solidFill>
                <a:latin typeface="Inter" pitchFamily="34" charset="0"/>
                <a:cs typeface="Inter" pitchFamily="34" charset="0"/>
              </a:rPr>
              <a:t>Agent, comité, autorité :</a:t>
            </a:r>
          </a:p>
          <a:p>
            <a:pPr algn="l">
              <a:lnSpc>
                <a:spcPct val="130000"/>
              </a:lnSpc>
            </a:pPr>
            <a:r>
              <a:rPr sz="1250" b="0" i="0">
                <a:solidFill>
                  <a:srgbClr val="93A79D"/>
                </a:solidFill>
                <a:latin typeface="Inter" pitchFamily="34" charset="0"/>
                <a:cs typeface="Inter" pitchFamily="34" charset="0"/>
              </a:rPr>
              <a:t>chacun ne voit que</a:t>
            </a:r>
          </a:p>
          <a:p>
            <a:pPr algn="l">
              <a:lnSpc>
                <a:spcPct val="130000"/>
              </a:lnSpc>
            </a:pPr>
            <a:r>
              <a:rPr sz="1250" b="0" i="0">
                <a:solidFill>
                  <a:srgbClr val="93A79D"/>
                </a:solidFill>
                <a:latin typeface="Inter" pitchFamily="34" charset="0"/>
                <a:cs typeface="Inter" pitchFamily="34" charset="0"/>
              </a:rPr>
              <a:t>ce qui le concerne.</a:t>
            </a:r>
          </a:p>
        </p:txBody>
      </p:sp>
      <p:sp>
        <p:nvSpPr>
          <p:cNvPr id="14" name="Rounded Rectangle 13"/>
          <p:cNvSpPr/>
          <p:nvPr/>
        </p:nvSpPr>
        <p:spPr>
          <a:xfrm>
            <a:off x="4393082" y="2761488"/>
            <a:ext cx="3405530" cy="2148840"/>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93082" y="2750515"/>
            <a:ext cx="3405530" cy="45720"/>
          </a:xfrm>
          <a:prstGeom prst="rect">
            <a:avLst/>
          </a:prstGeom>
          <a:solidFill>
            <a:srgbClr val="F5B5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0826" y="3054096"/>
            <a:ext cx="2930042" cy="544068"/>
          </a:xfrm>
          <a:prstGeom prst="rect">
            <a:avLst/>
          </a:prstGeom>
          <a:noFill/>
        </p:spPr>
        <p:txBody>
          <a:bodyPr wrap="square" lIns="0" rIns="0" tIns="0" bIns="0" anchor="t">
            <a:spAutoFit/>
          </a:bodyPr>
          <a:lstStyle/>
          <a:p>
            <a:pPr algn="l">
              <a:lnSpc>
                <a:spcPct val="112000"/>
              </a:lnSpc>
            </a:pPr>
            <a:r>
              <a:rPr sz="1500" b="1" i="0">
                <a:solidFill>
                  <a:srgbClr val="E9F2ED"/>
                </a:solidFill>
                <a:latin typeface="Space Grotesk" pitchFamily="34" charset="0"/>
                <a:cs typeface="Space Grotesk" pitchFamily="34" charset="0"/>
              </a:rPr>
              <a:t>Zones sensibles</a:t>
            </a:r>
          </a:p>
          <a:p>
            <a:pPr algn="l">
              <a:lnSpc>
                <a:spcPct val="112000"/>
              </a:lnSpc>
            </a:pPr>
            <a:r>
              <a:rPr sz="1500" b="1" i="0">
                <a:solidFill>
                  <a:srgbClr val="E9F2ED"/>
                </a:solidFill>
                <a:latin typeface="Space Grotesk" pitchFamily="34" charset="0"/>
                <a:cs typeface="Space Grotesk" pitchFamily="34" charset="0"/>
              </a:rPr>
              <a:t>masquées</a:t>
            </a:r>
          </a:p>
        </p:txBody>
      </p:sp>
      <p:sp>
        <p:nvSpPr>
          <p:cNvPr id="17" name="TextBox 16"/>
          <p:cNvSpPr txBox="1"/>
          <p:nvPr/>
        </p:nvSpPr>
        <p:spPr>
          <a:xfrm>
            <a:off x="4630826" y="3744468"/>
            <a:ext cx="2930042" cy="774954"/>
          </a:xfrm>
          <a:prstGeom prst="rect">
            <a:avLst/>
          </a:prstGeom>
          <a:noFill/>
        </p:spPr>
        <p:txBody>
          <a:bodyPr wrap="square" lIns="0" rIns="0" tIns="0" bIns="0" anchor="t">
            <a:spAutoFit/>
          </a:bodyPr>
          <a:lstStyle/>
          <a:p>
            <a:pPr algn="l">
              <a:lnSpc>
                <a:spcPct val="130000"/>
              </a:lnSpc>
            </a:pPr>
            <a:r>
              <a:rPr sz="1250" b="0" i="0">
                <a:solidFill>
                  <a:srgbClr val="93A79D"/>
                </a:solidFill>
                <a:latin typeface="Inter" pitchFamily="34" charset="0"/>
                <a:cs typeface="Inter" pitchFamily="34" charset="0"/>
              </a:rPr>
              <a:t>Invisibles hors du comité.</a:t>
            </a:r>
          </a:p>
          <a:p>
            <a:pPr algn="l">
              <a:lnSpc>
                <a:spcPct val="130000"/>
              </a:lnSpc>
            </a:pPr>
            <a:r>
              <a:rPr sz="1250" b="0" i="0">
                <a:solidFill>
                  <a:srgbClr val="93A79D"/>
                </a:solidFill>
                <a:latin typeface="Inter" pitchFamily="34" charset="0"/>
                <a:cs typeface="Inter" pitchFamily="34" charset="0"/>
              </a:rPr>
              <a:t>Une friction n'est pas</a:t>
            </a:r>
          </a:p>
          <a:p>
            <a:pPr algn="l">
              <a:lnSpc>
                <a:spcPct val="130000"/>
              </a:lnSpc>
            </a:pPr>
            <a:r>
              <a:rPr sz="1250" b="0" i="0">
                <a:solidFill>
                  <a:srgbClr val="93A79D"/>
                </a:solidFill>
                <a:latin typeface="Inter" pitchFamily="34" charset="0"/>
                <a:cs typeface="Inter" pitchFamily="34" charset="0"/>
              </a:rPr>
              <a:t>une information publique.</a:t>
            </a:r>
          </a:p>
        </p:txBody>
      </p:sp>
      <p:sp>
        <p:nvSpPr>
          <p:cNvPr id="18" name="Rounded Rectangle 17"/>
          <p:cNvSpPr/>
          <p:nvPr/>
        </p:nvSpPr>
        <p:spPr>
          <a:xfrm>
            <a:off x="8072932" y="2761488"/>
            <a:ext cx="3405530" cy="2148840"/>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2750515"/>
            <a:ext cx="3405530" cy="45720"/>
          </a:xfrm>
          <a:prstGeom prst="rect">
            <a:avLst/>
          </a:prstGeom>
          <a:solidFill>
            <a:srgbClr val="D9B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10676" y="3054096"/>
            <a:ext cx="2930042" cy="288036"/>
          </a:xfrm>
          <a:prstGeom prst="rect">
            <a:avLst/>
          </a:prstGeom>
          <a:noFill/>
        </p:spPr>
        <p:txBody>
          <a:bodyPr wrap="square" lIns="0" rIns="0" tIns="0" bIns="0" anchor="t">
            <a:spAutoFit/>
          </a:bodyPr>
          <a:lstStyle/>
          <a:p>
            <a:pPr algn="l">
              <a:lnSpc>
                <a:spcPct val="112000"/>
              </a:lnSpc>
            </a:pPr>
            <a:r>
              <a:rPr sz="1500" b="1" i="0">
                <a:solidFill>
                  <a:srgbClr val="E9F2ED"/>
                </a:solidFill>
                <a:latin typeface="Space Grotesk" pitchFamily="34" charset="0"/>
                <a:cs typeface="Space Grotesk" pitchFamily="34" charset="0"/>
              </a:rPr>
              <a:t>Hébergement local</a:t>
            </a:r>
          </a:p>
        </p:txBody>
      </p:sp>
      <p:sp>
        <p:nvSpPr>
          <p:cNvPr id="21" name="TextBox 20"/>
          <p:cNvSpPr txBox="1"/>
          <p:nvPr/>
        </p:nvSpPr>
        <p:spPr>
          <a:xfrm>
            <a:off x="8310676" y="3488436"/>
            <a:ext cx="2930042" cy="774954"/>
          </a:xfrm>
          <a:prstGeom prst="rect">
            <a:avLst/>
          </a:prstGeom>
          <a:noFill/>
        </p:spPr>
        <p:txBody>
          <a:bodyPr wrap="square" lIns="0" rIns="0" tIns="0" bIns="0" anchor="t">
            <a:spAutoFit/>
          </a:bodyPr>
          <a:lstStyle/>
          <a:p>
            <a:pPr algn="l">
              <a:lnSpc>
                <a:spcPct val="130000"/>
              </a:lnSpc>
            </a:pPr>
            <a:r>
              <a:rPr sz="1250" b="0" i="0">
                <a:solidFill>
                  <a:srgbClr val="93A79D"/>
                </a:solidFill>
                <a:latin typeface="Inter" pitchFamily="34" charset="0"/>
                <a:cs typeface="Inter" pitchFamily="34" charset="0"/>
              </a:rPr>
              <a:t>Chez l'autorité communale.</a:t>
            </a:r>
          </a:p>
          <a:p>
            <a:pPr algn="l">
              <a:lnSpc>
                <a:spcPct val="130000"/>
              </a:lnSpc>
            </a:pPr>
            <a:r>
              <a:rPr sz="1250" b="0" i="0">
                <a:solidFill>
                  <a:srgbClr val="93A79D"/>
                </a:solidFill>
                <a:latin typeface="Inter" pitchFamily="34" charset="0"/>
                <a:cs typeface="Inter" pitchFamily="34" charset="0"/>
              </a:rPr>
              <a:t>La commune reste</a:t>
            </a:r>
          </a:p>
          <a:p>
            <a:pPr algn="l">
              <a:lnSpc>
                <a:spcPct val="130000"/>
              </a:lnSpc>
            </a:pPr>
            <a:r>
              <a:rPr sz="1250" b="0" i="0">
                <a:solidFill>
                  <a:srgbClr val="93A79D"/>
                </a:solidFill>
                <a:latin typeface="Inter" pitchFamily="34" charset="0"/>
                <a:cs typeface="Inter" pitchFamily="34" charset="0"/>
              </a:rPr>
              <a:t>propriétaire de ses données.</a:t>
            </a:r>
          </a:p>
        </p:txBody>
      </p:sp>
      <p:sp>
        <p:nvSpPr>
          <p:cNvPr id="22" name="TextBox 21"/>
          <p:cNvSpPr txBox="1"/>
          <p:nvPr/>
        </p:nvSpPr>
        <p:spPr>
          <a:xfrm>
            <a:off x="713232" y="5230368"/>
            <a:ext cx="10789920" cy="626364"/>
          </a:xfrm>
          <a:prstGeom prst="rect">
            <a:avLst/>
          </a:prstGeom>
          <a:noFill/>
        </p:spPr>
        <p:txBody>
          <a:bodyPr wrap="square" lIns="0" rIns="0" tIns="0" bIns="0" anchor="t">
            <a:spAutoFit/>
          </a:bodyPr>
          <a:lstStyle/>
          <a:p>
            <a:pPr algn="l">
              <a:lnSpc>
                <a:spcPct val="130000"/>
              </a:lnSpc>
            </a:pPr>
            <a:r>
              <a:rPr sz="1500" b="0" i="0">
                <a:solidFill>
                  <a:srgbClr val="E9F2ED"/>
                </a:solidFill>
                <a:latin typeface="Inter" pitchFamily="34" charset="0"/>
                <a:cs typeface="Inter" pitchFamily="34" charset="0"/>
              </a:rPr>
              <a:t>Mal diffusée, elle désigne des coupables.</a:t>
            </a:r>
          </a:p>
          <a:p>
            <a:pPr algn="l">
              <a:lnSpc>
                <a:spcPct val="130000"/>
              </a:lnSpc>
            </a:pPr>
            <a:r>
              <a:rPr sz="1500" b="0" i="0">
                <a:solidFill>
                  <a:srgbClr val="E9F2ED"/>
                </a:solidFill>
                <a:latin typeface="Inter" pitchFamily="34" charset="0"/>
                <a:cs typeface="Inter" pitchFamily="34" charset="0"/>
              </a:rPr>
              <a:t>Bien gouvernée, elle prépare un arbitrage.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F066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0120"/>
            <a:ext cx="10789920" cy="365760"/>
          </a:xfrm>
          <a:prstGeom prst="rect">
            <a:avLst/>
          </a:prstGeom>
          <a:noFill/>
        </p:spPr>
        <p:txBody>
          <a:bodyPr wrap="square" lIns="0" rIns="0" tIns="0" bIns="0" anchor="t">
            <a:spAutoFit/>
          </a:bodyPr>
          <a:lstStyle/>
          <a:p>
            <a:pPr algn="l">
              <a:lnSpc>
                <a:spcPct val="118000"/>
              </a:lnSpc>
            </a:pPr>
            <a:r>
              <a:rPr sz="1300" b="1" i="0">
                <a:solidFill>
                  <a:srgbClr val="F0665F"/>
                </a:solidFill>
                <a:latin typeface="Inter" pitchFamily="34" charset="0"/>
                <a:cs typeface="Inter" pitchFamily="34" charset="0"/>
              </a:rPr>
              <a:t>CE QUE TERRA SENTINELLE NE FAIT PAS</a:t>
            </a:r>
          </a:p>
        </p:txBody>
      </p:sp>
      <p:sp>
        <p:nvSpPr>
          <p:cNvPr id="5" name="Rectangle 4"/>
          <p:cNvSpPr/>
          <p:nvPr/>
        </p:nvSpPr>
        <p:spPr>
          <a:xfrm>
            <a:off x="713232" y="1810512"/>
            <a:ext cx="64008" cy="1225296"/>
          </a:xfrm>
          <a:prstGeom prst="rect">
            <a:avLst/>
          </a:prstGeom>
          <a:solidFill>
            <a:srgbClr val="F066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43584" y="1755648"/>
            <a:ext cx="10149840" cy="1920240"/>
          </a:xfrm>
          <a:prstGeom prst="rect">
            <a:avLst/>
          </a:prstGeom>
          <a:noFill/>
        </p:spPr>
        <p:txBody>
          <a:bodyPr wrap="square" lIns="0" rIns="0" tIns="0" bIns="0" anchor="t">
            <a:spAutoFit/>
          </a:bodyPr>
          <a:lstStyle/>
          <a:p>
            <a:pPr algn="l">
              <a:lnSpc>
                <a:spcPct val="130000"/>
              </a:lnSpc>
            </a:pPr>
            <a:r>
              <a:rPr sz="3100" b="1" i="0">
                <a:solidFill>
                  <a:srgbClr val="E9F2ED"/>
                </a:solidFill>
                <a:latin typeface="Space Grotesk" pitchFamily="34" charset="0"/>
                <a:cs typeface="Space Grotesk" pitchFamily="34" charset="0"/>
              </a:rPr>
              <a:t>« Terra Sentinelle ne prédit pas les conflits</a:t>
            </a:r>
          </a:p>
          <a:p>
            <a:pPr algn="l">
              <a:lnSpc>
                <a:spcPct val="130000"/>
              </a:lnSpc>
            </a:pPr>
            <a:r>
              <a:rPr sz="3100" b="1" i="0">
                <a:solidFill>
                  <a:srgbClr val="E9F2ED"/>
                </a:solidFill>
                <a:latin typeface="Space Grotesk" pitchFamily="34" charset="0"/>
                <a:cs typeface="Space Grotesk" pitchFamily="34" charset="0"/>
              </a:rPr>
              <a:t>et ne délivre aucune autorisation de passage. »</a:t>
            </a:r>
          </a:p>
        </p:txBody>
      </p:sp>
      <p:sp>
        <p:nvSpPr>
          <p:cNvPr id="7" name="Rectangle 6"/>
          <p:cNvSpPr/>
          <p:nvPr/>
        </p:nvSpPr>
        <p:spPr>
          <a:xfrm>
            <a:off x="713232" y="4023360"/>
            <a:ext cx="10765231" cy="10972"/>
          </a:xfrm>
          <a:prstGeom prst="rect">
            <a:avLst/>
          </a:prstGeom>
          <a:solidFill>
            <a:srgbClr val="1E2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13232" y="4453128"/>
            <a:ext cx="146304" cy="32004"/>
          </a:xfrm>
          <a:prstGeom prst="rect">
            <a:avLst/>
          </a:prstGeom>
          <a:solidFill>
            <a:srgbClr val="F066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4370832"/>
            <a:ext cx="10241280" cy="347472"/>
          </a:xfrm>
          <a:prstGeom prst="rect">
            <a:avLst/>
          </a:prstGeom>
          <a:noFill/>
        </p:spPr>
        <p:txBody>
          <a:bodyPr wrap="square" lIns="0" rIns="0" tIns="0" bIns="0" anchor="t">
            <a:spAutoFit/>
          </a:bodyPr>
          <a:lstStyle/>
          <a:p>
            <a:pPr algn="l">
              <a:lnSpc>
                <a:spcPct val="115000"/>
              </a:lnSpc>
            </a:pPr>
            <a:r>
              <a:rPr sz="1600" b="0" i="0">
                <a:solidFill>
                  <a:srgbClr val="93A79D"/>
                </a:solidFill>
                <a:latin typeface="Inter" pitchFamily="34" charset="0"/>
                <a:cs typeface="Inter" pitchFamily="34" charset="0"/>
              </a:rPr>
              <a:t>Il ne dit pas qui avait le droit d'être là.</a:t>
            </a:r>
          </a:p>
        </p:txBody>
      </p:sp>
      <p:sp>
        <p:nvSpPr>
          <p:cNvPr id="10" name="Rectangle 9"/>
          <p:cNvSpPr/>
          <p:nvPr/>
        </p:nvSpPr>
        <p:spPr>
          <a:xfrm>
            <a:off x="713232" y="4928616"/>
            <a:ext cx="146304" cy="32004"/>
          </a:xfrm>
          <a:prstGeom prst="rect">
            <a:avLst/>
          </a:prstGeom>
          <a:solidFill>
            <a:srgbClr val="F5B5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78992" y="4846320"/>
            <a:ext cx="10241280" cy="347472"/>
          </a:xfrm>
          <a:prstGeom prst="rect">
            <a:avLst/>
          </a:prstGeom>
          <a:noFill/>
        </p:spPr>
        <p:txBody>
          <a:bodyPr wrap="square" lIns="0" rIns="0" tIns="0" bIns="0" anchor="t">
            <a:spAutoFit/>
          </a:bodyPr>
          <a:lstStyle/>
          <a:p>
            <a:pPr algn="l">
              <a:lnSpc>
                <a:spcPct val="115000"/>
              </a:lnSpc>
            </a:pPr>
            <a:r>
              <a:rPr sz="1600" b="0" i="0">
                <a:solidFill>
                  <a:srgbClr val="93A79D"/>
                </a:solidFill>
                <a:latin typeface="Inter" pitchFamily="34" charset="0"/>
                <a:cs typeface="Inter" pitchFamily="34" charset="0"/>
              </a:rPr>
              <a:t>Il ne tranche pas la légitimité foncière.</a:t>
            </a:r>
          </a:p>
        </p:txBody>
      </p:sp>
      <p:sp>
        <p:nvSpPr>
          <p:cNvPr id="12" name="Rectangle 11"/>
          <p:cNvSpPr/>
          <p:nvPr/>
        </p:nvSpPr>
        <p:spPr>
          <a:xfrm>
            <a:off x="713232" y="5404104"/>
            <a:ext cx="146304" cy="32004"/>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5321808"/>
            <a:ext cx="10241280" cy="347472"/>
          </a:xfrm>
          <a:prstGeom prst="rect">
            <a:avLst/>
          </a:prstGeom>
          <a:noFill/>
        </p:spPr>
        <p:txBody>
          <a:bodyPr wrap="square" lIns="0" rIns="0" tIns="0" bIns="0" anchor="t">
            <a:spAutoFit/>
          </a:bodyPr>
          <a:lstStyle/>
          <a:p>
            <a:pPr algn="l">
              <a:lnSpc>
                <a:spcPct val="115000"/>
              </a:lnSpc>
            </a:pPr>
            <a:r>
              <a:rPr sz="1600" b="0" i="0">
                <a:solidFill>
                  <a:srgbClr val="E9F2ED"/>
                </a:solidFill>
                <a:latin typeface="Inter" pitchFamily="34" charset="0"/>
                <a:cs typeface="Inter" pitchFamily="34" charset="0"/>
              </a:rPr>
              <a:t>Il informe un arbitrage humain. Rien de plus.</a:t>
            </a:r>
          </a:p>
        </p:txBody>
      </p:sp>
      <p:sp>
        <p:nvSpPr>
          <p:cNvPr id="14" name="Rectangle 13"/>
          <p:cNvSpPr/>
          <p:nvPr/>
        </p:nvSpPr>
        <p:spPr>
          <a:xfrm>
            <a:off x="713232" y="6272784"/>
            <a:ext cx="10765231" cy="10972"/>
          </a:xfrm>
          <a:prstGeom prst="rect">
            <a:avLst/>
          </a:prstGeom>
          <a:solidFill>
            <a:srgbClr val="1E2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6400800"/>
            <a:ext cx="5486400" cy="237744"/>
          </a:xfrm>
          <a:prstGeom prst="rect">
            <a:avLst/>
          </a:prstGeom>
          <a:noFill/>
        </p:spPr>
        <p:txBody>
          <a:bodyPr wrap="square" lIns="0" rIns="0" tIns="0" bIns="0" anchor="t">
            <a:spAutoFit/>
          </a:bodyPr>
          <a:lstStyle/>
          <a:p>
            <a:pPr algn="l">
              <a:lnSpc>
                <a:spcPct val="118000"/>
              </a:lnSpc>
            </a:pPr>
            <a:r>
              <a:rPr sz="900" b="0" i="0">
                <a:solidFill>
                  <a:srgbClr val="93A79D"/>
                </a:solidFill>
                <a:latin typeface="Inter" pitchFamily="34" charset="0"/>
                <a:cs typeface="Inter" pitchFamily="34" charset="0"/>
              </a:rPr>
              <a:t>Terra Sentinelle · IndabaX Bénin 2026</a:t>
            </a:r>
          </a:p>
        </p:txBody>
      </p:sp>
      <p:sp>
        <p:nvSpPr>
          <p:cNvPr id="16" name="TextBox 15"/>
          <p:cNvSpPr txBox="1"/>
          <p:nvPr/>
        </p:nvSpPr>
        <p:spPr>
          <a:xfrm>
            <a:off x="10381183" y="6400800"/>
            <a:ext cx="1097280" cy="237744"/>
          </a:xfrm>
          <a:prstGeom prst="rect">
            <a:avLst/>
          </a:prstGeom>
          <a:noFill/>
        </p:spPr>
        <p:txBody>
          <a:bodyPr wrap="square" lIns="0" rIns="0" tIns="0" bIns="0" anchor="t">
            <a:spAutoFit/>
          </a:bodyPr>
          <a:lstStyle/>
          <a:p>
            <a:pPr algn="r">
              <a:lnSpc>
                <a:spcPct val="118000"/>
              </a:lnSpc>
            </a:pPr>
            <a:r>
              <a:rPr sz="900" b="0" i="0">
                <a:solidFill>
                  <a:srgbClr val="93A79D"/>
                </a:solidFill>
                <a:latin typeface="JetBrains Mono" pitchFamily="34" charset="0"/>
                <a:cs typeface="JetBrains Mono" pitchFamily="34" charset="0"/>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6272784"/>
            <a:ext cx="10765231" cy="10972"/>
          </a:xfrm>
          <a:prstGeom prst="rect">
            <a:avLst/>
          </a:prstGeom>
          <a:solidFill>
            <a:srgbClr val="1E2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6400800"/>
            <a:ext cx="5486400" cy="237744"/>
          </a:xfrm>
          <a:prstGeom prst="rect">
            <a:avLst/>
          </a:prstGeom>
          <a:noFill/>
        </p:spPr>
        <p:txBody>
          <a:bodyPr wrap="square" lIns="0" rIns="0" tIns="0" bIns="0" anchor="t">
            <a:spAutoFit/>
          </a:bodyPr>
          <a:lstStyle/>
          <a:p>
            <a:pPr algn="l">
              <a:lnSpc>
                <a:spcPct val="118000"/>
              </a:lnSpc>
            </a:pPr>
            <a:r>
              <a:rPr sz="900" b="0" i="0">
                <a:solidFill>
                  <a:srgbClr val="93A79D"/>
                </a:solidFill>
                <a:latin typeface="Inter" pitchFamily="34" charset="0"/>
                <a:cs typeface="Inter" pitchFamily="34" charset="0"/>
              </a:rPr>
              <a:t>Terra Sentinelle · IndabaX Bénin 2026</a:t>
            </a:r>
          </a:p>
        </p:txBody>
      </p:sp>
      <p:sp>
        <p:nvSpPr>
          <p:cNvPr id="5" name="TextBox 4"/>
          <p:cNvSpPr txBox="1"/>
          <p:nvPr/>
        </p:nvSpPr>
        <p:spPr>
          <a:xfrm>
            <a:off x="10381183" y="6400800"/>
            <a:ext cx="1097280" cy="237744"/>
          </a:xfrm>
          <a:prstGeom prst="rect">
            <a:avLst/>
          </a:prstGeom>
          <a:noFill/>
        </p:spPr>
        <p:txBody>
          <a:bodyPr wrap="square" lIns="0" rIns="0" tIns="0" bIns="0" anchor="t">
            <a:spAutoFit/>
          </a:bodyPr>
          <a:lstStyle/>
          <a:p>
            <a:pPr algn="r">
              <a:lnSpc>
                <a:spcPct val="118000"/>
              </a:lnSpc>
            </a:pPr>
            <a:r>
              <a:rPr sz="900" b="0" i="0">
                <a:solidFill>
                  <a:srgbClr val="93A79D"/>
                </a:solidFill>
                <a:latin typeface="JetBrains Mono" pitchFamily="34" charset="0"/>
                <a:cs typeface="JetBrains Mono" pitchFamily="34" charset="0"/>
              </a:rPr>
              <a:t>14 / 14</a:t>
            </a:r>
          </a:p>
        </p:txBody>
      </p:sp>
      <p:sp>
        <p:nvSpPr>
          <p:cNvPr id="6" name="Rectangle 5"/>
          <p:cNvSpPr/>
          <p:nvPr/>
        </p:nvSpPr>
        <p:spPr>
          <a:xfrm>
            <a:off x="713232" y="608076"/>
            <a:ext cx="50292" cy="155448"/>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566928"/>
            <a:ext cx="8686800" cy="256032"/>
          </a:xfrm>
          <a:prstGeom prst="rect">
            <a:avLst/>
          </a:prstGeom>
          <a:noFill/>
        </p:spPr>
        <p:txBody>
          <a:bodyPr wrap="square" lIns="0" rIns="0" tIns="0" bIns="0" anchor="t">
            <a:spAutoFit/>
          </a:bodyPr>
          <a:lstStyle/>
          <a:p>
            <a:pPr algn="l">
              <a:lnSpc>
                <a:spcPct val="100000"/>
              </a:lnSpc>
            </a:pPr>
            <a:r>
              <a:rPr sz="1100" b="1" i="0">
                <a:solidFill>
                  <a:srgbClr val="34D399"/>
                </a:solidFill>
                <a:latin typeface="Inter" pitchFamily="34" charset="0"/>
                <a:cs typeface="Inter" pitchFamily="34" charset="0"/>
              </a:rPr>
              <a:t>PROTOTYPE ET SUITE</a:t>
            </a:r>
          </a:p>
        </p:txBody>
      </p:sp>
      <p:sp>
        <p:nvSpPr>
          <p:cNvPr id="8" name="TextBox 7"/>
          <p:cNvSpPr txBox="1"/>
          <p:nvPr/>
        </p:nvSpPr>
        <p:spPr>
          <a:xfrm>
            <a:off x="713232" y="932688"/>
            <a:ext cx="10765231" cy="484327"/>
          </a:xfrm>
          <a:prstGeom prst="rect">
            <a:avLst/>
          </a:prstGeom>
          <a:noFill/>
        </p:spPr>
        <p:txBody>
          <a:bodyPr wrap="square" lIns="0" rIns="0" tIns="0" bIns="0" anchor="t">
            <a:spAutoFit/>
          </a:bodyPr>
          <a:lstStyle/>
          <a:p>
            <a:pPr algn="l">
              <a:lnSpc>
                <a:spcPct val="106000"/>
              </a:lnSpc>
            </a:pPr>
            <a:r>
              <a:rPr sz="2800" b="1" i="0">
                <a:solidFill>
                  <a:srgbClr val="E9F2ED"/>
                </a:solidFill>
                <a:latin typeface="Space Grotesk" pitchFamily="34" charset="0"/>
                <a:cs typeface="Space Grotesk" pitchFamily="34" charset="0"/>
              </a:rPr>
              <a:t>Ce qui tourne, ce qui est simulé, ce qui vient.</a:t>
            </a:r>
          </a:p>
        </p:txBody>
      </p:sp>
      <p:sp>
        <p:nvSpPr>
          <p:cNvPr id="9" name="Rounded Rectangle 8"/>
          <p:cNvSpPr/>
          <p:nvPr/>
        </p:nvSpPr>
        <p:spPr>
          <a:xfrm>
            <a:off x="713232" y="2395728"/>
            <a:ext cx="3405530" cy="2743200"/>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2384755"/>
            <a:ext cx="3405530" cy="457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2688336"/>
            <a:ext cx="2930042" cy="544068"/>
          </a:xfrm>
          <a:prstGeom prst="rect">
            <a:avLst/>
          </a:prstGeom>
          <a:noFill/>
        </p:spPr>
        <p:txBody>
          <a:bodyPr wrap="square" lIns="0" rIns="0" tIns="0" bIns="0" anchor="t">
            <a:spAutoFit/>
          </a:bodyPr>
          <a:lstStyle/>
          <a:p>
            <a:pPr algn="l">
              <a:lnSpc>
                <a:spcPct val="112000"/>
              </a:lnSpc>
            </a:pPr>
            <a:r>
              <a:rPr sz="1500" b="1" i="0">
                <a:solidFill>
                  <a:srgbClr val="E9F2ED"/>
                </a:solidFill>
                <a:latin typeface="Space Grotesk" pitchFamily="34" charset="0"/>
                <a:cs typeface="Space Grotesk" pitchFamily="34" charset="0"/>
              </a:rPr>
              <a:t>Ce qui tourne</a:t>
            </a:r>
          </a:p>
          <a:p>
            <a:pPr algn="l">
              <a:lnSpc>
                <a:spcPct val="112000"/>
              </a:lnSpc>
            </a:pPr>
            <a:r>
              <a:rPr sz="1500" b="1" i="0">
                <a:solidFill>
                  <a:srgbClr val="E9F2ED"/>
                </a:solidFill>
                <a:latin typeface="Space Grotesk" pitchFamily="34" charset="0"/>
                <a:cs typeface="Space Grotesk" pitchFamily="34" charset="0"/>
              </a:rPr>
              <a:t>aujourd'hui</a:t>
            </a:r>
          </a:p>
        </p:txBody>
      </p:sp>
      <p:sp>
        <p:nvSpPr>
          <p:cNvPr id="12" name="TextBox 11"/>
          <p:cNvSpPr txBox="1"/>
          <p:nvPr/>
        </p:nvSpPr>
        <p:spPr>
          <a:xfrm>
            <a:off x="950976" y="3378708"/>
            <a:ext cx="2930042" cy="1270254"/>
          </a:xfrm>
          <a:prstGeom prst="rect">
            <a:avLst/>
          </a:prstGeom>
          <a:noFill/>
        </p:spPr>
        <p:txBody>
          <a:bodyPr wrap="square" lIns="0" rIns="0" tIns="0" bIns="0" anchor="t">
            <a:spAutoFit/>
          </a:bodyPr>
          <a:lstStyle/>
          <a:p>
            <a:pPr algn="l">
              <a:lnSpc>
                <a:spcPct val="130000"/>
              </a:lnSpc>
            </a:pPr>
            <a:r>
              <a:rPr sz="1250" b="0" i="0">
                <a:solidFill>
                  <a:srgbClr val="93A79D"/>
                </a:solidFill>
                <a:latin typeface="Inter" pitchFamily="34" charset="0"/>
                <a:cs typeface="Inter" pitchFamily="34" charset="0"/>
              </a:rPr>
              <a:t>Application web + API</a:t>
            </a:r>
          </a:p>
          <a:p>
            <a:pPr algn="l">
              <a:lnSpc>
                <a:spcPct val="130000"/>
              </a:lnSpc>
            </a:pPr>
            <a:r>
              <a:rPr sz="1250" b="0" i="0">
                <a:solidFill>
                  <a:srgbClr val="93A79D"/>
                </a:solidFill>
                <a:latin typeface="Inter" pitchFamily="34" charset="0"/>
                <a:cs typeface="Inter" pitchFamily="34" charset="0"/>
              </a:rPr>
              <a:t>Carte de friction interactive</a:t>
            </a:r>
          </a:p>
          <a:p>
            <a:pPr algn="l">
              <a:lnSpc>
                <a:spcPct val="130000"/>
              </a:lnSpc>
            </a:pPr>
            <a:r>
              <a:rPr sz="1250" b="0" i="0">
                <a:solidFill>
                  <a:srgbClr val="93A79D"/>
                </a:solidFill>
                <a:latin typeface="Inter" pitchFamily="34" charset="0"/>
                <a:cs typeface="Inter" pitchFamily="34" charset="0"/>
              </a:rPr>
              <a:t>Validation terrain hors ligne</a:t>
            </a:r>
          </a:p>
          <a:p>
            <a:pPr algn="l">
              <a:lnSpc>
                <a:spcPct val="130000"/>
              </a:lnSpc>
            </a:pPr>
            <a:r>
              <a:rPr sz="1250" b="0" i="0">
                <a:solidFill>
                  <a:srgbClr val="93A79D"/>
                </a:solidFill>
                <a:latin typeface="Inter" pitchFamily="34" charset="0"/>
                <a:cs typeface="Inter" pitchFamily="34" charset="0"/>
              </a:rPr>
              <a:t>Recalcul d'itinéraire</a:t>
            </a:r>
          </a:p>
          <a:p>
            <a:pPr algn="l">
              <a:lnSpc>
                <a:spcPct val="130000"/>
              </a:lnSpc>
            </a:pPr>
            <a:r>
              <a:rPr sz="1250" b="0" i="0">
                <a:solidFill>
                  <a:srgbClr val="93A79D"/>
                </a:solidFill>
                <a:latin typeface="Inter" pitchFamily="34" charset="0"/>
                <a:cs typeface="Inter" pitchFamily="34" charset="0"/>
              </a:rPr>
              <a:t>Journal de décisions</a:t>
            </a:r>
          </a:p>
        </p:txBody>
      </p:sp>
      <p:sp>
        <p:nvSpPr>
          <p:cNvPr id="13" name="Rounded Rectangle 12"/>
          <p:cNvSpPr/>
          <p:nvPr/>
        </p:nvSpPr>
        <p:spPr>
          <a:xfrm>
            <a:off x="4393082" y="2395728"/>
            <a:ext cx="3405530" cy="2743200"/>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93082" y="2384755"/>
            <a:ext cx="3405530" cy="45720"/>
          </a:xfrm>
          <a:prstGeom prst="rect">
            <a:avLst/>
          </a:prstGeom>
          <a:solidFill>
            <a:srgbClr val="F5B5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30826" y="2688336"/>
            <a:ext cx="2930042" cy="544068"/>
          </a:xfrm>
          <a:prstGeom prst="rect">
            <a:avLst/>
          </a:prstGeom>
          <a:noFill/>
        </p:spPr>
        <p:txBody>
          <a:bodyPr wrap="square" lIns="0" rIns="0" tIns="0" bIns="0" anchor="t">
            <a:spAutoFit/>
          </a:bodyPr>
          <a:lstStyle/>
          <a:p>
            <a:pPr algn="l">
              <a:lnSpc>
                <a:spcPct val="112000"/>
              </a:lnSpc>
            </a:pPr>
            <a:r>
              <a:rPr sz="1500" b="1" i="0">
                <a:solidFill>
                  <a:srgbClr val="E9F2ED"/>
                </a:solidFill>
                <a:latin typeface="Space Grotesk" pitchFamily="34" charset="0"/>
                <a:cs typeface="Space Grotesk" pitchFamily="34" charset="0"/>
              </a:rPr>
              <a:t>Ce qui est</a:t>
            </a:r>
          </a:p>
          <a:p>
            <a:pPr algn="l">
              <a:lnSpc>
                <a:spcPct val="112000"/>
              </a:lnSpc>
            </a:pPr>
            <a:r>
              <a:rPr sz="1500" b="1" i="0">
                <a:solidFill>
                  <a:srgbClr val="E9F2ED"/>
                </a:solidFill>
                <a:latin typeface="Space Grotesk" pitchFamily="34" charset="0"/>
                <a:cs typeface="Space Grotesk" pitchFamily="34" charset="0"/>
              </a:rPr>
              <a:t>simulé</a:t>
            </a:r>
          </a:p>
        </p:txBody>
      </p:sp>
      <p:sp>
        <p:nvSpPr>
          <p:cNvPr id="16" name="TextBox 15"/>
          <p:cNvSpPr txBox="1"/>
          <p:nvPr/>
        </p:nvSpPr>
        <p:spPr>
          <a:xfrm>
            <a:off x="4630826" y="3378708"/>
            <a:ext cx="2930042" cy="1022603"/>
          </a:xfrm>
          <a:prstGeom prst="rect">
            <a:avLst/>
          </a:prstGeom>
          <a:noFill/>
        </p:spPr>
        <p:txBody>
          <a:bodyPr wrap="square" lIns="0" rIns="0" tIns="0" bIns="0" anchor="t">
            <a:spAutoFit/>
          </a:bodyPr>
          <a:lstStyle/>
          <a:p>
            <a:pPr algn="l">
              <a:lnSpc>
                <a:spcPct val="130000"/>
              </a:lnSpc>
            </a:pPr>
            <a:r>
              <a:rPr sz="1250" b="0" i="0">
                <a:solidFill>
                  <a:srgbClr val="93A79D"/>
                </a:solidFill>
                <a:latin typeface="Inter" pitchFamily="34" charset="0"/>
                <a:cs typeface="Inter" pitchFamily="34" charset="0"/>
              </a:rPr>
              <a:t>Données de démonstration</a:t>
            </a:r>
          </a:p>
          <a:p>
            <a:pPr algn="l">
              <a:lnSpc>
                <a:spcPct val="130000"/>
              </a:lnSpc>
            </a:pPr>
            <a:r>
              <a:rPr sz="1250" b="0" i="0">
                <a:solidFill>
                  <a:srgbClr val="93A79D"/>
                </a:solidFill>
                <a:latin typeface="Inter" pitchFamily="34" charset="0"/>
                <a:cs typeface="Inter" pitchFamily="34" charset="0"/>
              </a:rPr>
              <a:t>Emprise du couloir reconstituée</a:t>
            </a:r>
          </a:p>
          <a:p>
            <a:pPr algn="l">
              <a:lnSpc>
                <a:spcPct val="130000"/>
              </a:lnSpc>
            </a:pPr>
            <a:r>
              <a:rPr sz="1250" b="0" i="0">
                <a:solidFill>
                  <a:srgbClr val="93A79D"/>
                </a:solidFill>
                <a:latin typeface="Inter" pitchFamily="34" charset="0"/>
                <a:cs typeface="Inter" pitchFamily="34" charset="0"/>
              </a:rPr>
              <a:t>Métriques du modèle</a:t>
            </a:r>
          </a:p>
          <a:p>
            <a:pPr algn="l">
              <a:lnSpc>
                <a:spcPct val="130000"/>
              </a:lnSpc>
            </a:pPr>
            <a:r>
              <a:rPr sz="1250" b="0" i="0">
                <a:solidFill>
                  <a:srgbClr val="93A79D"/>
                </a:solidFill>
                <a:latin typeface="Inter" pitchFamily="34" charset="0"/>
                <a:cs typeface="Inter" pitchFamily="34" charset="0"/>
              </a:rPr>
              <a:t>Synthèse vocale fulfulde</a:t>
            </a:r>
          </a:p>
        </p:txBody>
      </p:sp>
      <p:sp>
        <p:nvSpPr>
          <p:cNvPr id="17" name="Rounded Rectangle 16"/>
          <p:cNvSpPr/>
          <p:nvPr/>
        </p:nvSpPr>
        <p:spPr>
          <a:xfrm>
            <a:off x="8072932" y="2395728"/>
            <a:ext cx="3405530" cy="2743200"/>
          </a:xfrm>
          <a:prstGeom prst="roundRect">
            <a:avLst>
              <a:gd name="adj" fmla="val 10000"/>
            </a:avLst>
          </a:prstGeom>
          <a:solidFill>
            <a:srgbClr val="11201A"/>
          </a:solidFill>
          <a:ln w="12700">
            <a:solidFill>
              <a:srgbClr val="1E2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2384755"/>
            <a:ext cx="3405530" cy="45720"/>
          </a:xfrm>
          <a:prstGeom prst="rect">
            <a:avLst/>
          </a:prstGeom>
          <a:solidFill>
            <a:srgbClr val="D9B4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10676" y="2688336"/>
            <a:ext cx="2930042" cy="544068"/>
          </a:xfrm>
          <a:prstGeom prst="rect">
            <a:avLst/>
          </a:prstGeom>
          <a:noFill/>
        </p:spPr>
        <p:txBody>
          <a:bodyPr wrap="square" lIns="0" rIns="0" tIns="0" bIns="0" anchor="t">
            <a:spAutoFit/>
          </a:bodyPr>
          <a:lstStyle/>
          <a:p>
            <a:pPr algn="l">
              <a:lnSpc>
                <a:spcPct val="112000"/>
              </a:lnSpc>
            </a:pPr>
            <a:r>
              <a:rPr sz="1500" b="1" i="0">
                <a:solidFill>
                  <a:srgbClr val="E9F2ED"/>
                </a:solidFill>
                <a:latin typeface="Space Grotesk" pitchFamily="34" charset="0"/>
                <a:cs typeface="Space Grotesk" pitchFamily="34" charset="0"/>
              </a:rPr>
              <a:t>Les prochaines</a:t>
            </a:r>
          </a:p>
          <a:p>
            <a:pPr algn="l">
              <a:lnSpc>
                <a:spcPct val="112000"/>
              </a:lnSpc>
            </a:pPr>
            <a:r>
              <a:rPr sz="1500" b="1" i="0">
                <a:solidFill>
                  <a:srgbClr val="E9F2ED"/>
                </a:solidFill>
                <a:latin typeface="Space Grotesk" pitchFamily="34" charset="0"/>
                <a:cs typeface="Space Grotesk" pitchFamily="34" charset="0"/>
              </a:rPr>
              <a:t>étapes</a:t>
            </a:r>
          </a:p>
        </p:txBody>
      </p:sp>
      <p:sp>
        <p:nvSpPr>
          <p:cNvPr id="20" name="TextBox 19"/>
          <p:cNvSpPr txBox="1"/>
          <p:nvPr/>
        </p:nvSpPr>
        <p:spPr>
          <a:xfrm>
            <a:off x="8310676" y="3378708"/>
            <a:ext cx="2930042" cy="1022603"/>
          </a:xfrm>
          <a:prstGeom prst="rect">
            <a:avLst/>
          </a:prstGeom>
          <a:noFill/>
        </p:spPr>
        <p:txBody>
          <a:bodyPr wrap="square" lIns="0" rIns="0" tIns="0" bIns="0" anchor="t">
            <a:spAutoFit/>
          </a:bodyPr>
          <a:lstStyle/>
          <a:p>
            <a:pPr algn="l">
              <a:lnSpc>
                <a:spcPct val="130000"/>
              </a:lnSpc>
            </a:pPr>
            <a:r>
              <a:rPr sz="1250" b="0" i="0">
                <a:solidFill>
                  <a:srgbClr val="93A79D"/>
                </a:solidFill>
                <a:latin typeface="Inter" pitchFamily="34" charset="0"/>
                <a:cs typeface="Inter" pitchFamily="34" charset="0"/>
              </a:rPr>
              <a:t>Entraînement sur Banikoara</a:t>
            </a:r>
          </a:p>
          <a:p>
            <a:pPr algn="l">
              <a:lnSpc>
                <a:spcPct val="130000"/>
              </a:lnSpc>
            </a:pPr>
            <a:r>
              <a:rPr sz="1250" b="0" i="0">
                <a:solidFill>
                  <a:srgbClr val="93A79D"/>
                </a:solidFill>
                <a:latin typeface="Inter" pitchFamily="34" charset="0"/>
                <a:cs typeface="Inter" pitchFamily="34" charset="0"/>
              </a:rPr>
              <a:t>Annotation avec les agents</a:t>
            </a:r>
          </a:p>
          <a:p>
            <a:pPr algn="l">
              <a:lnSpc>
                <a:spcPct val="130000"/>
              </a:lnSpc>
            </a:pPr>
            <a:r>
              <a:rPr sz="1250" b="0" i="0">
                <a:solidFill>
                  <a:srgbClr val="93A79D"/>
                </a:solidFill>
                <a:latin typeface="Inter" pitchFamily="34" charset="0"/>
                <a:cs typeface="Inter" pitchFamily="34" charset="0"/>
              </a:rPr>
              <a:t>Emprise officielle de la mairie</a:t>
            </a:r>
          </a:p>
          <a:p>
            <a:pPr algn="l">
              <a:lnSpc>
                <a:spcPct val="130000"/>
              </a:lnSpc>
            </a:pPr>
            <a:r>
              <a:rPr sz="1250" b="0" i="0">
                <a:solidFill>
                  <a:srgbClr val="93A79D"/>
                </a:solidFill>
                <a:latin typeface="Inter" pitchFamily="34" charset="0"/>
                <a:cs typeface="Inter" pitchFamily="34" charset="0"/>
              </a:rPr>
              <a:t>Test d'une saison réelle</a:t>
            </a:r>
          </a:p>
        </p:txBody>
      </p:sp>
      <p:sp>
        <p:nvSpPr>
          <p:cNvPr id="21" name="TextBox 20"/>
          <p:cNvSpPr txBox="1"/>
          <p:nvPr/>
        </p:nvSpPr>
        <p:spPr>
          <a:xfrm>
            <a:off x="713232" y="5413248"/>
            <a:ext cx="10789920" cy="402336"/>
          </a:xfrm>
          <a:prstGeom prst="rect">
            <a:avLst/>
          </a:prstGeom>
          <a:noFill/>
        </p:spPr>
        <p:txBody>
          <a:bodyPr wrap="square" lIns="0" rIns="0" tIns="0" bIns="0" anchor="t">
            <a:spAutoFit/>
          </a:bodyPr>
          <a:lstStyle/>
          <a:p>
            <a:pPr algn="l">
              <a:lnSpc>
                <a:spcPct val="118000"/>
              </a:lnSpc>
            </a:pPr>
            <a:r>
              <a:rPr sz="1300" b="0" i="1">
                <a:solidFill>
                  <a:srgbClr val="93A79D"/>
                </a:solidFill>
                <a:latin typeface="Inter" pitchFamily="34" charset="0"/>
                <a:cs typeface="Inter" pitchFamily="34" charset="0"/>
              </a:rPr>
              <a:t>Ce qui est simulé est signalé dans l'interface, pas seulement dans cette présentation.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